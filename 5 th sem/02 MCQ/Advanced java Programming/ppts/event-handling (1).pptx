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9"/>
  </p:notesMasterIdLst>
  <p:sldIdLst>
    <p:sldId id="361" r:id="rId2"/>
    <p:sldId id="359" r:id="rId3"/>
    <p:sldId id="360" r:id="rId4"/>
    <p:sldId id="256" r:id="rId5"/>
    <p:sldId id="351" r:id="rId6"/>
    <p:sldId id="259" r:id="rId7"/>
    <p:sldId id="363" r:id="rId8"/>
    <p:sldId id="362" r:id="rId9"/>
    <p:sldId id="260" r:id="rId10"/>
    <p:sldId id="364" r:id="rId11"/>
    <p:sldId id="257" r:id="rId12"/>
    <p:sldId id="262" r:id="rId13"/>
    <p:sldId id="263" r:id="rId14"/>
    <p:sldId id="264" r:id="rId15"/>
    <p:sldId id="358" r:id="rId16"/>
    <p:sldId id="365" r:id="rId17"/>
    <p:sldId id="266" r:id="rId18"/>
    <p:sldId id="354" r:id="rId19"/>
    <p:sldId id="366" r:id="rId20"/>
    <p:sldId id="367" r:id="rId21"/>
    <p:sldId id="352" r:id="rId22"/>
    <p:sldId id="353" r:id="rId23"/>
    <p:sldId id="355" r:id="rId24"/>
    <p:sldId id="276" r:id="rId25"/>
    <p:sldId id="277" r:id="rId26"/>
    <p:sldId id="356" r:id="rId27"/>
    <p:sldId id="278" r:id="rId28"/>
    <p:sldId id="287" r:id="rId29"/>
    <p:sldId id="285" r:id="rId30"/>
    <p:sldId id="286" r:id="rId31"/>
    <p:sldId id="284" r:id="rId32"/>
    <p:sldId id="279" r:id="rId33"/>
    <p:sldId id="280" r:id="rId34"/>
    <p:sldId id="288" r:id="rId35"/>
    <p:sldId id="289" r:id="rId36"/>
    <p:sldId id="290" r:id="rId37"/>
    <p:sldId id="291" r:id="rId38"/>
    <p:sldId id="281" r:id="rId39"/>
    <p:sldId id="282" r:id="rId40"/>
    <p:sldId id="283" r:id="rId41"/>
    <p:sldId id="292" r:id="rId42"/>
    <p:sldId id="293" r:id="rId43"/>
    <p:sldId id="294" r:id="rId44"/>
    <p:sldId id="296" r:id="rId45"/>
    <p:sldId id="295" r:id="rId46"/>
    <p:sldId id="301" r:id="rId47"/>
    <p:sldId id="297" r:id="rId48"/>
    <p:sldId id="298" r:id="rId49"/>
    <p:sldId id="299" r:id="rId50"/>
    <p:sldId id="300" r:id="rId51"/>
    <p:sldId id="303" r:id="rId52"/>
    <p:sldId id="304" r:id="rId53"/>
    <p:sldId id="302" r:id="rId54"/>
    <p:sldId id="306" r:id="rId55"/>
    <p:sldId id="307" r:id="rId56"/>
    <p:sldId id="308" r:id="rId57"/>
    <p:sldId id="309" r:id="rId58"/>
    <p:sldId id="310" r:id="rId59"/>
    <p:sldId id="311" r:id="rId60"/>
    <p:sldId id="305" r:id="rId61"/>
    <p:sldId id="312" r:id="rId62"/>
    <p:sldId id="313" r:id="rId63"/>
    <p:sldId id="314" r:id="rId64"/>
    <p:sldId id="331" r:id="rId65"/>
    <p:sldId id="332" r:id="rId66"/>
    <p:sldId id="333" r:id="rId67"/>
    <p:sldId id="344" r:id="rId68"/>
    <p:sldId id="345" r:id="rId69"/>
    <p:sldId id="315" r:id="rId70"/>
    <p:sldId id="316" r:id="rId71"/>
    <p:sldId id="317" r:id="rId72"/>
    <p:sldId id="318" r:id="rId73"/>
    <p:sldId id="319" r:id="rId74"/>
    <p:sldId id="320" r:id="rId75"/>
    <p:sldId id="321" r:id="rId76"/>
    <p:sldId id="322" r:id="rId77"/>
    <p:sldId id="336" r:id="rId78"/>
    <p:sldId id="346" r:id="rId79"/>
    <p:sldId id="347" r:id="rId80"/>
    <p:sldId id="343" r:id="rId81"/>
    <p:sldId id="340" r:id="rId82"/>
    <p:sldId id="341" r:id="rId83"/>
    <p:sldId id="338" r:id="rId84"/>
    <p:sldId id="339" r:id="rId85"/>
    <p:sldId id="328" r:id="rId86"/>
    <p:sldId id="348" r:id="rId87"/>
    <p:sldId id="349" r:id="rId88"/>
    <p:sldId id="350" r:id="rId89"/>
    <p:sldId id="369" r:id="rId90"/>
    <p:sldId id="370" r:id="rId91"/>
    <p:sldId id="371" r:id="rId92"/>
    <p:sldId id="327" r:id="rId93"/>
    <p:sldId id="272" r:id="rId94"/>
    <p:sldId id="273" r:id="rId95"/>
    <p:sldId id="274" r:id="rId96"/>
    <p:sldId id="275" r:id="rId97"/>
    <p:sldId id="368" r:id="rId9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D0FC91-A9EB-414F-B108-B34405947B5C}" type="datetimeFigureOut">
              <a:rPr lang="en-IN" smtClean="0"/>
              <a:t>23-09-2023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5696E8-0AE8-46C6-939B-E5C1A60617D9}" type="slidenum">
              <a:rPr lang="en-IN" smtClean="0"/>
              <a:t>‹#›</a:t>
            </a:fld>
            <a:endParaRPr lang="en-IN"/>
          </a:p>
        </p:txBody>
      </p:sp>
    </p:spTree>
    <p:extLst>
      <p:ext uri="{BB962C8B-B14F-4D97-AF65-F5344CB8AC3E}">
        <p14:creationId xmlns:p14="http://schemas.microsoft.com/office/powerpoint/2010/main" val="1210278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D5696E8-0AE8-46C6-939B-E5C1A60617D9}" type="slidenum">
              <a:rPr lang="en-IN" smtClean="0"/>
              <a:t>4</a:t>
            </a:fld>
            <a:endParaRPr lang="en-IN" dirty="0"/>
          </a:p>
        </p:txBody>
      </p:sp>
    </p:spTree>
    <p:extLst>
      <p:ext uri="{BB962C8B-B14F-4D97-AF65-F5344CB8AC3E}">
        <p14:creationId xmlns:p14="http://schemas.microsoft.com/office/powerpoint/2010/main" val="2030344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D5696E8-0AE8-46C6-939B-E5C1A60617D9}" type="slidenum">
              <a:rPr lang="en-IN" smtClean="0"/>
              <a:t>12</a:t>
            </a:fld>
            <a:endParaRPr lang="en-IN"/>
          </a:p>
        </p:txBody>
      </p:sp>
    </p:spTree>
    <p:extLst>
      <p:ext uri="{BB962C8B-B14F-4D97-AF65-F5344CB8AC3E}">
        <p14:creationId xmlns:p14="http://schemas.microsoft.com/office/powerpoint/2010/main" val="20396482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r>
              <a:rPr lang="en-US"/>
              <a:t>Department of Computer Engineering</a:t>
            </a:r>
            <a:endParaRPr lang="en-IN"/>
          </a:p>
        </p:txBody>
      </p:sp>
      <p:sp>
        <p:nvSpPr>
          <p:cNvPr id="5" name="Footer Placeholder 4"/>
          <p:cNvSpPr>
            <a:spLocks noGrp="1"/>
          </p:cNvSpPr>
          <p:nvPr>
            <p:ph type="ftr" sz="quarter" idx="11"/>
          </p:nvPr>
        </p:nvSpPr>
        <p:spPr/>
        <p:txBody>
          <a:bodyPr/>
          <a:lstStyle/>
          <a:p>
            <a:r>
              <a:rPr lang="en-US"/>
              <a:t>AJP Unit-III                            Mrs. Chavan P. P.</a:t>
            </a:r>
            <a:endParaRPr lang="en-IN"/>
          </a:p>
        </p:txBody>
      </p:sp>
      <p:sp>
        <p:nvSpPr>
          <p:cNvPr id="6" name="Slide Number Placeholder 5"/>
          <p:cNvSpPr>
            <a:spLocks noGrp="1"/>
          </p:cNvSpPr>
          <p:nvPr>
            <p:ph type="sldNum" sz="quarter" idx="12"/>
          </p:nvPr>
        </p:nvSpPr>
        <p:spPr/>
        <p:txBody>
          <a:bodyPr/>
          <a:lstStyle/>
          <a:p>
            <a:fld id="{CABF7EEA-85D2-497E-9C95-F3C1348C26C9}"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Department of Computer Engineering</a:t>
            </a:r>
            <a:endParaRPr lang="en-IN"/>
          </a:p>
        </p:txBody>
      </p:sp>
      <p:sp>
        <p:nvSpPr>
          <p:cNvPr id="5" name="Footer Placeholder 4"/>
          <p:cNvSpPr>
            <a:spLocks noGrp="1"/>
          </p:cNvSpPr>
          <p:nvPr>
            <p:ph type="ftr" sz="quarter" idx="11"/>
          </p:nvPr>
        </p:nvSpPr>
        <p:spPr/>
        <p:txBody>
          <a:bodyPr/>
          <a:lstStyle/>
          <a:p>
            <a:r>
              <a:rPr lang="en-US"/>
              <a:t>AJP Unit-III                            Mrs. Chavan P. P.</a:t>
            </a:r>
            <a:endParaRPr lang="en-IN"/>
          </a:p>
        </p:txBody>
      </p:sp>
      <p:sp>
        <p:nvSpPr>
          <p:cNvPr id="6" name="Slide Number Placeholder 5"/>
          <p:cNvSpPr>
            <a:spLocks noGrp="1"/>
          </p:cNvSpPr>
          <p:nvPr>
            <p:ph type="sldNum" sz="quarter" idx="12"/>
          </p:nvPr>
        </p:nvSpPr>
        <p:spPr/>
        <p:txBody>
          <a:bodyPr/>
          <a:lstStyle/>
          <a:p>
            <a:fld id="{CABF7EEA-85D2-497E-9C95-F3C1348C26C9}"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Department of Computer Engineering</a:t>
            </a:r>
            <a:endParaRPr lang="en-IN"/>
          </a:p>
        </p:txBody>
      </p:sp>
      <p:sp>
        <p:nvSpPr>
          <p:cNvPr id="5" name="Footer Placeholder 4"/>
          <p:cNvSpPr>
            <a:spLocks noGrp="1"/>
          </p:cNvSpPr>
          <p:nvPr>
            <p:ph type="ftr" sz="quarter" idx="11"/>
          </p:nvPr>
        </p:nvSpPr>
        <p:spPr/>
        <p:txBody>
          <a:bodyPr/>
          <a:lstStyle/>
          <a:p>
            <a:r>
              <a:rPr lang="en-US"/>
              <a:t>AJP Unit-III                            Mrs. Chavan P. P.</a:t>
            </a:r>
            <a:endParaRPr lang="en-IN"/>
          </a:p>
        </p:txBody>
      </p:sp>
      <p:sp>
        <p:nvSpPr>
          <p:cNvPr id="6" name="Slide Number Placeholder 5"/>
          <p:cNvSpPr>
            <a:spLocks noGrp="1"/>
          </p:cNvSpPr>
          <p:nvPr>
            <p:ph type="sldNum" sz="quarter" idx="12"/>
          </p:nvPr>
        </p:nvSpPr>
        <p:spPr/>
        <p:txBody>
          <a:bodyPr/>
          <a:lstStyle/>
          <a:p>
            <a:fld id="{CABF7EEA-85D2-497E-9C95-F3C1348C26C9}"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t>Department of Computer Engineering</a:t>
            </a:r>
            <a:endParaRPr lang="en-IN"/>
          </a:p>
        </p:txBody>
      </p:sp>
      <p:sp>
        <p:nvSpPr>
          <p:cNvPr id="6" name="Footer Placeholder 5"/>
          <p:cNvSpPr>
            <a:spLocks noGrp="1"/>
          </p:cNvSpPr>
          <p:nvPr>
            <p:ph type="ftr" sz="quarter" idx="11"/>
          </p:nvPr>
        </p:nvSpPr>
        <p:spPr/>
        <p:txBody>
          <a:bodyPr/>
          <a:lstStyle/>
          <a:p>
            <a:r>
              <a:rPr lang="en-US"/>
              <a:t>AJP Unit-III                            Mrs. Chavan P. P.</a:t>
            </a:r>
            <a:endParaRPr lang="en-IN"/>
          </a:p>
        </p:txBody>
      </p:sp>
      <p:sp>
        <p:nvSpPr>
          <p:cNvPr id="7" name="Slide Number Placeholder 6"/>
          <p:cNvSpPr>
            <a:spLocks noGrp="1"/>
          </p:cNvSpPr>
          <p:nvPr>
            <p:ph type="sldNum" sz="quarter" idx="12"/>
          </p:nvPr>
        </p:nvSpPr>
        <p:spPr/>
        <p:txBody>
          <a:bodyPr/>
          <a:lstStyle/>
          <a:p>
            <a:fld id="{CABF7EEA-85D2-497E-9C95-F3C1348C26C9}"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t>Department of Computer Engineering</a:t>
            </a:r>
            <a:endParaRPr lang="en-IN"/>
          </a:p>
        </p:txBody>
      </p:sp>
      <p:sp>
        <p:nvSpPr>
          <p:cNvPr id="8" name="Footer Placeholder 7"/>
          <p:cNvSpPr>
            <a:spLocks noGrp="1"/>
          </p:cNvSpPr>
          <p:nvPr>
            <p:ph type="ftr" sz="quarter" idx="11"/>
          </p:nvPr>
        </p:nvSpPr>
        <p:spPr/>
        <p:txBody>
          <a:bodyPr/>
          <a:lstStyle/>
          <a:p>
            <a:r>
              <a:rPr lang="en-US"/>
              <a:t>AJP Unit-III                            Mrs. Chavan P. P.</a:t>
            </a:r>
            <a:endParaRPr lang="en-IN"/>
          </a:p>
        </p:txBody>
      </p:sp>
      <p:sp>
        <p:nvSpPr>
          <p:cNvPr id="9" name="Slide Number Placeholder 8"/>
          <p:cNvSpPr>
            <a:spLocks noGrp="1"/>
          </p:cNvSpPr>
          <p:nvPr>
            <p:ph type="sldNum" sz="quarter" idx="12"/>
          </p:nvPr>
        </p:nvSpPr>
        <p:spPr/>
        <p:txBody>
          <a:bodyPr/>
          <a:lstStyle/>
          <a:p>
            <a:fld id="{CABF7EEA-85D2-497E-9C95-F3C1348C26C9}"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t>Department of Computer Engineering</a:t>
            </a:r>
            <a:endParaRPr lang="en-IN"/>
          </a:p>
        </p:txBody>
      </p:sp>
      <p:sp>
        <p:nvSpPr>
          <p:cNvPr id="4" name="Footer Placeholder 3"/>
          <p:cNvSpPr>
            <a:spLocks noGrp="1"/>
          </p:cNvSpPr>
          <p:nvPr>
            <p:ph type="ftr" sz="quarter" idx="11"/>
          </p:nvPr>
        </p:nvSpPr>
        <p:spPr/>
        <p:txBody>
          <a:bodyPr/>
          <a:lstStyle/>
          <a:p>
            <a:r>
              <a:rPr lang="en-US"/>
              <a:t>AJP Unit-III                            Mrs. Chavan P. P.</a:t>
            </a:r>
            <a:endParaRPr lang="en-IN"/>
          </a:p>
        </p:txBody>
      </p:sp>
      <p:sp>
        <p:nvSpPr>
          <p:cNvPr id="5" name="Slide Number Placeholder 4"/>
          <p:cNvSpPr>
            <a:spLocks noGrp="1"/>
          </p:cNvSpPr>
          <p:nvPr>
            <p:ph type="sldNum" sz="quarter" idx="12"/>
          </p:nvPr>
        </p:nvSpPr>
        <p:spPr/>
        <p:txBody>
          <a:bodyPr/>
          <a:lstStyle/>
          <a:p>
            <a:fld id="{CABF7EEA-85D2-497E-9C95-F3C1348C26C9}"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Department of Computer Engineering</a:t>
            </a:r>
            <a:endParaRPr lang="en-IN"/>
          </a:p>
        </p:txBody>
      </p:sp>
      <p:sp>
        <p:nvSpPr>
          <p:cNvPr id="3" name="Footer Placeholder 2"/>
          <p:cNvSpPr>
            <a:spLocks noGrp="1"/>
          </p:cNvSpPr>
          <p:nvPr>
            <p:ph type="ftr" sz="quarter" idx="11"/>
          </p:nvPr>
        </p:nvSpPr>
        <p:spPr/>
        <p:txBody>
          <a:bodyPr/>
          <a:lstStyle/>
          <a:p>
            <a:r>
              <a:rPr lang="en-US"/>
              <a:t>AJP Unit-III                            Mrs. Chavan P. P.</a:t>
            </a:r>
            <a:endParaRPr lang="en-IN"/>
          </a:p>
        </p:txBody>
      </p:sp>
      <p:sp>
        <p:nvSpPr>
          <p:cNvPr id="4" name="Slide Number Placeholder 3"/>
          <p:cNvSpPr>
            <a:spLocks noGrp="1"/>
          </p:cNvSpPr>
          <p:nvPr>
            <p:ph type="sldNum" sz="quarter" idx="12"/>
          </p:nvPr>
        </p:nvSpPr>
        <p:spPr/>
        <p:txBody>
          <a:bodyPr/>
          <a:lstStyle/>
          <a:p>
            <a:fld id="{CABF7EEA-85D2-497E-9C95-F3C1348C26C9}"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Department of Computer Engineering</a:t>
            </a:r>
            <a:endParaRPr lang="en-IN"/>
          </a:p>
        </p:txBody>
      </p:sp>
      <p:sp>
        <p:nvSpPr>
          <p:cNvPr id="6" name="Footer Placeholder 5"/>
          <p:cNvSpPr>
            <a:spLocks noGrp="1"/>
          </p:cNvSpPr>
          <p:nvPr>
            <p:ph type="ftr" sz="quarter" idx="11"/>
          </p:nvPr>
        </p:nvSpPr>
        <p:spPr/>
        <p:txBody>
          <a:bodyPr/>
          <a:lstStyle/>
          <a:p>
            <a:r>
              <a:rPr lang="en-US"/>
              <a:t>AJP Unit-III                            Mrs. Chavan P. P.</a:t>
            </a:r>
            <a:endParaRPr lang="en-IN"/>
          </a:p>
        </p:txBody>
      </p:sp>
      <p:sp>
        <p:nvSpPr>
          <p:cNvPr id="7" name="Slide Number Placeholder 6"/>
          <p:cNvSpPr>
            <a:spLocks noGrp="1"/>
          </p:cNvSpPr>
          <p:nvPr>
            <p:ph type="sldNum" sz="quarter" idx="12"/>
          </p:nvPr>
        </p:nvSpPr>
        <p:spPr/>
        <p:txBody>
          <a:bodyPr/>
          <a:lstStyle/>
          <a:p>
            <a:fld id="{CABF7EEA-85D2-497E-9C95-F3C1348C26C9}"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Department of Computer Engineering</a:t>
            </a:r>
            <a:endParaRPr lang="en-IN"/>
          </a:p>
        </p:txBody>
      </p:sp>
      <p:sp>
        <p:nvSpPr>
          <p:cNvPr id="6" name="Footer Placeholder 5"/>
          <p:cNvSpPr>
            <a:spLocks noGrp="1"/>
          </p:cNvSpPr>
          <p:nvPr>
            <p:ph type="ftr" sz="quarter" idx="11"/>
          </p:nvPr>
        </p:nvSpPr>
        <p:spPr/>
        <p:txBody>
          <a:bodyPr/>
          <a:lstStyle/>
          <a:p>
            <a:r>
              <a:rPr lang="en-US"/>
              <a:t>AJP Unit-III                            Mrs. Chavan P. P.</a:t>
            </a:r>
            <a:endParaRPr lang="en-IN"/>
          </a:p>
        </p:txBody>
      </p:sp>
      <p:sp>
        <p:nvSpPr>
          <p:cNvPr id="7" name="Slide Number Placeholder 6"/>
          <p:cNvSpPr>
            <a:spLocks noGrp="1"/>
          </p:cNvSpPr>
          <p:nvPr>
            <p:ph type="sldNum" sz="quarter" idx="12"/>
          </p:nvPr>
        </p:nvSpPr>
        <p:spPr/>
        <p:txBody>
          <a:bodyPr/>
          <a:lstStyle/>
          <a:p>
            <a:fld id="{CABF7EEA-85D2-497E-9C95-F3C1348C26C9}"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Department of Computer Engineering</a:t>
            </a:r>
            <a:endParaRPr lang="en-IN"/>
          </a:p>
        </p:txBody>
      </p:sp>
      <p:sp>
        <p:nvSpPr>
          <p:cNvPr id="5" name="Footer Placeholder 4"/>
          <p:cNvSpPr>
            <a:spLocks noGrp="1"/>
          </p:cNvSpPr>
          <p:nvPr>
            <p:ph type="ftr" sz="quarter" idx="11"/>
          </p:nvPr>
        </p:nvSpPr>
        <p:spPr/>
        <p:txBody>
          <a:bodyPr/>
          <a:lstStyle/>
          <a:p>
            <a:r>
              <a:rPr lang="en-US"/>
              <a:t>AJP Unit-III                            Mrs. Chavan P. P.</a:t>
            </a:r>
            <a:endParaRPr lang="en-IN"/>
          </a:p>
        </p:txBody>
      </p:sp>
      <p:sp>
        <p:nvSpPr>
          <p:cNvPr id="6" name="Slide Number Placeholder 5"/>
          <p:cNvSpPr>
            <a:spLocks noGrp="1"/>
          </p:cNvSpPr>
          <p:nvPr>
            <p:ph type="sldNum" sz="quarter" idx="12"/>
          </p:nvPr>
        </p:nvSpPr>
        <p:spPr/>
        <p:txBody>
          <a:bodyPr/>
          <a:lstStyle/>
          <a:p>
            <a:fld id="{CABF7EEA-85D2-497E-9C95-F3C1348C26C9}"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Department of Computer Engineering</a:t>
            </a:r>
            <a:endParaRPr lang="en-IN"/>
          </a:p>
        </p:txBody>
      </p:sp>
      <p:sp>
        <p:nvSpPr>
          <p:cNvPr id="5" name="Footer Placeholder 4"/>
          <p:cNvSpPr>
            <a:spLocks noGrp="1"/>
          </p:cNvSpPr>
          <p:nvPr>
            <p:ph type="ftr" sz="quarter" idx="11"/>
          </p:nvPr>
        </p:nvSpPr>
        <p:spPr/>
        <p:txBody>
          <a:bodyPr/>
          <a:lstStyle/>
          <a:p>
            <a:r>
              <a:rPr lang="en-US"/>
              <a:t>AJP Unit-III                            Mrs. Chavan P. P.</a:t>
            </a:r>
            <a:endParaRPr lang="en-IN"/>
          </a:p>
        </p:txBody>
      </p:sp>
      <p:sp>
        <p:nvSpPr>
          <p:cNvPr id="6" name="Slide Number Placeholder 5"/>
          <p:cNvSpPr>
            <a:spLocks noGrp="1"/>
          </p:cNvSpPr>
          <p:nvPr>
            <p:ph type="sldNum" sz="quarter" idx="12"/>
          </p:nvPr>
        </p:nvSpPr>
        <p:spPr/>
        <p:txBody>
          <a:bodyPr/>
          <a:lstStyle/>
          <a:p>
            <a:fld id="{CABF7EEA-85D2-497E-9C95-F3C1348C26C9}"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Department of Computer Engineering</a:t>
            </a:r>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AJP Unit-III                            Mrs. Chavan P. P.</a:t>
            </a:r>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BF7EEA-85D2-497E-9C95-F3C1348C26C9}"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Autofit/>
          </a:bodyPr>
          <a:lstStyle/>
          <a:p>
            <a:r>
              <a:rPr lang="en-GB" sz="5400" b="1" dirty="0"/>
              <a:t>Event Handling </a:t>
            </a:r>
            <a:endParaRPr lang="en-GB" sz="5400" dirty="0"/>
          </a:p>
        </p:txBody>
      </p:sp>
      <p:sp>
        <p:nvSpPr>
          <p:cNvPr id="6" name="Subtitle 5"/>
          <p:cNvSpPr>
            <a:spLocks noGrp="1"/>
          </p:cNvSpPr>
          <p:nvPr>
            <p:ph type="subTitle" idx="1"/>
          </p:nvPr>
        </p:nvSpPr>
        <p:spPr/>
        <p:txBody>
          <a:bodyPr/>
          <a:lstStyle/>
          <a:p>
            <a:r>
              <a:rPr lang="en-GB" b="1" dirty="0"/>
              <a:t>Unit III</a:t>
            </a:r>
            <a:endParaRPr lang="en-GB" dirty="0"/>
          </a:p>
        </p:txBody>
      </p:sp>
      <p:sp>
        <p:nvSpPr>
          <p:cNvPr id="4" name="Slide Number Placeholder 3"/>
          <p:cNvSpPr>
            <a:spLocks noGrp="1"/>
          </p:cNvSpPr>
          <p:nvPr>
            <p:ph type="sldNum" sz="quarter" idx="12"/>
          </p:nvPr>
        </p:nvSpPr>
        <p:spPr/>
        <p:txBody>
          <a:bodyPr/>
          <a:lstStyle/>
          <a:p>
            <a:fld id="{CABF7EEA-85D2-497E-9C95-F3C1348C26C9}" type="slidenum">
              <a:rPr lang="en-IN" smtClean="0"/>
              <a:pPr/>
              <a:t>1</a:t>
            </a:fld>
            <a:endParaRPr lang="en-IN"/>
          </a:p>
        </p:txBody>
      </p:sp>
    </p:spTree>
    <p:extLst>
      <p:ext uri="{BB962C8B-B14F-4D97-AF65-F5344CB8AC3E}">
        <p14:creationId xmlns:p14="http://schemas.microsoft.com/office/powerpoint/2010/main" val="3510010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lstStyle/>
          <a:p>
            <a:r>
              <a:rPr lang="en-GB" dirty="0" err="1"/>
              <a:t>javax</a:t>
            </a:r>
            <a:endParaRPr lang="en-GB" dirty="0"/>
          </a:p>
        </p:txBody>
      </p:sp>
      <p:sp>
        <p:nvSpPr>
          <p:cNvPr id="3" name="Content Placeholder 2"/>
          <p:cNvSpPr>
            <a:spLocks noGrp="1"/>
          </p:cNvSpPr>
          <p:nvPr>
            <p:ph idx="1"/>
          </p:nvPr>
        </p:nvSpPr>
        <p:spPr>
          <a:xfrm>
            <a:off x="457200" y="1124744"/>
            <a:ext cx="8507288" cy="5400600"/>
          </a:xfrm>
        </p:spPr>
        <p:txBody>
          <a:bodyPr>
            <a:noAutofit/>
          </a:bodyPr>
          <a:lstStyle/>
          <a:p>
            <a:pPr fontAlgn="base"/>
            <a:r>
              <a:rPr lang="en-GB" sz="2400" dirty="0"/>
              <a:t>Originally, everything that was part of the standard API was part of the java package, whereas </a:t>
            </a:r>
            <a:r>
              <a:rPr lang="en-GB" sz="2400" b="1" dirty="0"/>
              <a:t>everything that was not part of the standard API was released under the package name </a:t>
            </a:r>
            <a:r>
              <a:rPr lang="en-GB" sz="2400" b="1" dirty="0" err="1"/>
              <a:t>javax</a:t>
            </a:r>
            <a:r>
              <a:rPr lang="en-GB" sz="2400" b="1" dirty="0"/>
              <a:t>. </a:t>
            </a:r>
            <a:r>
              <a:rPr lang="en-GB" sz="2400" dirty="0"/>
              <a:t>Hence, packages essential to the API was java, while </a:t>
            </a:r>
            <a:r>
              <a:rPr lang="en-GB" sz="2400" dirty="0" err="1"/>
              <a:t>javax</a:t>
            </a:r>
            <a:r>
              <a:rPr lang="en-GB" sz="2400" dirty="0"/>
              <a:t> contained the </a:t>
            </a:r>
            <a:r>
              <a:rPr lang="en-GB" sz="2400" b="1" dirty="0"/>
              <a:t>extensions</a:t>
            </a:r>
            <a:r>
              <a:rPr lang="en-GB" sz="2400" dirty="0"/>
              <a:t> to the API. It can even be said that </a:t>
            </a:r>
            <a:r>
              <a:rPr lang="en-GB" sz="2400" dirty="0" err="1"/>
              <a:t>javax</a:t>
            </a:r>
            <a:r>
              <a:rPr lang="en-GB" sz="2400" dirty="0"/>
              <a:t>, is just java with an x, which stands for extension.</a:t>
            </a:r>
          </a:p>
          <a:p>
            <a:pPr fontAlgn="base"/>
            <a:r>
              <a:rPr lang="en-GB" sz="2400" dirty="0"/>
              <a:t>Over time the extensions that were released as </a:t>
            </a:r>
            <a:r>
              <a:rPr lang="en-GB" sz="2400" dirty="0" err="1"/>
              <a:t>javax</a:t>
            </a:r>
            <a:r>
              <a:rPr lang="en-GB" sz="2400" dirty="0"/>
              <a:t>, become integral to the Java API. However, moving the extension from the </a:t>
            </a:r>
            <a:r>
              <a:rPr lang="en-GB" sz="2400" dirty="0" err="1"/>
              <a:t>javax</a:t>
            </a:r>
            <a:r>
              <a:rPr lang="en-GB" sz="2400" dirty="0"/>
              <a:t> package to the java package would be too cumbersome and would end up breaking a bunch of existing code. Hence, eventually it was decided that the </a:t>
            </a:r>
            <a:r>
              <a:rPr lang="en-GB" sz="2400" dirty="0" err="1"/>
              <a:t>javax</a:t>
            </a:r>
            <a:r>
              <a:rPr lang="en-GB" sz="2400" dirty="0"/>
              <a:t> packages would become part of the standard API.</a:t>
            </a:r>
          </a:p>
          <a:p>
            <a:pPr fontAlgn="base"/>
            <a:r>
              <a:rPr lang="en-GB" sz="2400" dirty="0"/>
              <a:t>So, practically there is no difference between Java and </a:t>
            </a:r>
            <a:r>
              <a:rPr lang="en-GB" sz="2400" dirty="0" err="1"/>
              <a:t>Javax</a:t>
            </a:r>
            <a:r>
              <a:rPr lang="en-GB" sz="2400" dirty="0"/>
              <a:t>. It is all in a name.</a:t>
            </a:r>
          </a:p>
        </p:txBody>
      </p:sp>
      <p:sp>
        <p:nvSpPr>
          <p:cNvPr id="4" name="Slide Number Placeholder 3"/>
          <p:cNvSpPr>
            <a:spLocks noGrp="1"/>
          </p:cNvSpPr>
          <p:nvPr>
            <p:ph type="sldNum" sz="quarter" idx="12"/>
          </p:nvPr>
        </p:nvSpPr>
        <p:spPr/>
        <p:txBody>
          <a:bodyPr/>
          <a:lstStyle/>
          <a:p>
            <a:fld id="{CABF7EEA-85D2-497E-9C95-F3C1348C26C9}" type="slidenum">
              <a:rPr lang="en-IN" smtClean="0"/>
              <a:pPr/>
              <a:t>2</a:t>
            </a:fld>
            <a:endParaRPr lang="en-IN"/>
          </a:p>
        </p:txBody>
      </p:sp>
    </p:spTree>
    <p:extLst>
      <p:ext uri="{BB962C8B-B14F-4D97-AF65-F5344CB8AC3E}">
        <p14:creationId xmlns:p14="http://schemas.microsoft.com/office/powerpoint/2010/main" val="1530947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GB" dirty="0"/>
              <a:t>Why is Swing Called Swing?</a:t>
            </a:r>
          </a:p>
        </p:txBody>
      </p:sp>
      <p:sp>
        <p:nvSpPr>
          <p:cNvPr id="3" name="Content Placeholder 2"/>
          <p:cNvSpPr>
            <a:spLocks noGrp="1"/>
          </p:cNvSpPr>
          <p:nvPr>
            <p:ph idx="1"/>
          </p:nvPr>
        </p:nvSpPr>
        <p:spPr>
          <a:xfrm>
            <a:off x="107504" y="908720"/>
            <a:ext cx="8928992" cy="6120680"/>
          </a:xfrm>
        </p:spPr>
        <p:txBody>
          <a:bodyPr>
            <a:noAutofit/>
          </a:bodyPr>
          <a:lstStyle/>
          <a:p>
            <a:r>
              <a:rPr lang="en-GB" sz="2000" b="1" dirty="0"/>
              <a:t>The story is: The team went to </a:t>
            </a:r>
            <a:r>
              <a:rPr lang="en-GB" sz="2000" b="1" dirty="0" err="1"/>
              <a:t>Hobees</a:t>
            </a:r>
            <a:r>
              <a:rPr lang="en-GB" sz="2000" b="1" dirty="0"/>
              <a:t> for lunch, and the topic turned to what to name the new toolkit we were writing. Up till then the name was code named KFC, which was chosen by our manager (Rick </a:t>
            </a:r>
            <a:r>
              <a:rPr lang="en-GB" sz="2000" b="1" dirty="0" err="1"/>
              <a:t>Levenson</a:t>
            </a:r>
            <a:r>
              <a:rPr lang="en-GB" sz="2000" b="1" dirty="0"/>
              <a:t>) as a way to ensure we'd come with </a:t>
            </a:r>
            <a:r>
              <a:rPr lang="en-GB" sz="2000" b="1" dirty="0" err="1"/>
              <a:t>with</a:t>
            </a:r>
            <a:r>
              <a:rPr lang="en-GB" sz="2000" b="1" dirty="0"/>
              <a:t> a better name before shipping; he knew there was no way "KFC", aka Kentucky Fried Chicken, would be allowed by the lawyers.</a:t>
            </a:r>
          </a:p>
          <a:p>
            <a:r>
              <a:rPr lang="en-GB" sz="2000" b="1" dirty="0"/>
              <a:t>Some names that were tossed around included Juliet and Carousel. There were many more, but none felt "just right."</a:t>
            </a:r>
          </a:p>
          <a:p>
            <a:r>
              <a:rPr lang="en-GB" sz="2000" b="1" dirty="0"/>
              <a:t>Finally after lunch, while driving back to Sun, Amy Fowler (lead engineer of the team) asked our most hip team member, Georges Saab, "Georges, you know what's up and coming... what's the new happening thing in San Francisco?"</a:t>
            </a:r>
          </a:p>
          <a:p>
            <a:r>
              <a:rPr lang="en-GB" sz="2000" b="1" dirty="0"/>
              <a:t>Georges responded with "Swing dancing is getting to be really big." And that was it, we all knew it was perfect. When we got back to the office I did a global search and replace of "</a:t>
            </a:r>
            <a:r>
              <a:rPr lang="en-GB" sz="2000" b="1" dirty="0" err="1"/>
              <a:t>kfc</a:t>
            </a:r>
            <a:r>
              <a:rPr lang="en-GB" sz="2000" b="1" dirty="0"/>
              <a:t>" with "swing", and the rest is history.</a:t>
            </a:r>
          </a:p>
          <a:p>
            <a:endParaRPr lang="en-GB" sz="2000" dirty="0"/>
          </a:p>
        </p:txBody>
      </p:sp>
      <p:sp>
        <p:nvSpPr>
          <p:cNvPr id="4" name="Slide Number Placeholder 3"/>
          <p:cNvSpPr>
            <a:spLocks noGrp="1"/>
          </p:cNvSpPr>
          <p:nvPr>
            <p:ph type="sldNum" sz="quarter" idx="12"/>
          </p:nvPr>
        </p:nvSpPr>
        <p:spPr/>
        <p:txBody>
          <a:bodyPr/>
          <a:lstStyle/>
          <a:p>
            <a:fld id="{CABF7EEA-85D2-497E-9C95-F3C1348C26C9}" type="slidenum">
              <a:rPr lang="en-IN" smtClean="0"/>
              <a:pPr/>
              <a:t>3</a:t>
            </a:fld>
            <a:endParaRPr lang="en-IN"/>
          </a:p>
        </p:txBody>
      </p:sp>
    </p:spTree>
    <p:extLst>
      <p:ext uri="{BB962C8B-B14F-4D97-AF65-F5344CB8AC3E}">
        <p14:creationId xmlns:p14="http://schemas.microsoft.com/office/powerpoint/2010/main" val="938495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0"/>
            <a:ext cx="7772400" cy="928694"/>
          </a:xfrm>
        </p:spPr>
        <p:txBody>
          <a:bodyPr>
            <a:normAutofit/>
          </a:bodyPr>
          <a:lstStyle/>
          <a:p>
            <a:r>
              <a:rPr lang="en-US" sz="5400" b="1" dirty="0">
                <a:latin typeface="Cambria" pitchFamily="18" charset="0"/>
              </a:rPr>
              <a:t>Event Handling</a:t>
            </a:r>
            <a:endParaRPr lang="en-IN" sz="5400" dirty="0">
              <a:latin typeface="Cambria" pitchFamily="18" charset="0"/>
            </a:endParaRPr>
          </a:p>
        </p:txBody>
      </p:sp>
      <p:sp>
        <p:nvSpPr>
          <p:cNvPr id="3" name="Subtitle 2"/>
          <p:cNvSpPr>
            <a:spLocks noGrp="1"/>
          </p:cNvSpPr>
          <p:nvPr>
            <p:ph type="subTitle" idx="1"/>
          </p:nvPr>
        </p:nvSpPr>
        <p:spPr>
          <a:xfrm>
            <a:off x="571472" y="1428736"/>
            <a:ext cx="8358246" cy="4786346"/>
          </a:xfrm>
        </p:spPr>
        <p:txBody>
          <a:bodyPr>
            <a:normAutofit lnSpcReduction="10000"/>
          </a:bodyPr>
          <a:lstStyle/>
          <a:p>
            <a:pPr algn="just"/>
            <a:r>
              <a:rPr lang="en-IN" dirty="0">
                <a:solidFill>
                  <a:schemeClr val="tx1"/>
                </a:solidFill>
              </a:rPr>
              <a:t>	Any program that uses GUI (graphical user interface) such as Java application written for windows, is event driven. </a:t>
            </a:r>
          </a:p>
          <a:p>
            <a:pPr algn="just"/>
            <a:endParaRPr lang="en-IN" dirty="0">
              <a:solidFill>
                <a:schemeClr val="tx1"/>
              </a:solidFill>
            </a:endParaRPr>
          </a:p>
          <a:p>
            <a:pPr algn="just"/>
            <a:r>
              <a:rPr lang="en-IN" dirty="0">
                <a:solidFill>
                  <a:schemeClr val="tx1"/>
                </a:solidFill>
              </a:rPr>
              <a:t>Event describes the change of state of any object. </a:t>
            </a:r>
          </a:p>
          <a:p>
            <a:pPr algn="just"/>
            <a:endParaRPr lang="en-IN" dirty="0">
              <a:solidFill>
                <a:schemeClr val="tx1"/>
              </a:solidFill>
            </a:endParaRPr>
          </a:p>
          <a:p>
            <a:pPr algn="just"/>
            <a:r>
              <a:rPr lang="en-IN" dirty="0">
                <a:solidFill>
                  <a:schemeClr val="tx1"/>
                </a:solidFill>
              </a:rPr>
              <a:t>Events are generated as result of user interaction with the graphical user interface components. </a:t>
            </a:r>
          </a:p>
        </p:txBody>
      </p:sp>
      <p:sp>
        <p:nvSpPr>
          <p:cNvPr id="6" name="Slide Number Placeholder 5"/>
          <p:cNvSpPr>
            <a:spLocks noGrp="1"/>
          </p:cNvSpPr>
          <p:nvPr>
            <p:ph type="sldNum" sz="quarter" idx="12"/>
          </p:nvPr>
        </p:nvSpPr>
        <p:spPr/>
        <p:txBody>
          <a:bodyPr/>
          <a:lstStyle/>
          <a:p>
            <a:fld id="{CABF7EEA-85D2-497E-9C95-F3C1348C26C9}"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435280" cy="4525963"/>
          </a:xfrm>
        </p:spPr>
        <p:txBody>
          <a:bodyPr>
            <a:normAutofit lnSpcReduction="10000"/>
          </a:bodyPr>
          <a:lstStyle/>
          <a:p>
            <a:r>
              <a:rPr lang="en-IN" dirty="0"/>
              <a:t>Changing the state of an object is known as an event. </a:t>
            </a:r>
          </a:p>
          <a:p>
            <a:r>
              <a:rPr lang="en-IN" b="1" dirty="0"/>
              <a:t>For example: </a:t>
            </a:r>
            <a:r>
              <a:rPr lang="en-IN" dirty="0"/>
              <a:t>clicking on a button, Entering a character in Textbox, moving the mouse, selecting an item from list, scrolling the page, etc.</a:t>
            </a:r>
          </a:p>
          <a:p>
            <a:r>
              <a:rPr lang="en-IN" dirty="0"/>
              <a:t>The </a:t>
            </a:r>
            <a:r>
              <a:rPr lang="en-IN" b="1" dirty="0"/>
              <a:t>java.awt.event</a:t>
            </a:r>
            <a:r>
              <a:rPr lang="en-IN" dirty="0"/>
              <a:t> package provides many event classes and Listener interfaces for event handling.</a:t>
            </a:r>
          </a:p>
        </p:txBody>
      </p:sp>
      <p:sp>
        <p:nvSpPr>
          <p:cNvPr id="5" name="Slide Number Placeholder 4"/>
          <p:cNvSpPr>
            <a:spLocks noGrp="1"/>
          </p:cNvSpPr>
          <p:nvPr>
            <p:ph type="sldNum" sz="quarter" idx="12"/>
          </p:nvPr>
        </p:nvSpPr>
        <p:spPr/>
        <p:txBody>
          <a:bodyPr/>
          <a:lstStyle/>
          <a:p>
            <a:fld id="{CABF7EEA-85D2-497E-9C95-F3C1348C26C9}" type="slidenum">
              <a:rPr lang="en-IN" smtClean="0"/>
              <a:pPr/>
              <a:t>5</a:t>
            </a:fld>
            <a:endParaRPr lang="en-IN"/>
          </a:p>
        </p:txBody>
      </p:sp>
    </p:spTree>
    <p:extLst>
      <p:ext uri="{BB962C8B-B14F-4D97-AF65-F5344CB8AC3E}">
        <p14:creationId xmlns:p14="http://schemas.microsoft.com/office/powerpoint/2010/main" val="576340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277813"/>
            <a:ext cx="8229600" cy="560387"/>
          </a:xfrm>
        </p:spPr>
        <p:txBody>
          <a:bodyPr>
            <a:normAutofit fontScale="90000"/>
          </a:bodyPr>
          <a:lstStyle/>
          <a:p>
            <a:r>
              <a:rPr lang="en-US" sz="3800" b="1" dirty="0">
                <a:latin typeface="Cambria" panose="02040503050406030204" pitchFamily="18" charset="0"/>
                <a:ea typeface="Cambria" panose="02040503050406030204" pitchFamily="18" charset="0"/>
              </a:rPr>
              <a:t>Delegation Event Model</a:t>
            </a:r>
          </a:p>
        </p:txBody>
      </p:sp>
      <p:sp>
        <p:nvSpPr>
          <p:cNvPr id="6147" name="Rectangle 3"/>
          <p:cNvSpPr>
            <a:spLocks noGrp="1" noChangeArrowheads="1"/>
          </p:cNvSpPr>
          <p:nvPr>
            <p:ph type="body" idx="1"/>
          </p:nvPr>
        </p:nvSpPr>
        <p:spPr>
          <a:xfrm>
            <a:off x="228600" y="990600"/>
            <a:ext cx="8610600" cy="5562600"/>
          </a:xfrm>
        </p:spPr>
        <p:txBody>
          <a:bodyPr/>
          <a:lstStyle/>
          <a:p>
            <a:pPr algn="just">
              <a:lnSpc>
                <a:spcPct val="90000"/>
              </a:lnSpc>
            </a:pPr>
            <a:r>
              <a:rPr lang="en-US" dirty="0">
                <a:latin typeface="Cambria" panose="02040503050406030204" pitchFamily="18" charset="0"/>
                <a:ea typeface="Cambria" panose="02040503050406030204" pitchFamily="18" charset="0"/>
              </a:rPr>
              <a:t>The modern approach to handling events is based on the delegation event model. </a:t>
            </a:r>
          </a:p>
          <a:p>
            <a:pPr algn="just">
              <a:lnSpc>
                <a:spcPct val="90000"/>
              </a:lnSpc>
            </a:pPr>
            <a:r>
              <a:rPr lang="en-US" dirty="0">
                <a:latin typeface="Cambria" panose="02040503050406030204" pitchFamily="18" charset="0"/>
                <a:ea typeface="Cambria" panose="02040503050406030204" pitchFamily="18" charset="0"/>
              </a:rPr>
              <a:t>The delegation event model </a:t>
            </a:r>
            <a:r>
              <a:rPr lang="en-US" b="1" dirty="0">
                <a:latin typeface="Cambria" panose="02040503050406030204" pitchFamily="18" charset="0"/>
                <a:ea typeface="Cambria" panose="02040503050406030204" pitchFamily="18" charset="0"/>
              </a:rPr>
              <a:t>provides a standard mechanism for a source to generate an event and send it to a set of listeners.</a:t>
            </a:r>
            <a:r>
              <a:rPr lang="en-US" dirty="0">
                <a:latin typeface="Cambria" panose="02040503050406030204" pitchFamily="18" charset="0"/>
                <a:ea typeface="Cambria" panose="02040503050406030204" pitchFamily="18" charset="0"/>
              </a:rPr>
              <a:t> </a:t>
            </a:r>
          </a:p>
          <a:p>
            <a:pPr marL="0" indent="0" algn="just">
              <a:lnSpc>
                <a:spcPct val="90000"/>
              </a:lnSpc>
              <a:buNone/>
            </a:pP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fld id="{CABF7EEA-85D2-497E-9C95-F3C1348C26C9}" type="slidenum">
              <a:rPr lang="en-IN" smtClean="0"/>
              <a:pPr/>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6752"/>
            <a:ext cx="8435280" cy="5159598"/>
          </a:xfrm>
        </p:spPr>
        <p:txBody>
          <a:bodyPr>
            <a:normAutofit fontScale="92500" lnSpcReduction="20000"/>
          </a:bodyPr>
          <a:lstStyle/>
          <a:p>
            <a:r>
              <a:rPr lang="en-GB" dirty="0">
                <a:latin typeface="Cambria" panose="02040503050406030204" pitchFamily="18" charset="0"/>
                <a:ea typeface="Cambria" panose="02040503050406030204" pitchFamily="18" charset="0"/>
              </a:rPr>
              <a:t>Its concept is quite simple: a source generates an event and sends it to one or more listeners. </a:t>
            </a:r>
          </a:p>
          <a:p>
            <a:r>
              <a:rPr lang="en-GB" dirty="0">
                <a:latin typeface="Cambria" panose="02040503050406030204" pitchFamily="18" charset="0"/>
                <a:ea typeface="Cambria" panose="02040503050406030204" pitchFamily="18" charset="0"/>
              </a:rPr>
              <a:t>In this scheme, the listener simply waits until it receives an event. Once received, the listener processes the event and then returns. </a:t>
            </a:r>
          </a:p>
          <a:p>
            <a:r>
              <a:rPr lang="en-GB" dirty="0">
                <a:latin typeface="Cambria" panose="02040503050406030204" pitchFamily="18" charset="0"/>
                <a:ea typeface="Cambria" panose="02040503050406030204" pitchFamily="18" charset="0"/>
              </a:rPr>
              <a:t>The advantage of this design is that the application logic that processes events is cleanly separated from the user interface logic that generates those events. </a:t>
            </a:r>
          </a:p>
          <a:p>
            <a:r>
              <a:rPr lang="en-GB" dirty="0">
                <a:latin typeface="Cambria" panose="02040503050406030204" pitchFamily="18" charset="0"/>
                <a:ea typeface="Cambria" panose="02040503050406030204" pitchFamily="18" charset="0"/>
              </a:rPr>
              <a:t>A user interface element is able to “delegate” the processing of an event to a separate piece of code.</a:t>
            </a:r>
          </a:p>
        </p:txBody>
      </p:sp>
      <p:sp>
        <p:nvSpPr>
          <p:cNvPr id="4" name="Slide Number Placeholder 3"/>
          <p:cNvSpPr>
            <a:spLocks noGrp="1"/>
          </p:cNvSpPr>
          <p:nvPr>
            <p:ph type="sldNum" sz="quarter" idx="12"/>
          </p:nvPr>
        </p:nvSpPr>
        <p:spPr/>
        <p:txBody>
          <a:bodyPr/>
          <a:lstStyle/>
          <a:p>
            <a:fld id="{CABF7EEA-85D2-497E-9C95-F3C1348C26C9}" type="slidenum">
              <a:rPr lang="en-IN" smtClean="0"/>
              <a:pPr/>
              <a:t>7</a:t>
            </a:fld>
            <a:endParaRPr lang="en-IN"/>
          </a:p>
        </p:txBody>
      </p:sp>
      <p:sp>
        <p:nvSpPr>
          <p:cNvPr id="5" name="Rectangle 2"/>
          <p:cNvSpPr>
            <a:spLocks noGrp="1" noChangeArrowheads="1"/>
          </p:cNvSpPr>
          <p:nvPr>
            <p:ph type="title"/>
          </p:nvPr>
        </p:nvSpPr>
        <p:spPr>
          <a:xfrm>
            <a:off x="457200" y="274638"/>
            <a:ext cx="8229600" cy="778098"/>
          </a:xfrm>
        </p:spPr>
        <p:txBody>
          <a:bodyPr>
            <a:normAutofit/>
          </a:bodyPr>
          <a:lstStyle/>
          <a:p>
            <a:r>
              <a:rPr lang="en-US" sz="3800" b="1" dirty="0">
                <a:latin typeface="Cambria" panose="02040503050406030204" pitchFamily="18" charset="0"/>
                <a:ea typeface="Cambria" panose="02040503050406030204" pitchFamily="18" charset="0"/>
              </a:rPr>
              <a:t>Delegation Event Model</a:t>
            </a:r>
          </a:p>
        </p:txBody>
      </p:sp>
    </p:spTree>
    <p:extLst>
      <p:ext uri="{BB962C8B-B14F-4D97-AF65-F5344CB8AC3E}">
        <p14:creationId xmlns:p14="http://schemas.microsoft.com/office/powerpoint/2010/main" val="21186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5" name="Content Placeholder 4"/>
          <p:cNvPicPr>
            <a:picLocks noGrp="1" noChangeAspect="1"/>
          </p:cNvPicPr>
          <p:nvPr>
            <p:ph idx="1"/>
          </p:nvPr>
        </p:nvPicPr>
        <p:blipFill>
          <a:blip r:embed="rId2"/>
          <a:stretch>
            <a:fillRect/>
          </a:stretch>
        </p:blipFill>
        <p:spPr>
          <a:xfrm>
            <a:off x="971600" y="1417638"/>
            <a:ext cx="7632848" cy="4171602"/>
          </a:xfrm>
          <a:prstGeom prst="rect">
            <a:avLst/>
          </a:prstGeom>
        </p:spPr>
      </p:pic>
      <p:sp>
        <p:nvSpPr>
          <p:cNvPr id="4" name="Slide Number Placeholder 3"/>
          <p:cNvSpPr>
            <a:spLocks noGrp="1"/>
          </p:cNvSpPr>
          <p:nvPr>
            <p:ph type="sldNum" sz="quarter" idx="12"/>
          </p:nvPr>
        </p:nvSpPr>
        <p:spPr/>
        <p:txBody>
          <a:bodyPr/>
          <a:lstStyle/>
          <a:p>
            <a:fld id="{CABF7EEA-85D2-497E-9C95-F3C1348C26C9}" type="slidenum">
              <a:rPr lang="en-IN" smtClean="0"/>
              <a:pPr/>
              <a:t>8</a:t>
            </a:fld>
            <a:endParaRPr lang="en-IN"/>
          </a:p>
        </p:txBody>
      </p:sp>
    </p:spTree>
    <p:extLst>
      <p:ext uri="{BB962C8B-B14F-4D97-AF65-F5344CB8AC3E}">
        <p14:creationId xmlns:p14="http://schemas.microsoft.com/office/powerpoint/2010/main" val="975812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457200" y="381000"/>
            <a:ext cx="8229600" cy="6172200"/>
          </a:xfrm>
        </p:spPr>
        <p:txBody>
          <a:bodyPr/>
          <a:lstStyle/>
          <a:p>
            <a:r>
              <a:rPr lang="en-US" dirty="0"/>
              <a:t>In the delegation event model, </a:t>
            </a:r>
            <a:r>
              <a:rPr lang="en-US" b="1" dirty="0"/>
              <a:t>listener must register with a source in order to receive an event notification.</a:t>
            </a:r>
          </a:p>
          <a:p>
            <a:r>
              <a:rPr lang="en-US" dirty="0"/>
              <a:t>Notification are sent only to listeners that want to receive them.</a:t>
            </a:r>
          </a:p>
          <a:p>
            <a:r>
              <a:rPr lang="en-US" dirty="0"/>
              <a:t>There are mainly three parts in delegation event model.</a:t>
            </a:r>
          </a:p>
          <a:p>
            <a:pPr lvl="1"/>
            <a:r>
              <a:rPr lang="en-US" b="1" dirty="0"/>
              <a:t>Events.</a:t>
            </a:r>
          </a:p>
          <a:p>
            <a:pPr lvl="1"/>
            <a:r>
              <a:rPr lang="en-US" b="1" dirty="0"/>
              <a:t>Event sources.</a:t>
            </a:r>
          </a:p>
          <a:p>
            <a:pPr lvl="1"/>
            <a:r>
              <a:rPr lang="en-US" b="1" dirty="0"/>
              <a:t>Event Listeners.</a:t>
            </a:r>
          </a:p>
          <a:p>
            <a:pPr lvl="1"/>
            <a:endParaRPr lang="en-US" b="1" dirty="0"/>
          </a:p>
        </p:txBody>
      </p:sp>
      <p:sp>
        <p:nvSpPr>
          <p:cNvPr id="4" name="Slide Number Placeholder 3"/>
          <p:cNvSpPr>
            <a:spLocks noGrp="1"/>
          </p:cNvSpPr>
          <p:nvPr>
            <p:ph type="sldNum" sz="quarter" idx="12"/>
          </p:nvPr>
        </p:nvSpPr>
        <p:spPr/>
        <p:txBody>
          <a:bodyPr/>
          <a:lstStyle/>
          <a:p>
            <a:fld id="{CABF7EEA-85D2-497E-9C95-F3C1348C26C9}" type="slidenum">
              <a:rPr lang="en-IN" smtClean="0"/>
              <a:pPr/>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435280" cy="4525963"/>
          </a:xfrm>
        </p:spPr>
        <p:txBody>
          <a:bodyPr>
            <a:normAutofit fontScale="92500"/>
          </a:bodyPr>
          <a:lstStyle/>
          <a:p>
            <a:r>
              <a:rPr lang="en-IN" b="1" dirty="0">
                <a:latin typeface="Cambria" panose="02040503050406030204" pitchFamily="18" charset="0"/>
                <a:ea typeface="Cambria" panose="02040503050406030204" pitchFamily="18" charset="0"/>
              </a:rPr>
              <a:t>Events</a:t>
            </a:r>
            <a:r>
              <a:rPr lang="en-IN" dirty="0">
                <a:latin typeface="Cambria" panose="02040503050406030204" pitchFamily="18" charset="0"/>
                <a:ea typeface="Cambria" panose="02040503050406030204" pitchFamily="18" charset="0"/>
              </a:rPr>
              <a:t> </a:t>
            </a:r>
          </a:p>
          <a:p>
            <a:pPr marL="0" indent="0">
              <a:buNone/>
            </a:pPr>
            <a:r>
              <a:rPr lang="en-IN" b="1" dirty="0">
                <a:latin typeface="Cambria" panose="02040503050406030204" pitchFamily="18" charset="0"/>
                <a:ea typeface="Cambria" panose="02040503050406030204" pitchFamily="18" charset="0"/>
              </a:rPr>
              <a:t>	An event is a change of state of an object</a:t>
            </a:r>
            <a:r>
              <a:rPr lang="en-IN" dirty="0">
                <a:latin typeface="Cambria" panose="02040503050406030204" pitchFamily="18" charset="0"/>
                <a:ea typeface="Cambria" panose="02040503050406030204" pitchFamily="18" charset="0"/>
              </a:rPr>
              <a:t>. </a:t>
            </a:r>
            <a:endParaRPr lang="en-GB" dirty="0">
              <a:latin typeface="Cambria" panose="02040503050406030204" pitchFamily="18" charset="0"/>
              <a:ea typeface="Cambria" panose="02040503050406030204" pitchFamily="18" charset="0"/>
            </a:endParaRPr>
          </a:p>
          <a:p>
            <a:r>
              <a:rPr lang="en-GB" dirty="0">
                <a:latin typeface="Cambria" panose="02040503050406030204" pitchFamily="18" charset="0"/>
                <a:ea typeface="Cambria" panose="02040503050406030204" pitchFamily="18" charset="0"/>
              </a:rPr>
              <a:t>It can be generated as a consequence of a </a:t>
            </a:r>
            <a:r>
              <a:rPr lang="en-GB" b="1" dirty="0">
                <a:latin typeface="Cambria" panose="02040503050406030204" pitchFamily="18" charset="0"/>
                <a:ea typeface="Cambria" panose="02040503050406030204" pitchFamily="18" charset="0"/>
              </a:rPr>
              <a:t>person interacting with the elements</a:t>
            </a:r>
            <a:r>
              <a:rPr lang="en-GB" dirty="0">
                <a:latin typeface="Cambria" panose="02040503050406030204" pitchFamily="18" charset="0"/>
                <a:ea typeface="Cambria" panose="02040503050406030204" pitchFamily="18" charset="0"/>
              </a:rPr>
              <a:t> in a graphical user interface. </a:t>
            </a:r>
          </a:p>
          <a:p>
            <a:r>
              <a:rPr lang="en-GB" dirty="0">
                <a:latin typeface="Cambria" panose="02040503050406030204" pitchFamily="18" charset="0"/>
                <a:ea typeface="Cambria" panose="02040503050406030204" pitchFamily="18" charset="0"/>
              </a:rPr>
              <a:t>Some of the activities that cause events to be generated are </a:t>
            </a:r>
            <a:r>
              <a:rPr lang="en-GB" b="1" dirty="0">
                <a:latin typeface="Cambria" panose="02040503050406030204" pitchFamily="18" charset="0"/>
                <a:ea typeface="Cambria" panose="02040503050406030204" pitchFamily="18" charset="0"/>
              </a:rPr>
              <a:t>pressing a button, entering a character via the keyboard, selecting an item in a list, and clicking the mouse</a:t>
            </a:r>
            <a:r>
              <a:rPr lang="en-GB" dirty="0">
                <a:latin typeface="Cambria" panose="02040503050406030204" pitchFamily="18" charset="0"/>
                <a:ea typeface="Cambria" panose="02040503050406030204" pitchFamily="18" charset="0"/>
              </a:rPr>
              <a:t>.</a:t>
            </a:r>
          </a:p>
        </p:txBody>
      </p:sp>
      <p:sp>
        <p:nvSpPr>
          <p:cNvPr id="4" name="Slide Number Placeholder 3"/>
          <p:cNvSpPr>
            <a:spLocks noGrp="1"/>
          </p:cNvSpPr>
          <p:nvPr>
            <p:ph type="sldNum" sz="quarter" idx="12"/>
          </p:nvPr>
        </p:nvSpPr>
        <p:spPr/>
        <p:txBody>
          <a:bodyPr/>
          <a:lstStyle/>
          <a:p>
            <a:fld id="{CABF7EEA-85D2-497E-9C95-F3C1348C26C9}" type="slidenum">
              <a:rPr lang="en-IN" smtClean="0">
                <a:latin typeface="Cambria" panose="02040503050406030204" pitchFamily="18" charset="0"/>
                <a:ea typeface="Cambria" panose="02040503050406030204" pitchFamily="18" charset="0"/>
              </a:rPr>
              <a:pPr/>
              <a:t>10</a:t>
            </a:fld>
            <a:endParaRPr lang="en-IN">
              <a:latin typeface="Cambria" panose="02040503050406030204" pitchFamily="18" charset="0"/>
              <a:ea typeface="Cambria" panose="02040503050406030204" pitchFamily="18" charset="0"/>
            </a:endParaRPr>
          </a:p>
        </p:txBody>
      </p:sp>
      <p:sp>
        <p:nvSpPr>
          <p:cNvPr id="5" name="Title 1"/>
          <p:cNvSpPr>
            <a:spLocks noGrp="1"/>
          </p:cNvSpPr>
          <p:nvPr>
            <p:ph type="title"/>
          </p:nvPr>
        </p:nvSpPr>
        <p:spPr/>
        <p:txBody>
          <a:bodyPr>
            <a:normAutofit/>
          </a:bodyPr>
          <a:lstStyle/>
          <a:p>
            <a:r>
              <a:rPr lang="en-IN" b="1" dirty="0">
                <a:latin typeface="Cambria" panose="02040503050406030204" pitchFamily="18" charset="0"/>
                <a:ea typeface="Cambria" panose="02040503050406030204" pitchFamily="18" charset="0"/>
              </a:rPr>
              <a:t>Components of Event Handling</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69113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latin typeface="Cambria" panose="02040503050406030204" pitchFamily="18" charset="0"/>
                <a:ea typeface="Cambria" panose="02040503050406030204" pitchFamily="18" charset="0"/>
              </a:rPr>
              <a:t>Event</a:t>
            </a:r>
            <a:endParaRPr lang="en-IN"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57200" y="1600200"/>
            <a:ext cx="8435280" cy="4525963"/>
          </a:xfrm>
        </p:spPr>
        <p:txBody>
          <a:bodyPr>
            <a:normAutofit lnSpcReduction="10000"/>
          </a:bodyPr>
          <a:lstStyle/>
          <a:p>
            <a:pPr lvl="1"/>
            <a:r>
              <a:rPr lang="en-US" sz="3200" dirty="0">
                <a:latin typeface="Cambria" panose="02040503050406030204" pitchFamily="18" charset="0"/>
                <a:ea typeface="Cambria" panose="02040503050406030204" pitchFamily="18" charset="0"/>
              </a:rPr>
              <a:t>Events may also occur that are not directly caused by interactions with a user interface. </a:t>
            </a:r>
          </a:p>
          <a:p>
            <a:pPr lvl="1"/>
            <a:r>
              <a:rPr lang="en-US" sz="3200" dirty="0">
                <a:latin typeface="Cambria" panose="02040503050406030204" pitchFamily="18" charset="0"/>
                <a:ea typeface="Cambria" panose="02040503050406030204" pitchFamily="18" charset="0"/>
              </a:rPr>
              <a:t>For example, an event may be generated </a:t>
            </a:r>
            <a:r>
              <a:rPr lang="en-US" sz="3200" b="1" dirty="0">
                <a:latin typeface="Cambria" panose="02040503050406030204" pitchFamily="18" charset="0"/>
                <a:ea typeface="Cambria" panose="02040503050406030204" pitchFamily="18" charset="0"/>
              </a:rPr>
              <a:t>when a timer expires, a counter exceeds a value, software </a:t>
            </a:r>
            <a:r>
              <a:rPr lang="en-US" sz="3200" dirty="0">
                <a:latin typeface="Cambria" panose="02040503050406030204" pitchFamily="18" charset="0"/>
                <a:ea typeface="Cambria" panose="02040503050406030204" pitchFamily="18" charset="0"/>
              </a:rPr>
              <a:t>or</a:t>
            </a:r>
            <a:r>
              <a:rPr lang="en-US" sz="3200" b="1" dirty="0">
                <a:latin typeface="Cambria" panose="02040503050406030204" pitchFamily="18" charset="0"/>
                <a:ea typeface="Cambria" panose="02040503050406030204" pitchFamily="18" charset="0"/>
              </a:rPr>
              <a:t> hardware failure occurs, </a:t>
            </a:r>
            <a:r>
              <a:rPr lang="en-US" sz="3200" dirty="0">
                <a:latin typeface="Cambria" panose="02040503050406030204" pitchFamily="18" charset="0"/>
                <a:ea typeface="Cambria" panose="02040503050406030204" pitchFamily="18" charset="0"/>
              </a:rPr>
              <a:t>or</a:t>
            </a:r>
            <a:r>
              <a:rPr lang="en-US" sz="3200" b="1" dirty="0">
                <a:latin typeface="Cambria" panose="02040503050406030204" pitchFamily="18" charset="0"/>
                <a:ea typeface="Cambria" panose="02040503050406030204" pitchFamily="18" charset="0"/>
              </a:rPr>
              <a:t> an operation is completed</a:t>
            </a:r>
            <a:r>
              <a:rPr lang="en-US" sz="3200" dirty="0">
                <a:latin typeface="Cambria" panose="02040503050406030204" pitchFamily="18" charset="0"/>
                <a:ea typeface="Cambria" panose="02040503050406030204" pitchFamily="18" charset="0"/>
              </a:rPr>
              <a:t>.</a:t>
            </a:r>
          </a:p>
          <a:p>
            <a:r>
              <a:rPr lang="en-GB" dirty="0"/>
              <a:t>We are free to define events that are appropriate for an application.</a:t>
            </a:r>
            <a:endParaRPr lang="en-US" sz="6600" dirty="0">
              <a:latin typeface="Cambria" panose="02040503050406030204" pitchFamily="18" charset="0"/>
              <a:ea typeface="Cambria" panose="02040503050406030204" pitchFamily="18" charset="0"/>
            </a:endParaRPr>
          </a:p>
        </p:txBody>
      </p:sp>
      <p:sp>
        <p:nvSpPr>
          <p:cNvPr id="6" name="Slide Number Placeholder 5"/>
          <p:cNvSpPr>
            <a:spLocks noGrp="1"/>
          </p:cNvSpPr>
          <p:nvPr>
            <p:ph type="sldNum" sz="quarter" idx="12"/>
          </p:nvPr>
        </p:nvSpPr>
        <p:spPr/>
        <p:txBody>
          <a:bodyPr/>
          <a:lstStyle/>
          <a:p>
            <a:fld id="{CABF7EEA-85D2-497E-9C95-F3C1348C26C9}" type="slidenum">
              <a:rPr lang="en-IN" smtClean="0">
                <a:latin typeface="Cambria" panose="02040503050406030204" pitchFamily="18" charset="0"/>
                <a:ea typeface="Cambria" panose="02040503050406030204" pitchFamily="18" charset="0"/>
              </a:rPr>
              <a:pPr/>
              <a:t>11</a:t>
            </a:fld>
            <a:endParaRPr lang="en-IN"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277813"/>
            <a:ext cx="8229600" cy="560387"/>
          </a:xfrm>
        </p:spPr>
        <p:txBody>
          <a:bodyPr>
            <a:normAutofit fontScale="90000"/>
          </a:bodyPr>
          <a:lstStyle/>
          <a:p>
            <a:r>
              <a:rPr lang="en-US" sz="3800" b="1" dirty="0">
                <a:latin typeface="Cambria" panose="02040503050406030204" pitchFamily="18" charset="0"/>
                <a:ea typeface="Cambria" panose="02040503050406030204" pitchFamily="18" charset="0"/>
              </a:rPr>
              <a:t>Event Sources</a:t>
            </a:r>
          </a:p>
        </p:txBody>
      </p:sp>
      <p:sp>
        <p:nvSpPr>
          <p:cNvPr id="9219" name="Rectangle 3"/>
          <p:cNvSpPr>
            <a:spLocks noGrp="1" noChangeArrowheads="1"/>
          </p:cNvSpPr>
          <p:nvPr>
            <p:ph type="body" idx="1"/>
          </p:nvPr>
        </p:nvSpPr>
        <p:spPr>
          <a:xfrm>
            <a:off x="228600" y="990600"/>
            <a:ext cx="8610600" cy="5638800"/>
          </a:xfrm>
        </p:spPr>
        <p:txBody>
          <a:bodyPr/>
          <a:lstStyle/>
          <a:p>
            <a:pPr algn="just"/>
            <a:r>
              <a:rPr lang="en-US" dirty="0">
                <a:latin typeface="Cambria" panose="02040503050406030204" pitchFamily="18" charset="0"/>
                <a:ea typeface="Cambria" panose="02040503050406030204" pitchFamily="18" charset="0"/>
              </a:rPr>
              <a:t>A source is </a:t>
            </a:r>
            <a:r>
              <a:rPr lang="en-US" b="1" dirty="0">
                <a:latin typeface="Cambria" panose="02040503050406030204" pitchFamily="18" charset="0"/>
                <a:ea typeface="Cambria" panose="02040503050406030204" pitchFamily="18" charset="0"/>
              </a:rPr>
              <a:t>an object that generates an event</a:t>
            </a:r>
            <a:r>
              <a:rPr lang="en-US" dirty="0">
                <a:latin typeface="Cambria" panose="02040503050406030204" pitchFamily="18" charset="0"/>
                <a:ea typeface="Cambria" panose="02040503050406030204" pitchFamily="18" charset="0"/>
              </a:rPr>
              <a:t>. This occurs when the internal state of that object changes in some way. </a:t>
            </a:r>
          </a:p>
          <a:p>
            <a:pPr algn="just"/>
            <a:r>
              <a:rPr lang="en-US" dirty="0">
                <a:latin typeface="Cambria" panose="02040503050406030204" pitchFamily="18" charset="0"/>
                <a:ea typeface="Cambria" panose="02040503050406030204" pitchFamily="18" charset="0"/>
              </a:rPr>
              <a:t>Sources may generate more than one type of event. </a:t>
            </a:r>
          </a:p>
          <a:p>
            <a:pPr algn="just"/>
            <a:r>
              <a:rPr lang="en-US" dirty="0">
                <a:latin typeface="Cambria" panose="02040503050406030204" pitchFamily="18" charset="0"/>
                <a:ea typeface="Cambria" panose="02040503050406030204" pitchFamily="18" charset="0"/>
              </a:rPr>
              <a:t>A source must register listeners in order for the listeners to receive notifications about a specific type of event. </a:t>
            </a:r>
          </a:p>
          <a:p>
            <a:pPr algn="just"/>
            <a:r>
              <a:rPr lang="en-US" dirty="0">
                <a:latin typeface="Cambria" panose="02040503050406030204" pitchFamily="18" charset="0"/>
                <a:ea typeface="Cambria" panose="02040503050406030204" pitchFamily="18" charset="0"/>
              </a:rPr>
              <a:t>Each type of event has its own registration method.</a:t>
            </a:r>
          </a:p>
        </p:txBody>
      </p:sp>
      <p:sp>
        <p:nvSpPr>
          <p:cNvPr id="4" name="Slide Number Placeholder 3"/>
          <p:cNvSpPr>
            <a:spLocks noGrp="1"/>
          </p:cNvSpPr>
          <p:nvPr>
            <p:ph type="sldNum" sz="quarter" idx="12"/>
          </p:nvPr>
        </p:nvSpPr>
        <p:spPr/>
        <p:txBody>
          <a:bodyPr/>
          <a:lstStyle/>
          <a:p>
            <a:fld id="{CABF7EEA-85D2-497E-9C95-F3C1348C26C9}" type="slidenum">
              <a:rPr lang="en-IN" smtClean="0">
                <a:latin typeface="Cambria" panose="02040503050406030204" pitchFamily="18" charset="0"/>
                <a:ea typeface="Cambria" panose="02040503050406030204" pitchFamily="18" charset="0"/>
              </a:rPr>
              <a:pPr/>
              <a:t>12</a:t>
            </a:fld>
            <a:endParaRPr lang="en-IN">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a:xfrm>
            <a:off x="228600" y="228600"/>
            <a:ext cx="8686800" cy="6400800"/>
          </a:xfrm>
        </p:spPr>
        <p:txBody>
          <a:bodyPr>
            <a:normAutofit/>
          </a:bodyPr>
          <a:lstStyle/>
          <a:p>
            <a:pPr algn="just"/>
            <a:r>
              <a:rPr lang="en-US" dirty="0"/>
              <a:t>Here is the general form to register listeners:</a:t>
            </a:r>
          </a:p>
          <a:p>
            <a:pPr lvl="1" algn="just"/>
            <a:r>
              <a:rPr lang="en-US" b="1" dirty="0"/>
              <a:t>public void </a:t>
            </a:r>
            <a:r>
              <a:rPr lang="en-US" b="1" dirty="0" err="1"/>
              <a:t>add</a:t>
            </a:r>
            <a:r>
              <a:rPr lang="en-US" b="1" dirty="0" err="1">
                <a:solidFill>
                  <a:srgbClr val="FF0000"/>
                </a:solidFill>
              </a:rPr>
              <a:t>Type</a:t>
            </a:r>
            <a:r>
              <a:rPr lang="en-US" b="1" dirty="0" err="1"/>
              <a:t>Listener</a:t>
            </a:r>
            <a:r>
              <a:rPr lang="en-US" b="1" dirty="0"/>
              <a:t>(</a:t>
            </a:r>
            <a:r>
              <a:rPr lang="en-US" b="1" dirty="0" err="1">
                <a:solidFill>
                  <a:srgbClr val="FF0000"/>
                </a:solidFill>
              </a:rPr>
              <a:t>Type</a:t>
            </a:r>
            <a:r>
              <a:rPr lang="en-US" b="1" dirty="0" err="1"/>
              <a:t>Listener</a:t>
            </a:r>
            <a:r>
              <a:rPr lang="en-US" b="1" dirty="0"/>
              <a:t> el)</a:t>
            </a:r>
          </a:p>
          <a:p>
            <a:pPr lvl="1" algn="just"/>
            <a:r>
              <a:rPr lang="en-US" b="1" dirty="0"/>
              <a:t>For example: </a:t>
            </a:r>
            <a:r>
              <a:rPr lang="en-US" b="1" dirty="0" err="1"/>
              <a:t>b.addActionListener</a:t>
            </a:r>
            <a:r>
              <a:rPr lang="en-US" b="1" dirty="0"/>
              <a:t>(this); </a:t>
            </a:r>
          </a:p>
          <a:p>
            <a:pPr algn="just"/>
            <a:r>
              <a:rPr lang="en-US" dirty="0"/>
              <a:t>Here, </a:t>
            </a:r>
            <a:r>
              <a:rPr lang="en-US" b="1" dirty="0"/>
              <a:t>type</a:t>
            </a:r>
            <a:r>
              <a:rPr lang="en-US" dirty="0"/>
              <a:t> is the name of the event, and </a:t>
            </a:r>
            <a:r>
              <a:rPr lang="en-US" b="1" dirty="0"/>
              <a:t>el</a:t>
            </a:r>
            <a:r>
              <a:rPr lang="en-US" dirty="0"/>
              <a:t> is a reference to the event listener. </a:t>
            </a:r>
          </a:p>
          <a:p>
            <a:pPr algn="just"/>
            <a:r>
              <a:rPr lang="en-US" dirty="0"/>
              <a:t>For example, the method that registers a keyboard event listener is called </a:t>
            </a:r>
            <a:r>
              <a:rPr lang="en-US" dirty="0" err="1"/>
              <a:t>addKeyListener</a:t>
            </a:r>
            <a:r>
              <a:rPr lang="en-US" dirty="0"/>
              <a:t>(). </a:t>
            </a:r>
          </a:p>
          <a:p>
            <a:pPr algn="just"/>
            <a:r>
              <a:rPr lang="en-US" dirty="0"/>
              <a:t>The method that registers a mouse motion listener is called </a:t>
            </a:r>
            <a:r>
              <a:rPr lang="en-US" dirty="0" err="1"/>
              <a:t>addMouseMotionListener</a:t>
            </a:r>
            <a:r>
              <a:rPr lang="en-US" dirty="0"/>
              <a:t>(). </a:t>
            </a:r>
          </a:p>
          <a:p>
            <a:pPr algn="just"/>
            <a:r>
              <a:rPr lang="en-US" dirty="0"/>
              <a:t>When an event occurs, all registered listeners are notified and receive a copy of the event object.</a:t>
            </a:r>
          </a:p>
        </p:txBody>
      </p:sp>
      <p:sp>
        <p:nvSpPr>
          <p:cNvPr id="4" name="Slide Number Placeholder 3"/>
          <p:cNvSpPr>
            <a:spLocks noGrp="1"/>
          </p:cNvSpPr>
          <p:nvPr>
            <p:ph type="sldNum" sz="quarter" idx="12"/>
          </p:nvPr>
        </p:nvSpPr>
        <p:spPr/>
        <p:txBody>
          <a:bodyPr/>
          <a:lstStyle/>
          <a:p>
            <a:fld id="{CABF7EEA-85D2-497E-9C95-F3C1348C26C9}" type="slidenum">
              <a:rPr lang="en-IN" smtClean="0"/>
              <a:pPr/>
              <a:t>13</a:t>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a:xfrm>
            <a:off x="457200" y="533400"/>
            <a:ext cx="8229600" cy="5597525"/>
          </a:xfrm>
        </p:spPr>
        <p:txBody>
          <a:bodyPr>
            <a:normAutofit/>
          </a:bodyPr>
          <a:lstStyle/>
          <a:p>
            <a:pPr algn="just"/>
            <a:r>
              <a:rPr lang="en-US" dirty="0"/>
              <a:t>The general form of unregister listener method is this:</a:t>
            </a:r>
          </a:p>
          <a:p>
            <a:pPr algn="just">
              <a:buFont typeface="Wingdings" pitchFamily="2" charset="2"/>
              <a:buNone/>
            </a:pPr>
            <a:endParaRPr lang="en-US" dirty="0"/>
          </a:p>
          <a:p>
            <a:pPr lvl="1" algn="just"/>
            <a:r>
              <a:rPr lang="en-US" b="1" dirty="0"/>
              <a:t>Public void </a:t>
            </a:r>
            <a:r>
              <a:rPr lang="en-US" b="1" dirty="0" err="1"/>
              <a:t>remove</a:t>
            </a:r>
            <a:r>
              <a:rPr lang="en-US" b="1" dirty="0" err="1">
                <a:solidFill>
                  <a:srgbClr val="FF0000"/>
                </a:solidFill>
              </a:rPr>
              <a:t>Type</a:t>
            </a:r>
            <a:r>
              <a:rPr lang="en-US" b="1" dirty="0" err="1"/>
              <a:t>Listener</a:t>
            </a:r>
            <a:r>
              <a:rPr lang="en-US" b="1" dirty="0"/>
              <a:t>(</a:t>
            </a:r>
            <a:r>
              <a:rPr lang="en-US" b="1" dirty="0" err="1">
                <a:solidFill>
                  <a:srgbClr val="FF0000"/>
                </a:solidFill>
              </a:rPr>
              <a:t>Type</a:t>
            </a:r>
            <a:r>
              <a:rPr lang="en-US" b="1" dirty="0" err="1"/>
              <a:t>Listener</a:t>
            </a:r>
            <a:r>
              <a:rPr lang="en-US" b="1" dirty="0"/>
              <a:t> el)</a:t>
            </a:r>
          </a:p>
          <a:p>
            <a:pPr lvl="1" algn="just"/>
            <a:endParaRPr lang="en-US" dirty="0"/>
          </a:p>
          <a:p>
            <a:pPr algn="just"/>
            <a:r>
              <a:rPr lang="en-US" dirty="0"/>
              <a:t>Here, </a:t>
            </a:r>
            <a:r>
              <a:rPr lang="en-US" b="1" dirty="0"/>
              <a:t>type</a:t>
            </a:r>
            <a:r>
              <a:rPr lang="en-US" dirty="0"/>
              <a:t> is an object that is notified when an event listener. For example, to remove a keyboard listener, you would call </a:t>
            </a:r>
            <a:r>
              <a:rPr lang="en-US" dirty="0" err="1"/>
              <a:t>removeKeyListener</a:t>
            </a:r>
            <a:r>
              <a:rPr lang="en-US" dirty="0"/>
              <a:t>()</a:t>
            </a:r>
          </a:p>
        </p:txBody>
      </p:sp>
      <p:sp>
        <p:nvSpPr>
          <p:cNvPr id="4" name="Slide Number Placeholder 3"/>
          <p:cNvSpPr>
            <a:spLocks noGrp="1"/>
          </p:cNvSpPr>
          <p:nvPr>
            <p:ph type="sldNum" sz="quarter" idx="12"/>
          </p:nvPr>
        </p:nvSpPr>
        <p:spPr/>
        <p:txBody>
          <a:bodyPr/>
          <a:lstStyle/>
          <a:p>
            <a:fld id="{CABF7EEA-85D2-497E-9C95-F3C1348C26C9}" type="slidenum">
              <a:rPr lang="en-IN" smtClean="0"/>
              <a:pPr/>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228600"/>
            <a:ext cx="8229600" cy="484188"/>
          </a:xfrm>
        </p:spPr>
        <p:txBody>
          <a:bodyPr>
            <a:normAutofit fontScale="90000"/>
          </a:bodyPr>
          <a:lstStyle/>
          <a:p>
            <a:r>
              <a:rPr lang="en-US" sz="3800" b="1" dirty="0">
                <a:latin typeface="Cambria" panose="02040503050406030204" pitchFamily="18" charset="0"/>
                <a:ea typeface="Cambria" panose="02040503050406030204" pitchFamily="18" charset="0"/>
              </a:rPr>
              <a:t>Event Listeners</a:t>
            </a:r>
          </a:p>
        </p:txBody>
      </p:sp>
      <p:sp>
        <p:nvSpPr>
          <p:cNvPr id="13315" name="Rectangle 3"/>
          <p:cNvSpPr>
            <a:spLocks noGrp="1" noChangeArrowheads="1"/>
          </p:cNvSpPr>
          <p:nvPr>
            <p:ph type="body" idx="1"/>
          </p:nvPr>
        </p:nvSpPr>
        <p:spPr>
          <a:xfrm>
            <a:off x="304800" y="838200"/>
            <a:ext cx="8610600" cy="5791200"/>
          </a:xfrm>
        </p:spPr>
        <p:txBody>
          <a:bodyPr>
            <a:normAutofit/>
          </a:bodyPr>
          <a:lstStyle/>
          <a:p>
            <a:pPr algn="just">
              <a:lnSpc>
                <a:spcPct val="80000"/>
              </a:lnSpc>
            </a:pPr>
            <a:r>
              <a:rPr lang="en-US" dirty="0">
                <a:latin typeface="Cambria" panose="02040503050406030204" pitchFamily="18" charset="0"/>
                <a:ea typeface="Cambria" panose="02040503050406030204" pitchFamily="18" charset="0"/>
              </a:rPr>
              <a:t>A listener </a:t>
            </a:r>
            <a:r>
              <a:rPr lang="en-US" b="1" dirty="0">
                <a:latin typeface="Cambria" panose="02040503050406030204" pitchFamily="18" charset="0"/>
                <a:ea typeface="Cambria" panose="02040503050406030204" pitchFamily="18" charset="0"/>
              </a:rPr>
              <a:t>is an object that is notified when an event occurs. </a:t>
            </a:r>
          </a:p>
          <a:p>
            <a:pPr algn="just">
              <a:lnSpc>
                <a:spcPct val="80000"/>
              </a:lnSpc>
            </a:pPr>
            <a:r>
              <a:rPr lang="en-US" b="1" dirty="0">
                <a:latin typeface="Cambria" panose="02040503050406030204" pitchFamily="18" charset="0"/>
                <a:ea typeface="Cambria" panose="02040503050406030204" pitchFamily="18" charset="0"/>
              </a:rPr>
              <a:t>It has two major requirements</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First,</a:t>
            </a:r>
            <a:r>
              <a:rPr lang="en-US" dirty="0">
                <a:latin typeface="Cambria" panose="02040503050406030204" pitchFamily="18" charset="0"/>
                <a:ea typeface="Cambria" panose="02040503050406030204" pitchFamily="18" charset="0"/>
              </a:rPr>
              <a:t> it </a:t>
            </a:r>
            <a:r>
              <a:rPr lang="en-US" b="1" i="1" dirty="0">
                <a:latin typeface="Cambria" panose="02040503050406030204" pitchFamily="18" charset="0"/>
                <a:ea typeface="Cambria" panose="02040503050406030204" pitchFamily="18" charset="0"/>
              </a:rPr>
              <a:t>must have been registered with one or more sources</a:t>
            </a:r>
            <a:r>
              <a:rPr lang="en-US" dirty="0">
                <a:latin typeface="Cambria" panose="02040503050406030204" pitchFamily="18" charset="0"/>
                <a:ea typeface="Cambria" panose="02040503050406030204" pitchFamily="18" charset="0"/>
              </a:rPr>
              <a:t> to receive notifications about specific types of events. </a:t>
            </a:r>
          </a:p>
          <a:p>
            <a:pPr algn="just">
              <a:lnSpc>
                <a:spcPct val="80000"/>
              </a:lnSpc>
            </a:pPr>
            <a:r>
              <a:rPr lang="en-US" b="1" dirty="0">
                <a:latin typeface="Cambria" panose="02040503050406030204" pitchFamily="18" charset="0"/>
                <a:ea typeface="Cambria" panose="02040503050406030204" pitchFamily="18" charset="0"/>
              </a:rPr>
              <a:t>Second</a:t>
            </a:r>
            <a:r>
              <a:rPr lang="en-US" dirty="0">
                <a:latin typeface="Cambria" panose="02040503050406030204" pitchFamily="18" charset="0"/>
                <a:ea typeface="Cambria" panose="02040503050406030204" pitchFamily="18" charset="0"/>
              </a:rPr>
              <a:t>, </a:t>
            </a:r>
            <a:r>
              <a:rPr lang="en-US" b="1" i="1" dirty="0">
                <a:latin typeface="Cambria" panose="02040503050406030204" pitchFamily="18" charset="0"/>
                <a:ea typeface="Cambria" panose="02040503050406030204" pitchFamily="18" charset="0"/>
              </a:rPr>
              <a:t>it must implement methods to receive and process these notifications</a:t>
            </a:r>
            <a:r>
              <a:rPr lang="en-US" dirty="0">
                <a:latin typeface="Cambria" panose="02040503050406030204" pitchFamily="18" charset="0"/>
                <a:ea typeface="Cambria" panose="02040503050406030204" pitchFamily="18" charset="0"/>
              </a:rPr>
              <a:t>. </a:t>
            </a:r>
          </a:p>
          <a:p>
            <a:pPr algn="just">
              <a:lnSpc>
                <a:spcPct val="80000"/>
              </a:lnSpc>
            </a:pPr>
            <a:r>
              <a:rPr lang="en-US" dirty="0">
                <a:latin typeface="Cambria" panose="02040503050406030204" pitchFamily="18" charset="0"/>
                <a:ea typeface="Cambria" panose="02040503050406030204" pitchFamily="18" charset="0"/>
              </a:rPr>
              <a:t>The method that receive and process events are defined in a set of interfaces found in </a:t>
            </a:r>
            <a:r>
              <a:rPr lang="en-US" b="1" dirty="0" err="1">
                <a:latin typeface="Cambria" panose="02040503050406030204" pitchFamily="18" charset="0"/>
                <a:ea typeface="Cambria" panose="02040503050406030204" pitchFamily="18" charset="0"/>
              </a:rPr>
              <a:t>java.awt.event</a:t>
            </a:r>
            <a:r>
              <a:rPr lang="en-US" b="1" dirty="0">
                <a:latin typeface="Cambria" panose="02040503050406030204" pitchFamily="18" charset="0"/>
                <a:ea typeface="Cambria" panose="02040503050406030204" pitchFamily="18" charset="0"/>
              </a:rPr>
              <a:t>.</a:t>
            </a:r>
          </a:p>
        </p:txBody>
      </p:sp>
      <p:sp>
        <p:nvSpPr>
          <p:cNvPr id="4" name="Slide Number Placeholder 3"/>
          <p:cNvSpPr>
            <a:spLocks noGrp="1"/>
          </p:cNvSpPr>
          <p:nvPr>
            <p:ph type="sldNum" sz="quarter" idx="12"/>
          </p:nvPr>
        </p:nvSpPr>
        <p:spPr/>
        <p:txBody>
          <a:bodyPr/>
          <a:lstStyle/>
          <a:p>
            <a:fld id="{CABF7EEA-85D2-497E-9C95-F3C1348C26C9}" type="slidenum">
              <a:rPr lang="en-IN" smtClean="0">
                <a:latin typeface="Cambria" panose="02040503050406030204" pitchFamily="18" charset="0"/>
                <a:ea typeface="Cambria" panose="02040503050406030204" pitchFamily="18" charset="0"/>
              </a:rPr>
              <a:pPr/>
              <a:t>15</a:t>
            </a:fld>
            <a:endParaRPr lang="en-IN">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84928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anose="02040503050406030204" pitchFamily="18" charset="0"/>
                <a:ea typeface="Cambria" panose="02040503050406030204" pitchFamily="18" charset="0"/>
              </a:rPr>
              <a:t>Event Listeners</a:t>
            </a:r>
            <a:endParaRPr lang="en-GB"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lstStyle/>
          <a:p>
            <a:r>
              <a:rPr lang="en-GB" dirty="0">
                <a:latin typeface="Cambria" panose="02040503050406030204" pitchFamily="18" charset="0"/>
                <a:ea typeface="Cambria" panose="02040503050406030204" pitchFamily="18" charset="0"/>
              </a:rPr>
              <a:t>For example, the </a:t>
            </a:r>
            <a:r>
              <a:rPr lang="en-GB" dirty="0" err="1">
                <a:latin typeface="Cambria" panose="02040503050406030204" pitchFamily="18" charset="0"/>
                <a:ea typeface="Cambria" panose="02040503050406030204" pitchFamily="18" charset="0"/>
              </a:rPr>
              <a:t>MouseMotionListener</a:t>
            </a:r>
            <a:r>
              <a:rPr lang="en-GB" dirty="0">
                <a:latin typeface="Cambria" panose="02040503050406030204" pitchFamily="18" charset="0"/>
                <a:ea typeface="Cambria" panose="02040503050406030204" pitchFamily="18" charset="0"/>
              </a:rPr>
              <a:t> interface defines two methods to receive notifications when the mouse is dragged or moved. </a:t>
            </a:r>
          </a:p>
          <a:p>
            <a:r>
              <a:rPr lang="en-GB" dirty="0">
                <a:latin typeface="Cambria" panose="02040503050406030204" pitchFamily="18" charset="0"/>
                <a:ea typeface="Cambria" panose="02040503050406030204" pitchFamily="18" charset="0"/>
              </a:rPr>
              <a:t>Any object may receive and process one or both of these events if it provides an implementation of this interface.</a:t>
            </a:r>
          </a:p>
        </p:txBody>
      </p:sp>
      <p:sp>
        <p:nvSpPr>
          <p:cNvPr id="4" name="Slide Number Placeholder 3"/>
          <p:cNvSpPr>
            <a:spLocks noGrp="1"/>
          </p:cNvSpPr>
          <p:nvPr>
            <p:ph type="sldNum" sz="quarter" idx="12"/>
          </p:nvPr>
        </p:nvSpPr>
        <p:spPr/>
        <p:txBody>
          <a:bodyPr/>
          <a:lstStyle/>
          <a:p>
            <a:fld id="{CABF7EEA-85D2-497E-9C95-F3C1348C26C9}" type="slidenum">
              <a:rPr lang="en-IN" smtClean="0">
                <a:latin typeface="Cambria" panose="02040503050406030204" pitchFamily="18" charset="0"/>
                <a:ea typeface="Cambria" panose="02040503050406030204" pitchFamily="18" charset="0"/>
              </a:rPr>
              <a:pPr/>
              <a:t>16</a:t>
            </a:fld>
            <a:endParaRPr lang="en-IN">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024708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2" name="Picture 4" descr="1"/>
          <p:cNvPicPr>
            <a:picLocks noChangeAspect="1" noChangeArrowheads="1"/>
          </p:cNvPicPr>
          <p:nvPr/>
        </p:nvPicPr>
        <p:blipFill>
          <a:blip r:embed="rId2"/>
          <a:srcRect/>
          <a:stretch>
            <a:fillRect/>
          </a:stretch>
        </p:blipFill>
        <p:spPr bwMode="auto">
          <a:xfrm>
            <a:off x="500034" y="116632"/>
            <a:ext cx="8415366" cy="6357982"/>
          </a:xfrm>
          <a:prstGeom prst="rect">
            <a:avLst/>
          </a:prstGeom>
          <a:noFill/>
        </p:spPr>
      </p:pic>
      <p:sp>
        <p:nvSpPr>
          <p:cNvPr id="4" name="Slide Number Placeholder 3"/>
          <p:cNvSpPr>
            <a:spLocks noGrp="1"/>
          </p:cNvSpPr>
          <p:nvPr>
            <p:ph type="sldNum" sz="quarter" idx="12"/>
          </p:nvPr>
        </p:nvSpPr>
        <p:spPr/>
        <p:txBody>
          <a:bodyPr/>
          <a:lstStyle/>
          <a:p>
            <a:fld id="{CABF7EEA-85D2-497E-9C95-F3C1348C26C9}" type="slidenum">
              <a:rPr lang="en-IN" smtClean="0"/>
              <a:pPr/>
              <a:t>17</a:t>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11560" y="2852936"/>
            <a:ext cx="8229600" cy="59283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5400" b="1" dirty="0"/>
              <a:t>Important Event Classes and Interface</a:t>
            </a:r>
            <a:endParaRPr lang="en-IN" sz="5400" dirty="0"/>
          </a:p>
        </p:txBody>
      </p:sp>
      <p:sp>
        <p:nvSpPr>
          <p:cNvPr id="5" name="Slide Number Placeholder 4"/>
          <p:cNvSpPr>
            <a:spLocks noGrp="1"/>
          </p:cNvSpPr>
          <p:nvPr>
            <p:ph type="sldNum" sz="quarter" idx="12"/>
          </p:nvPr>
        </p:nvSpPr>
        <p:spPr/>
        <p:txBody>
          <a:bodyPr/>
          <a:lstStyle/>
          <a:p>
            <a:fld id="{CABF7EEA-85D2-497E-9C95-F3C1348C26C9}" type="slidenum">
              <a:rPr lang="en-IN" smtClean="0"/>
              <a:pPr/>
              <a:t>18</a:t>
            </a:fld>
            <a:endParaRPr lang="en-IN"/>
          </a:p>
        </p:txBody>
      </p:sp>
    </p:spTree>
    <p:extLst>
      <p:ext uri="{BB962C8B-B14F-4D97-AF65-F5344CB8AC3E}">
        <p14:creationId xmlns:p14="http://schemas.microsoft.com/office/powerpoint/2010/main" val="1183221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a:bodyPr>
          <a:lstStyle/>
          <a:p>
            <a:r>
              <a:rPr lang="en-GB" b="1" dirty="0">
                <a:latin typeface="Cambria" panose="02040503050406030204" pitchFamily="18" charset="0"/>
                <a:ea typeface="Cambria" panose="02040503050406030204" pitchFamily="18" charset="0"/>
              </a:rPr>
              <a:t>Event Classes</a:t>
            </a:r>
            <a:endParaRPr lang="en-GB"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57200" y="1340768"/>
            <a:ext cx="8435280" cy="4785395"/>
          </a:xfrm>
        </p:spPr>
        <p:txBody>
          <a:bodyPr>
            <a:noAutofit/>
          </a:bodyPr>
          <a:lstStyle/>
          <a:p>
            <a:r>
              <a:rPr lang="en-GB" sz="2400" dirty="0">
                <a:latin typeface="Cambria" panose="02040503050406030204" pitchFamily="18" charset="0"/>
                <a:ea typeface="Cambria" panose="02040503050406030204" pitchFamily="18" charset="0"/>
              </a:rPr>
              <a:t>The classes that represent events are at the core of Java’s event handling mechanism. </a:t>
            </a:r>
          </a:p>
          <a:p>
            <a:r>
              <a:rPr lang="en-GB" sz="2400" dirty="0">
                <a:latin typeface="Cambria" panose="02040503050406030204" pitchFamily="18" charset="0"/>
                <a:ea typeface="Cambria" panose="02040503050406030204" pitchFamily="18" charset="0"/>
              </a:rPr>
              <a:t>At the root of the Java event class hierarchy is </a:t>
            </a:r>
            <a:r>
              <a:rPr lang="en-GB" sz="2400" b="1" dirty="0" err="1">
                <a:latin typeface="Cambria" panose="02040503050406030204" pitchFamily="18" charset="0"/>
                <a:ea typeface="Cambria" panose="02040503050406030204" pitchFamily="18" charset="0"/>
              </a:rPr>
              <a:t>EventObject</a:t>
            </a:r>
            <a:r>
              <a:rPr lang="en-GB" sz="2400" dirty="0">
                <a:latin typeface="Cambria" panose="02040503050406030204" pitchFamily="18" charset="0"/>
                <a:ea typeface="Cambria" panose="02040503050406030204" pitchFamily="18" charset="0"/>
              </a:rPr>
              <a:t>, which is in </a:t>
            </a:r>
            <a:r>
              <a:rPr lang="en-GB" sz="2400" dirty="0" err="1">
                <a:latin typeface="Cambria" panose="02040503050406030204" pitchFamily="18" charset="0"/>
                <a:ea typeface="Cambria" panose="02040503050406030204" pitchFamily="18" charset="0"/>
              </a:rPr>
              <a:t>java.util</a:t>
            </a:r>
            <a:r>
              <a:rPr lang="en-GB" sz="2400" dirty="0">
                <a:latin typeface="Cambria" panose="02040503050406030204" pitchFamily="18" charset="0"/>
                <a:ea typeface="Cambria" panose="02040503050406030204" pitchFamily="18" charset="0"/>
              </a:rPr>
              <a:t>. It is the superclass for all events. </a:t>
            </a:r>
            <a:r>
              <a:rPr lang="en-GB" sz="2400" b="1" dirty="0" err="1">
                <a:latin typeface="Cambria" panose="02040503050406030204" pitchFamily="18" charset="0"/>
                <a:ea typeface="Cambria" panose="02040503050406030204" pitchFamily="18" charset="0"/>
              </a:rPr>
              <a:t>EventObject</a:t>
            </a:r>
            <a:r>
              <a:rPr lang="en-GB" sz="2400" b="1" dirty="0">
                <a:latin typeface="Cambria" panose="02040503050406030204" pitchFamily="18" charset="0"/>
                <a:ea typeface="Cambria" panose="02040503050406030204" pitchFamily="18" charset="0"/>
              </a:rPr>
              <a:t> contains two methods: </a:t>
            </a:r>
            <a:r>
              <a:rPr lang="en-GB" sz="2400" b="1" dirty="0" err="1">
                <a:latin typeface="Cambria" panose="02040503050406030204" pitchFamily="18" charset="0"/>
                <a:ea typeface="Cambria" panose="02040503050406030204" pitchFamily="18" charset="0"/>
              </a:rPr>
              <a:t>getSource</a:t>
            </a:r>
            <a:r>
              <a:rPr lang="en-GB" sz="2400" b="1" dirty="0">
                <a:latin typeface="Cambria" panose="02040503050406030204" pitchFamily="18" charset="0"/>
                <a:ea typeface="Cambria" panose="02040503050406030204" pitchFamily="18" charset="0"/>
              </a:rPr>
              <a:t>( ) and </a:t>
            </a:r>
            <a:r>
              <a:rPr lang="en-GB" sz="2400" b="1" dirty="0" err="1">
                <a:latin typeface="Cambria" panose="02040503050406030204" pitchFamily="18" charset="0"/>
                <a:ea typeface="Cambria" panose="02040503050406030204" pitchFamily="18" charset="0"/>
              </a:rPr>
              <a:t>toString</a:t>
            </a:r>
            <a:r>
              <a:rPr lang="en-GB" sz="2400" b="1" dirty="0">
                <a:latin typeface="Cambria" panose="02040503050406030204" pitchFamily="18" charset="0"/>
                <a:ea typeface="Cambria" panose="02040503050406030204" pitchFamily="18" charset="0"/>
              </a:rPr>
              <a:t>( ). </a:t>
            </a:r>
          </a:p>
          <a:p>
            <a:r>
              <a:rPr lang="en-GB" sz="2400" dirty="0">
                <a:latin typeface="Cambria" panose="02040503050406030204" pitchFamily="18" charset="0"/>
                <a:ea typeface="Cambria" panose="02040503050406030204" pitchFamily="18" charset="0"/>
              </a:rPr>
              <a:t>The </a:t>
            </a:r>
            <a:r>
              <a:rPr lang="en-GB" sz="2400" dirty="0" err="1">
                <a:latin typeface="Cambria" panose="02040503050406030204" pitchFamily="18" charset="0"/>
                <a:ea typeface="Cambria" panose="02040503050406030204" pitchFamily="18" charset="0"/>
              </a:rPr>
              <a:t>getSource</a:t>
            </a:r>
            <a:r>
              <a:rPr lang="en-GB" sz="2400" dirty="0">
                <a:latin typeface="Cambria" panose="02040503050406030204" pitchFamily="18" charset="0"/>
                <a:ea typeface="Cambria" panose="02040503050406030204" pitchFamily="18" charset="0"/>
              </a:rPr>
              <a:t>( ) method returns the source of the event. Its general form is shown here:</a:t>
            </a:r>
          </a:p>
          <a:p>
            <a:pPr algn="ctr"/>
            <a:r>
              <a:rPr lang="en-GB" sz="2400" dirty="0">
                <a:latin typeface="Cambria" panose="02040503050406030204" pitchFamily="18" charset="0"/>
                <a:ea typeface="Cambria" panose="02040503050406030204" pitchFamily="18" charset="0"/>
              </a:rPr>
              <a:t>Object </a:t>
            </a:r>
            <a:r>
              <a:rPr lang="en-GB" sz="2400" dirty="0" err="1">
                <a:latin typeface="Cambria" panose="02040503050406030204" pitchFamily="18" charset="0"/>
                <a:ea typeface="Cambria" panose="02040503050406030204" pitchFamily="18" charset="0"/>
              </a:rPr>
              <a:t>getSource</a:t>
            </a:r>
            <a:r>
              <a:rPr lang="en-GB" sz="2400" dirty="0">
                <a:latin typeface="Cambria" panose="02040503050406030204" pitchFamily="18" charset="0"/>
                <a:ea typeface="Cambria" panose="02040503050406030204" pitchFamily="18" charset="0"/>
              </a:rPr>
              <a:t>( )</a:t>
            </a:r>
          </a:p>
          <a:p>
            <a:r>
              <a:rPr lang="en-GB" sz="2400" dirty="0">
                <a:latin typeface="Cambria" panose="02040503050406030204" pitchFamily="18" charset="0"/>
                <a:ea typeface="Cambria" panose="02040503050406030204" pitchFamily="18" charset="0"/>
              </a:rPr>
              <a:t>As expected, </a:t>
            </a:r>
            <a:r>
              <a:rPr lang="en-GB" sz="2400" dirty="0" err="1">
                <a:latin typeface="Cambria" panose="02040503050406030204" pitchFamily="18" charset="0"/>
                <a:ea typeface="Cambria" panose="02040503050406030204" pitchFamily="18" charset="0"/>
              </a:rPr>
              <a:t>toString</a:t>
            </a:r>
            <a:r>
              <a:rPr lang="en-GB" sz="2400" dirty="0">
                <a:latin typeface="Cambria" panose="02040503050406030204" pitchFamily="18" charset="0"/>
                <a:ea typeface="Cambria" panose="02040503050406030204" pitchFamily="18" charset="0"/>
              </a:rPr>
              <a:t>( ) returns the string equivalent of the event. </a:t>
            </a:r>
          </a:p>
        </p:txBody>
      </p:sp>
      <p:sp>
        <p:nvSpPr>
          <p:cNvPr id="4" name="Slide Number Placeholder 3"/>
          <p:cNvSpPr>
            <a:spLocks noGrp="1"/>
          </p:cNvSpPr>
          <p:nvPr>
            <p:ph type="sldNum" sz="quarter" idx="12"/>
          </p:nvPr>
        </p:nvSpPr>
        <p:spPr/>
        <p:txBody>
          <a:bodyPr/>
          <a:lstStyle/>
          <a:p>
            <a:fld id="{CABF7EEA-85D2-497E-9C95-F3C1348C26C9}" type="slidenum">
              <a:rPr lang="en-IN" smtClean="0">
                <a:latin typeface="Cambria" panose="02040503050406030204" pitchFamily="18" charset="0"/>
                <a:ea typeface="Cambria" panose="02040503050406030204" pitchFamily="18" charset="0"/>
              </a:rPr>
              <a:pPr/>
              <a:t>19</a:t>
            </a:fld>
            <a:endParaRPr lang="en-IN">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1722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363272" cy="4756150"/>
          </a:xfrm>
        </p:spPr>
        <p:txBody>
          <a:bodyPr>
            <a:normAutofit fontScale="92500"/>
          </a:bodyPr>
          <a:lstStyle/>
          <a:p>
            <a:r>
              <a:rPr lang="en-GB" dirty="0">
                <a:latin typeface="Cambria" panose="02040503050406030204" pitchFamily="18" charset="0"/>
                <a:ea typeface="Cambria" panose="02040503050406030204" pitchFamily="18" charset="0"/>
              </a:rPr>
              <a:t>The class </a:t>
            </a:r>
            <a:r>
              <a:rPr lang="en-GB" b="1" dirty="0" err="1">
                <a:latin typeface="Cambria" panose="02040503050406030204" pitchFamily="18" charset="0"/>
                <a:ea typeface="Cambria" panose="02040503050406030204" pitchFamily="18" charset="0"/>
              </a:rPr>
              <a:t>AWTEvent</a:t>
            </a:r>
            <a:r>
              <a:rPr lang="en-GB" dirty="0">
                <a:latin typeface="Cambria" panose="02040503050406030204" pitchFamily="18" charset="0"/>
                <a:ea typeface="Cambria" panose="02040503050406030204" pitchFamily="18" charset="0"/>
              </a:rPr>
              <a:t>, defined within the </a:t>
            </a:r>
            <a:r>
              <a:rPr lang="en-GB" dirty="0" err="1">
                <a:latin typeface="Cambria" panose="02040503050406030204" pitchFamily="18" charset="0"/>
                <a:ea typeface="Cambria" panose="02040503050406030204" pitchFamily="18" charset="0"/>
              </a:rPr>
              <a:t>java.awt</a:t>
            </a:r>
            <a:r>
              <a:rPr lang="en-GB" dirty="0">
                <a:latin typeface="Cambria" panose="02040503050406030204" pitchFamily="18" charset="0"/>
                <a:ea typeface="Cambria" panose="02040503050406030204" pitchFamily="18" charset="0"/>
              </a:rPr>
              <a:t> package, </a:t>
            </a:r>
            <a:r>
              <a:rPr lang="en-GB" b="1" dirty="0">
                <a:latin typeface="Cambria" panose="02040503050406030204" pitchFamily="18" charset="0"/>
                <a:ea typeface="Cambria" panose="02040503050406030204" pitchFamily="18" charset="0"/>
              </a:rPr>
              <a:t>is a subclass of </a:t>
            </a:r>
            <a:r>
              <a:rPr lang="en-GB" b="1" dirty="0" err="1">
                <a:latin typeface="Cambria" panose="02040503050406030204" pitchFamily="18" charset="0"/>
                <a:ea typeface="Cambria" panose="02040503050406030204" pitchFamily="18" charset="0"/>
              </a:rPr>
              <a:t>EventObject</a:t>
            </a:r>
            <a:r>
              <a:rPr lang="en-GB" b="1" dirty="0">
                <a:latin typeface="Cambria" panose="02040503050406030204" pitchFamily="18" charset="0"/>
                <a:ea typeface="Cambria" panose="02040503050406030204" pitchFamily="18" charset="0"/>
              </a:rPr>
              <a:t>.</a:t>
            </a:r>
            <a:r>
              <a:rPr lang="en-GB" dirty="0">
                <a:latin typeface="Cambria" panose="02040503050406030204" pitchFamily="18" charset="0"/>
                <a:ea typeface="Cambria" panose="02040503050406030204" pitchFamily="18" charset="0"/>
              </a:rPr>
              <a:t> </a:t>
            </a:r>
          </a:p>
          <a:p>
            <a:r>
              <a:rPr lang="en-GB" dirty="0">
                <a:latin typeface="Cambria" panose="02040503050406030204" pitchFamily="18" charset="0"/>
                <a:ea typeface="Cambria" panose="02040503050406030204" pitchFamily="18" charset="0"/>
              </a:rPr>
              <a:t>It is the superclass (either directly or indirectly) of all AWT-based events used by the delegation event model.</a:t>
            </a:r>
          </a:p>
          <a:p>
            <a:pPr lvl="1"/>
            <a:r>
              <a:rPr lang="en-GB" sz="3200" dirty="0" err="1">
                <a:latin typeface="Cambria" panose="02040503050406030204" pitchFamily="18" charset="0"/>
                <a:ea typeface="Cambria" panose="02040503050406030204" pitchFamily="18" charset="0"/>
              </a:rPr>
              <a:t>EventObject</a:t>
            </a:r>
            <a:r>
              <a:rPr lang="en-GB" sz="3200" dirty="0">
                <a:latin typeface="Cambria" panose="02040503050406030204" pitchFamily="18" charset="0"/>
                <a:ea typeface="Cambria" panose="02040503050406030204" pitchFamily="18" charset="0"/>
              </a:rPr>
              <a:t> is a superclass of all events.</a:t>
            </a:r>
          </a:p>
          <a:p>
            <a:pPr lvl="1"/>
            <a:r>
              <a:rPr lang="en-GB" sz="3200" dirty="0" err="1">
                <a:latin typeface="Cambria" panose="02040503050406030204" pitchFamily="18" charset="0"/>
                <a:ea typeface="Cambria" panose="02040503050406030204" pitchFamily="18" charset="0"/>
              </a:rPr>
              <a:t>AWTEvent</a:t>
            </a:r>
            <a:r>
              <a:rPr lang="en-GB" sz="3200" dirty="0">
                <a:latin typeface="Cambria" panose="02040503050406030204" pitchFamily="18" charset="0"/>
                <a:ea typeface="Cambria" panose="02040503050406030204" pitchFamily="18" charset="0"/>
              </a:rPr>
              <a:t> is a superclass of all AWT events that are handled by the delegation event model</a:t>
            </a:r>
          </a:p>
          <a:p>
            <a:endParaRPr lang="en-GB" dirty="0"/>
          </a:p>
        </p:txBody>
      </p:sp>
      <p:sp>
        <p:nvSpPr>
          <p:cNvPr id="4" name="Slide Number Placeholder 3"/>
          <p:cNvSpPr>
            <a:spLocks noGrp="1"/>
          </p:cNvSpPr>
          <p:nvPr>
            <p:ph type="sldNum" sz="quarter" idx="12"/>
          </p:nvPr>
        </p:nvSpPr>
        <p:spPr/>
        <p:txBody>
          <a:bodyPr/>
          <a:lstStyle/>
          <a:p>
            <a:fld id="{CABF7EEA-85D2-497E-9C95-F3C1348C26C9}" type="slidenum">
              <a:rPr lang="en-IN" smtClean="0"/>
              <a:pPr/>
              <a:t>20</a:t>
            </a:fld>
            <a:endParaRPr lang="en-IN"/>
          </a:p>
        </p:txBody>
      </p:sp>
      <p:sp>
        <p:nvSpPr>
          <p:cNvPr id="5" name="Title 1"/>
          <p:cNvSpPr>
            <a:spLocks noGrp="1"/>
          </p:cNvSpPr>
          <p:nvPr>
            <p:ph type="title"/>
          </p:nvPr>
        </p:nvSpPr>
        <p:spPr/>
        <p:txBody>
          <a:bodyPr>
            <a:normAutofit/>
          </a:bodyPr>
          <a:lstStyle/>
          <a:p>
            <a:r>
              <a:rPr lang="en-GB" b="1" dirty="0">
                <a:latin typeface="Cambria" panose="02040503050406030204" pitchFamily="18" charset="0"/>
                <a:ea typeface="Cambria" panose="02040503050406030204" pitchFamily="18" charset="0"/>
              </a:rPr>
              <a:t>Event Classes</a:t>
            </a: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14270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615382241"/>
              </p:ext>
            </p:extLst>
          </p:nvPr>
        </p:nvGraphicFramePr>
        <p:xfrm>
          <a:off x="0" y="-1"/>
          <a:ext cx="9144000" cy="6903363"/>
        </p:xfrm>
        <a:graphic>
          <a:graphicData uri="http://schemas.openxmlformats.org/drawingml/2006/table">
            <a:tbl>
              <a:tblPr>
                <a:tableStyleId>{5940675A-B579-460E-94D1-54222C63F5DA}</a:tableStyleId>
              </a:tblPr>
              <a:tblGrid>
                <a:gridCol w="1979712">
                  <a:extLst>
                    <a:ext uri="{9D8B030D-6E8A-4147-A177-3AD203B41FA5}">
                      <a16:colId xmlns:a16="http://schemas.microsoft.com/office/drawing/2014/main" val="20000"/>
                    </a:ext>
                  </a:extLst>
                </a:gridCol>
                <a:gridCol w="5112568">
                  <a:extLst>
                    <a:ext uri="{9D8B030D-6E8A-4147-A177-3AD203B41FA5}">
                      <a16:colId xmlns:a16="http://schemas.microsoft.com/office/drawing/2014/main" val="20001"/>
                    </a:ext>
                  </a:extLst>
                </a:gridCol>
                <a:gridCol w="2051720">
                  <a:extLst>
                    <a:ext uri="{9D8B030D-6E8A-4147-A177-3AD203B41FA5}">
                      <a16:colId xmlns:a16="http://schemas.microsoft.com/office/drawing/2014/main" val="20002"/>
                    </a:ext>
                  </a:extLst>
                </a:gridCol>
              </a:tblGrid>
              <a:tr h="325717">
                <a:tc>
                  <a:txBody>
                    <a:bodyPr/>
                    <a:lstStyle/>
                    <a:p>
                      <a:pPr algn="ctr" fontAlgn="t"/>
                      <a:r>
                        <a:rPr lang="en-IN" sz="1600" b="1" dirty="0">
                          <a:effectLst/>
                        </a:rPr>
                        <a:t>Event Classes</a:t>
                      </a:r>
                      <a:endParaRPr lang="en-IN" sz="1600" b="1" dirty="0">
                        <a:effectLst/>
                        <a:latin typeface="Verdana" pitchFamily="34" charset="0"/>
                        <a:ea typeface="Verdana" pitchFamily="34" charset="0"/>
                        <a:cs typeface="Verdana" pitchFamily="34" charset="0"/>
                      </a:endParaRPr>
                    </a:p>
                  </a:txBody>
                  <a:tcPr marL="72000" marR="72000" marT="36000" marB="36000"/>
                </a:tc>
                <a:tc>
                  <a:txBody>
                    <a:bodyPr/>
                    <a:lstStyle/>
                    <a:p>
                      <a:pPr algn="ctr" fontAlgn="t"/>
                      <a:r>
                        <a:rPr lang="en-IN" sz="1600" b="1">
                          <a:effectLst/>
                        </a:rPr>
                        <a:t>Description</a:t>
                      </a:r>
                      <a:endParaRPr lang="en-IN" sz="1600" b="1">
                        <a:effectLst/>
                        <a:latin typeface="Verdana" pitchFamily="34" charset="0"/>
                        <a:ea typeface="Verdana" pitchFamily="34" charset="0"/>
                        <a:cs typeface="Verdana" pitchFamily="34" charset="0"/>
                      </a:endParaRPr>
                    </a:p>
                  </a:txBody>
                  <a:tcPr marL="72000" marR="72000" marT="36000" marB="36000"/>
                </a:tc>
                <a:tc>
                  <a:txBody>
                    <a:bodyPr/>
                    <a:lstStyle/>
                    <a:p>
                      <a:pPr algn="ctr" fontAlgn="t"/>
                      <a:r>
                        <a:rPr lang="en-IN" sz="1600" b="1" dirty="0">
                          <a:effectLst/>
                        </a:rPr>
                        <a:t>Listener Interface</a:t>
                      </a:r>
                      <a:endParaRPr lang="en-IN" sz="1600" b="1" dirty="0">
                        <a:effectLst/>
                        <a:latin typeface="Verdana" pitchFamily="34" charset="0"/>
                        <a:ea typeface="Verdana" pitchFamily="34" charset="0"/>
                        <a:cs typeface="Verdana" pitchFamily="34" charset="0"/>
                      </a:endParaRPr>
                    </a:p>
                  </a:txBody>
                  <a:tcPr marL="72000" marR="72000" marT="36000" marB="36000"/>
                </a:tc>
                <a:extLst>
                  <a:ext uri="{0D108BD9-81ED-4DB2-BD59-A6C34878D82A}">
                    <a16:rowId xmlns:a16="http://schemas.microsoft.com/office/drawing/2014/main" val="10000"/>
                  </a:ext>
                </a:extLst>
              </a:tr>
              <a:tr h="715494">
                <a:tc>
                  <a:txBody>
                    <a:bodyPr/>
                    <a:lstStyle/>
                    <a:p>
                      <a:pPr algn="l" fontAlgn="t"/>
                      <a:r>
                        <a:rPr lang="en-IN" sz="2000" b="1" dirty="0">
                          <a:effectLst/>
                        </a:rPr>
                        <a:t>ActionEvent</a:t>
                      </a:r>
                      <a:endParaRPr lang="en-IN" sz="2000" b="1"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800" dirty="0">
                          <a:effectLst/>
                        </a:rPr>
                        <a:t>generated when button is pressed, menu-item is selected, list-item is double clicked</a:t>
                      </a:r>
                      <a:endParaRPr lang="en-IN" sz="1800"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600" b="1" dirty="0" err="1">
                          <a:effectLst/>
                        </a:rPr>
                        <a:t>ActionListener</a:t>
                      </a:r>
                      <a:endParaRPr lang="en-IN" sz="1600" b="1" dirty="0">
                        <a:effectLst/>
                        <a:latin typeface="Verdana" pitchFamily="34" charset="0"/>
                        <a:ea typeface="Verdana" pitchFamily="34" charset="0"/>
                        <a:cs typeface="Verdana" pitchFamily="34" charset="0"/>
                      </a:endParaRPr>
                    </a:p>
                  </a:txBody>
                  <a:tcPr marL="72000" marR="72000" marT="36000" marB="36000"/>
                </a:tc>
                <a:extLst>
                  <a:ext uri="{0D108BD9-81ED-4DB2-BD59-A6C34878D82A}">
                    <a16:rowId xmlns:a16="http://schemas.microsoft.com/office/drawing/2014/main" val="10001"/>
                  </a:ext>
                </a:extLst>
              </a:tr>
              <a:tr h="852223">
                <a:tc>
                  <a:txBody>
                    <a:bodyPr/>
                    <a:lstStyle/>
                    <a:p>
                      <a:pPr algn="l" fontAlgn="t"/>
                      <a:r>
                        <a:rPr lang="en-IN" sz="2000" b="1" dirty="0" err="1">
                          <a:effectLst/>
                        </a:rPr>
                        <a:t>MouseEvent</a:t>
                      </a:r>
                      <a:endParaRPr lang="en-IN" sz="2000" b="1"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800" dirty="0">
                          <a:effectLst/>
                        </a:rPr>
                        <a:t>generated when mouse is dragged, moved, clicked, pressed or released and also when it enters or exit a component</a:t>
                      </a:r>
                      <a:endParaRPr lang="en-IN" sz="1800"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600" b="1" dirty="0" err="1">
                          <a:effectLst/>
                        </a:rPr>
                        <a:t>MouseListener</a:t>
                      </a:r>
                      <a:endParaRPr lang="en-IN" sz="1600" b="1" dirty="0">
                        <a:effectLst/>
                        <a:latin typeface="Verdana" pitchFamily="34" charset="0"/>
                        <a:ea typeface="Verdana" pitchFamily="34" charset="0"/>
                        <a:cs typeface="Verdana" pitchFamily="34" charset="0"/>
                      </a:endParaRPr>
                    </a:p>
                  </a:txBody>
                  <a:tcPr marL="72000" marR="72000" marT="36000" marB="36000"/>
                </a:tc>
                <a:extLst>
                  <a:ext uri="{0D108BD9-81ED-4DB2-BD59-A6C34878D82A}">
                    <a16:rowId xmlns:a16="http://schemas.microsoft.com/office/drawing/2014/main" val="10002"/>
                  </a:ext>
                </a:extLst>
              </a:tr>
              <a:tr h="457916">
                <a:tc>
                  <a:txBody>
                    <a:bodyPr/>
                    <a:lstStyle/>
                    <a:p>
                      <a:pPr algn="l" fontAlgn="t"/>
                      <a:r>
                        <a:rPr lang="en-IN" sz="2000" b="1" dirty="0" err="1">
                          <a:effectLst/>
                        </a:rPr>
                        <a:t>KeyEvent</a:t>
                      </a:r>
                      <a:endParaRPr lang="en-IN" sz="2000" b="1"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800" dirty="0">
                          <a:effectLst/>
                        </a:rPr>
                        <a:t>generated when input is received from keyboard</a:t>
                      </a:r>
                      <a:endParaRPr lang="en-IN" sz="1800"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600" b="1" dirty="0" err="1">
                          <a:effectLst/>
                        </a:rPr>
                        <a:t>KeyListener</a:t>
                      </a:r>
                      <a:endParaRPr lang="en-IN" sz="1600" b="1" dirty="0">
                        <a:effectLst/>
                        <a:latin typeface="Verdana" pitchFamily="34" charset="0"/>
                        <a:ea typeface="Verdana" pitchFamily="34" charset="0"/>
                        <a:cs typeface="Verdana" pitchFamily="34" charset="0"/>
                      </a:endParaRPr>
                    </a:p>
                  </a:txBody>
                  <a:tcPr marL="72000" marR="72000" marT="36000" marB="36000"/>
                </a:tc>
                <a:extLst>
                  <a:ext uri="{0D108BD9-81ED-4DB2-BD59-A6C34878D82A}">
                    <a16:rowId xmlns:a16="http://schemas.microsoft.com/office/drawing/2014/main" val="10003"/>
                  </a:ext>
                </a:extLst>
              </a:tr>
              <a:tr h="457916">
                <a:tc>
                  <a:txBody>
                    <a:bodyPr/>
                    <a:lstStyle/>
                    <a:p>
                      <a:pPr algn="l" fontAlgn="t"/>
                      <a:r>
                        <a:rPr lang="en-IN" sz="2000" b="1" dirty="0" err="1">
                          <a:effectLst/>
                        </a:rPr>
                        <a:t>ItemEvent</a:t>
                      </a:r>
                      <a:endParaRPr lang="en-IN" sz="2000" b="1"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800" dirty="0">
                          <a:effectLst/>
                        </a:rPr>
                        <a:t>generated when check-box or list item is clicked</a:t>
                      </a:r>
                      <a:endParaRPr lang="en-IN" sz="1800"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600" b="1" dirty="0" err="1">
                          <a:effectLst/>
                        </a:rPr>
                        <a:t>ItemListener</a:t>
                      </a:r>
                      <a:endParaRPr lang="en-IN" sz="1600" b="1" dirty="0">
                        <a:effectLst/>
                        <a:latin typeface="Verdana" pitchFamily="34" charset="0"/>
                        <a:ea typeface="Verdana" pitchFamily="34" charset="0"/>
                        <a:cs typeface="Verdana" pitchFamily="34" charset="0"/>
                      </a:endParaRPr>
                    </a:p>
                  </a:txBody>
                  <a:tcPr marL="72000" marR="72000" marT="36000" marB="36000"/>
                </a:tc>
                <a:extLst>
                  <a:ext uri="{0D108BD9-81ED-4DB2-BD59-A6C34878D82A}">
                    <a16:rowId xmlns:a16="http://schemas.microsoft.com/office/drawing/2014/main" val="10004"/>
                  </a:ext>
                </a:extLst>
              </a:tr>
              <a:tr h="588971">
                <a:tc>
                  <a:txBody>
                    <a:bodyPr/>
                    <a:lstStyle/>
                    <a:p>
                      <a:pPr algn="l" fontAlgn="t"/>
                      <a:r>
                        <a:rPr lang="en-IN" sz="2000" b="1" dirty="0" err="1">
                          <a:effectLst/>
                        </a:rPr>
                        <a:t>TextEvent</a:t>
                      </a:r>
                      <a:endParaRPr lang="en-IN" sz="2000" b="1"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800" dirty="0">
                          <a:effectLst/>
                        </a:rPr>
                        <a:t>generated when value of </a:t>
                      </a:r>
                      <a:r>
                        <a:rPr lang="en-IN" sz="1800" dirty="0" err="1">
                          <a:effectLst/>
                        </a:rPr>
                        <a:t>textarea</a:t>
                      </a:r>
                      <a:r>
                        <a:rPr lang="en-IN" sz="1800" dirty="0">
                          <a:effectLst/>
                        </a:rPr>
                        <a:t> or </a:t>
                      </a:r>
                      <a:r>
                        <a:rPr lang="en-IN" sz="1800" dirty="0" err="1">
                          <a:effectLst/>
                        </a:rPr>
                        <a:t>textfield</a:t>
                      </a:r>
                      <a:r>
                        <a:rPr lang="en-IN" sz="1800" dirty="0">
                          <a:effectLst/>
                        </a:rPr>
                        <a:t> is changed</a:t>
                      </a:r>
                      <a:endParaRPr lang="en-IN" sz="1800"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600" b="1" dirty="0" err="1">
                          <a:effectLst/>
                        </a:rPr>
                        <a:t>TextListener</a:t>
                      </a:r>
                      <a:endParaRPr lang="en-IN" sz="1600" b="1" dirty="0">
                        <a:effectLst/>
                        <a:latin typeface="Verdana" pitchFamily="34" charset="0"/>
                        <a:ea typeface="Verdana" pitchFamily="34" charset="0"/>
                        <a:cs typeface="Verdana" pitchFamily="34" charset="0"/>
                      </a:endParaRPr>
                    </a:p>
                  </a:txBody>
                  <a:tcPr marL="72000" marR="72000" marT="36000" marB="36000"/>
                </a:tc>
                <a:extLst>
                  <a:ext uri="{0D108BD9-81ED-4DB2-BD59-A6C34878D82A}">
                    <a16:rowId xmlns:a16="http://schemas.microsoft.com/office/drawing/2014/main" val="10005"/>
                  </a:ext>
                </a:extLst>
              </a:tr>
              <a:tr h="457916">
                <a:tc>
                  <a:txBody>
                    <a:bodyPr/>
                    <a:lstStyle/>
                    <a:p>
                      <a:pPr algn="l" fontAlgn="t"/>
                      <a:r>
                        <a:rPr lang="en-IN" sz="1800" b="1" dirty="0" err="1">
                          <a:effectLst/>
                        </a:rPr>
                        <a:t>MouseWheelEvent</a:t>
                      </a:r>
                      <a:endParaRPr lang="en-IN" sz="1800" b="1"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800" dirty="0">
                          <a:effectLst/>
                        </a:rPr>
                        <a:t>generated when mouse wheel is moved</a:t>
                      </a:r>
                      <a:endParaRPr lang="en-IN" sz="1800"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600" b="1" dirty="0" err="1">
                          <a:effectLst/>
                        </a:rPr>
                        <a:t>MouseWheelListener</a:t>
                      </a:r>
                      <a:endParaRPr lang="en-IN" sz="1600" b="1" dirty="0">
                        <a:effectLst/>
                        <a:latin typeface="Verdana" pitchFamily="34" charset="0"/>
                        <a:ea typeface="Verdana" pitchFamily="34" charset="0"/>
                        <a:cs typeface="Verdana" pitchFamily="34" charset="0"/>
                      </a:endParaRPr>
                    </a:p>
                  </a:txBody>
                  <a:tcPr marL="72000" marR="72000" marT="36000" marB="36000"/>
                </a:tc>
                <a:extLst>
                  <a:ext uri="{0D108BD9-81ED-4DB2-BD59-A6C34878D82A}">
                    <a16:rowId xmlns:a16="http://schemas.microsoft.com/office/drawing/2014/main" val="10006"/>
                  </a:ext>
                </a:extLst>
              </a:tr>
              <a:tr h="652968">
                <a:tc>
                  <a:txBody>
                    <a:bodyPr/>
                    <a:lstStyle/>
                    <a:p>
                      <a:pPr algn="l" fontAlgn="t"/>
                      <a:r>
                        <a:rPr lang="en-IN" sz="2000" b="1" dirty="0" err="1">
                          <a:effectLst/>
                        </a:rPr>
                        <a:t>WindowEvent</a:t>
                      </a:r>
                      <a:endParaRPr lang="en-IN" sz="2000" b="1"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800" dirty="0">
                          <a:effectLst/>
                        </a:rPr>
                        <a:t>generated when window is activated, deactivated, </a:t>
                      </a:r>
                      <a:r>
                        <a:rPr lang="en-IN" sz="1800" dirty="0" err="1">
                          <a:effectLst/>
                        </a:rPr>
                        <a:t>deiconified</a:t>
                      </a:r>
                      <a:r>
                        <a:rPr lang="en-IN" sz="1800" dirty="0">
                          <a:effectLst/>
                        </a:rPr>
                        <a:t>, </a:t>
                      </a:r>
                      <a:r>
                        <a:rPr lang="en-IN" sz="1800" dirty="0" err="1">
                          <a:effectLst/>
                        </a:rPr>
                        <a:t>iconified</a:t>
                      </a:r>
                      <a:r>
                        <a:rPr lang="en-IN" sz="1800" dirty="0">
                          <a:effectLst/>
                        </a:rPr>
                        <a:t>, opened or closed</a:t>
                      </a:r>
                      <a:endParaRPr lang="en-IN" sz="1800"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600" b="1" dirty="0" err="1">
                          <a:effectLst/>
                        </a:rPr>
                        <a:t>WindowListener</a:t>
                      </a:r>
                      <a:endParaRPr lang="en-IN" sz="1600" b="1" dirty="0">
                        <a:effectLst/>
                        <a:latin typeface="Verdana" pitchFamily="34" charset="0"/>
                        <a:ea typeface="Verdana" pitchFamily="34" charset="0"/>
                        <a:cs typeface="Verdana" pitchFamily="34" charset="0"/>
                      </a:endParaRPr>
                    </a:p>
                  </a:txBody>
                  <a:tcPr marL="72000" marR="72000" marT="36000" marB="36000"/>
                </a:tc>
                <a:extLst>
                  <a:ext uri="{0D108BD9-81ED-4DB2-BD59-A6C34878D82A}">
                    <a16:rowId xmlns:a16="http://schemas.microsoft.com/office/drawing/2014/main" val="10007"/>
                  </a:ext>
                </a:extLst>
              </a:tr>
              <a:tr h="588971">
                <a:tc>
                  <a:txBody>
                    <a:bodyPr/>
                    <a:lstStyle/>
                    <a:p>
                      <a:pPr algn="l" fontAlgn="t"/>
                      <a:r>
                        <a:rPr lang="en-IN" sz="2000" b="1" dirty="0" err="1">
                          <a:effectLst/>
                        </a:rPr>
                        <a:t>ComponentEvent</a:t>
                      </a:r>
                      <a:endParaRPr lang="en-IN" sz="2000" b="1"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800" dirty="0">
                          <a:effectLst/>
                        </a:rPr>
                        <a:t>generated when component is hidden, moved, resized or set visible</a:t>
                      </a:r>
                      <a:endParaRPr lang="en-IN" sz="1800"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600" b="1" dirty="0" err="1">
                          <a:effectLst/>
                        </a:rPr>
                        <a:t>ComponentEventListener</a:t>
                      </a:r>
                      <a:endParaRPr lang="en-IN" sz="1600" b="1" dirty="0">
                        <a:effectLst/>
                        <a:latin typeface="Verdana" pitchFamily="34" charset="0"/>
                        <a:ea typeface="Verdana" pitchFamily="34" charset="0"/>
                        <a:cs typeface="Verdana" pitchFamily="34" charset="0"/>
                      </a:endParaRPr>
                    </a:p>
                  </a:txBody>
                  <a:tcPr marL="72000" marR="72000" marT="36000" marB="36000"/>
                </a:tc>
                <a:extLst>
                  <a:ext uri="{0D108BD9-81ED-4DB2-BD59-A6C34878D82A}">
                    <a16:rowId xmlns:a16="http://schemas.microsoft.com/office/drawing/2014/main" val="10008"/>
                  </a:ext>
                </a:extLst>
              </a:tr>
              <a:tr h="588971">
                <a:tc>
                  <a:txBody>
                    <a:bodyPr/>
                    <a:lstStyle/>
                    <a:p>
                      <a:pPr algn="l" fontAlgn="t"/>
                      <a:r>
                        <a:rPr lang="en-IN" sz="2000" b="1" dirty="0" err="1">
                          <a:effectLst/>
                        </a:rPr>
                        <a:t>ContainerEvent</a:t>
                      </a:r>
                      <a:endParaRPr lang="en-IN" sz="2000" b="1"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800" dirty="0">
                          <a:effectLst/>
                        </a:rPr>
                        <a:t>generated when component is added or removed from container</a:t>
                      </a:r>
                      <a:endParaRPr lang="en-IN" sz="1800"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600" b="1" dirty="0" err="1">
                          <a:effectLst/>
                        </a:rPr>
                        <a:t>ContainerListener</a:t>
                      </a:r>
                      <a:endParaRPr lang="en-IN" sz="1600" b="1" dirty="0">
                        <a:effectLst/>
                        <a:latin typeface="Verdana" pitchFamily="34" charset="0"/>
                        <a:ea typeface="Verdana" pitchFamily="34" charset="0"/>
                        <a:cs typeface="Verdana" pitchFamily="34" charset="0"/>
                      </a:endParaRPr>
                    </a:p>
                  </a:txBody>
                  <a:tcPr marL="72000" marR="72000" marT="36000" marB="36000"/>
                </a:tc>
                <a:extLst>
                  <a:ext uri="{0D108BD9-81ED-4DB2-BD59-A6C34878D82A}">
                    <a16:rowId xmlns:a16="http://schemas.microsoft.com/office/drawing/2014/main" val="10009"/>
                  </a:ext>
                </a:extLst>
              </a:tr>
              <a:tr h="457916">
                <a:tc>
                  <a:txBody>
                    <a:bodyPr/>
                    <a:lstStyle/>
                    <a:p>
                      <a:pPr algn="l" fontAlgn="t"/>
                      <a:r>
                        <a:rPr lang="en-IN" sz="2000" b="1" dirty="0" err="1">
                          <a:effectLst/>
                        </a:rPr>
                        <a:t>AdjustmentEvent</a:t>
                      </a:r>
                      <a:endParaRPr lang="en-IN" sz="2000" b="1"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800" dirty="0">
                          <a:effectLst/>
                        </a:rPr>
                        <a:t>generated when scroll bar is manipulated</a:t>
                      </a:r>
                      <a:endParaRPr lang="en-IN" sz="1800"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600" b="1" dirty="0" err="1">
                          <a:effectLst/>
                        </a:rPr>
                        <a:t>AdjustmentListener</a:t>
                      </a:r>
                      <a:endParaRPr lang="en-IN" sz="1600" b="1" dirty="0">
                        <a:effectLst/>
                        <a:latin typeface="Verdana" pitchFamily="34" charset="0"/>
                        <a:ea typeface="Verdana" pitchFamily="34" charset="0"/>
                        <a:cs typeface="Verdana" pitchFamily="34" charset="0"/>
                      </a:endParaRPr>
                    </a:p>
                  </a:txBody>
                  <a:tcPr marL="72000" marR="72000" marT="36000" marB="36000"/>
                </a:tc>
                <a:extLst>
                  <a:ext uri="{0D108BD9-81ED-4DB2-BD59-A6C34878D82A}">
                    <a16:rowId xmlns:a16="http://schemas.microsoft.com/office/drawing/2014/main" val="10010"/>
                  </a:ext>
                </a:extLst>
              </a:tr>
              <a:tr h="588971">
                <a:tc>
                  <a:txBody>
                    <a:bodyPr/>
                    <a:lstStyle/>
                    <a:p>
                      <a:pPr algn="l" fontAlgn="t"/>
                      <a:r>
                        <a:rPr lang="en-IN" sz="2000" b="1" dirty="0" err="1">
                          <a:effectLst/>
                        </a:rPr>
                        <a:t>FocusEvent</a:t>
                      </a:r>
                      <a:endParaRPr lang="en-IN" sz="2000" b="1"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800" dirty="0">
                          <a:effectLst/>
                        </a:rPr>
                        <a:t>generated when component gains or loses keyboard focus</a:t>
                      </a:r>
                      <a:endParaRPr lang="en-IN" sz="1800" dirty="0">
                        <a:effectLst/>
                        <a:latin typeface="Verdana" pitchFamily="34" charset="0"/>
                        <a:ea typeface="Verdana" pitchFamily="34" charset="0"/>
                        <a:cs typeface="Verdana" pitchFamily="34" charset="0"/>
                      </a:endParaRPr>
                    </a:p>
                  </a:txBody>
                  <a:tcPr marL="72000" marR="72000" marT="36000" marB="36000"/>
                </a:tc>
                <a:tc>
                  <a:txBody>
                    <a:bodyPr/>
                    <a:lstStyle/>
                    <a:p>
                      <a:pPr algn="l" fontAlgn="t"/>
                      <a:r>
                        <a:rPr lang="en-IN" sz="1600" b="1" dirty="0" err="1">
                          <a:effectLst/>
                        </a:rPr>
                        <a:t>FocusListener</a:t>
                      </a:r>
                      <a:endParaRPr lang="en-IN" sz="1600" b="1" dirty="0">
                        <a:effectLst/>
                        <a:latin typeface="Verdana" pitchFamily="34" charset="0"/>
                        <a:ea typeface="Verdana" pitchFamily="34" charset="0"/>
                        <a:cs typeface="Verdana" pitchFamily="34" charset="0"/>
                      </a:endParaRPr>
                    </a:p>
                  </a:txBody>
                  <a:tcPr marL="72000" marR="72000" marT="36000" marB="36000"/>
                </a:tc>
                <a:extLst>
                  <a:ext uri="{0D108BD9-81ED-4DB2-BD59-A6C34878D82A}">
                    <a16:rowId xmlns:a16="http://schemas.microsoft.com/office/drawing/2014/main" val="10011"/>
                  </a:ext>
                </a:extLst>
              </a:tr>
            </a:tbl>
          </a:graphicData>
        </a:graphic>
      </p:graphicFrame>
      <p:sp>
        <p:nvSpPr>
          <p:cNvPr id="5" name="Slide Number Placeholder 4"/>
          <p:cNvSpPr>
            <a:spLocks noGrp="1"/>
          </p:cNvSpPr>
          <p:nvPr>
            <p:ph type="sldNum" sz="quarter" idx="12"/>
          </p:nvPr>
        </p:nvSpPr>
        <p:spPr/>
        <p:txBody>
          <a:bodyPr/>
          <a:lstStyle/>
          <a:p>
            <a:fld id="{CABF7EEA-85D2-497E-9C95-F3C1348C26C9}" type="slidenum">
              <a:rPr lang="en-IN" smtClean="0"/>
              <a:pPr/>
              <a:t>21</a:t>
            </a:fld>
            <a:endParaRPr lang="en-IN"/>
          </a:p>
        </p:txBody>
      </p:sp>
    </p:spTree>
    <p:extLst>
      <p:ext uri="{BB962C8B-B14F-4D97-AF65-F5344CB8AC3E}">
        <p14:creationId xmlns:p14="http://schemas.microsoft.com/office/powerpoint/2010/main" val="3821997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916832"/>
            <a:ext cx="8229600" cy="1665281"/>
          </a:xfrm>
        </p:spPr>
        <p:txBody>
          <a:bodyPr/>
          <a:lstStyle/>
          <a:p>
            <a:r>
              <a:rPr lang="en-IN" b="1" dirty="0"/>
              <a:t>Steps to handle events:</a:t>
            </a:r>
          </a:p>
          <a:p>
            <a:pPr lvl="1"/>
            <a:r>
              <a:rPr lang="en-IN" dirty="0"/>
              <a:t>Implement appropriate interface in the class.</a:t>
            </a:r>
          </a:p>
          <a:p>
            <a:pPr lvl="1"/>
            <a:r>
              <a:rPr lang="en-IN" dirty="0"/>
              <a:t>Register the component with the listener.</a:t>
            </a:r>
          </a:p>
          <a:p>
            <a:endParaRPr lang="en-IN" dirty="0"/>
          </a:p>
        </p:txBody>
      </p:sp>
      <p:sp>
        <p:nvSpPr>
          <p:cNvPr id="5" name="Slide Number Placeholder 4"/>
          <p:cNvSpPr>
            <a:spLocks noGrp="1"/>
          </p:cNvSpPr>
          <p:nvPr>
            <p:ph type="sldNum" sz="quarter" idx="12"/>
          </p:nvPr>
        </p:nvSpPr>
        <p:spPr/>
        <p:txBody>
          <a:bodyPr/>
          <a:lstStyle/>
          <a:p>
            <a:fld id="{CABF7EEA-85D2-497E-9C95-F3C1348C26C9}" type="slidenum">
              <a:rPr lang="en-IN" smtClean="0"/>
              <a:pPr/>
              <a:t>22</a:t>
            </a:fld>
            <a:endParaRPr lang="en-IN"/>
          </a:p>
        </p:txBody>
      </p:sp>
    </p:spTree>
    <p:extLst>
      <p:ext uri="{BB962C8B-B14F-4D97-AF65-F5344CB8AC3E}">
        <p14:creationId xmlns:p14="http://schemas.microsoft.com/office/powerpoint/2010/main" val="2981958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27384"/>
            <a:ext cx="8964488" cy="6786473"/>
          </a:xfrm>
          <a:prstGeom prst="rect">
            <a:avLst/>
          </a:prstGeom>
        </p:spPr>
        <p:txBody>
          <a:bodyPr wrap="square">
            <a:spAutoFit/>
          </a:bodyPr>
          <a:lstStyle/>
          <a:p>
            <a:r>
              <a:rPr lang="en-IN" sz="2400" b="1" dirty="0"/>
              <a:t>Registration Methods</a:t>
            </a:r>
          </a:p>
          <a:p>
            <a:r>
              <a:rPr lang="en-IN" sz="2400" dirty="0"/>
              <a:t>For registering the component with the Listener, many classes provide the registration methods. For example:</a:t>
            </a:r>
          </a:p>
          <a:p>
            <a:r>
              <a:rPr lang="en-IN" sz="2400" b="1" dirty="0"/>
              <a:t>Button</a:t>
            </a:r>
            <a:endParaRPr lang="en-IN" sz="2400" dirty="0"/>
          </a:p>
          <a:p>
            <a:pPr lvl="1"/>
            <a:r>
              <a:rPr lang="en-IN" sz="2200" dirty="0"/>
              <a:t>public void </a:t>
            </a:r>
            <a:r>
              <a:rPr lang="en-IN" sz="2200" dirty="0" err="1"/>
              <a:t>addActionListener</a:t>
            </a:r>
            <a:r>
              <a:rPr lang="en-IN" sz="2200" dirty="0"/>
              <a:t>(</a:t>
            </a:r>
            <a:r>
              <a:rPr lang="en-IN" sz="2200" dirty="0" err="1"/>
              <a:t>ActionListener</a:t>
            </a:r>
            <a:r>
              <a:rPr lang="en-IN" sz="2200" dirty="0"/>
              <a:t> a){}</a:t>
            </a:r>
          </a:p>
          <a:p>
            <a:r>
              <a:rPr lang="en-IN" sz="2400" b="1" dirty="0" err="1"/>
              <a:t>MenuItem</a:t>
            </a:r>
            <a:endParaRPr lang="en-IN" sz="2400" dirty="0"/>
          </a:p>
          <a:p>
            <a:pPr lvl="1"/>
            <a:r>
              <a:rPr lang="en-IN" sz="2200" dirty="0"/>
              <a:t>public void </a:t>
            </a:r>
            <a:r>
              <a:rPr lang="en-IN" sz="2200" dirty="0" err="1"/>
              <a:t>addActionListener</a:t>
            </a:r>
            <a:r>
              <a:rPr lang="en-IN" sz="2200" dirty="0"/>
              <a:t>(</a:t>
            </a:r>
            <a:r>
              <a:rPr lang="en-IN" sz="2200" dirty="0" err="1"/>
              <a:t>ActionListener</a:t>
            </a:r>
            <a:r>
              <a:rPr lang="en-IN" sz="2200" dirty="0"/>
              <a:t> a){}</a:t>
            </a:r>
          </a:p>
          <a:p>
            <a:r>
              <a:rPr lang="en-IN" sz="2400" b="1" dirty="0" err="1"/>
              <a:t>TextField</a:t>
            </a:r>
            <a:endParaRPr lang="en-IN" sz="2400" dirty="0"/>
          </a:p>
          <a:p>
            <a:pPr lvl="1"/>
            <a:r>
              <a:rPr lang="en-IN" sz="2200" dirty="0"/>
              <a:t>public void </a:t>
            </a:r>
            <a:r>
              <a:rPr lang="en-IN" sz="2200" dirty="0" err="1"/>
              <a:t>addActionListener</a:t>
            </a:r>
            <a:r>
              <a:rPr lang="en-IN" sz="2200" dirty="0"/>
              <a:t>(</a:t>
            </a:r>
            <a:r>
              <a:rPr lang="en-IN" sz="2200" dirty="0" err="1"/>
              <a:t>ActionListener</a:t>
            </a:r>
            <a:r>
              <a:rPr lang="en-IN" sz="2200" dirty="0"/>
              <a:t> a){}</a:t>
            </a:r>
          </a:p>
          <a:p>
            <a:pPr lvl="1"/>
            <a:r>
              <a:rPr lang="en-IN" sz="2200" dirty="0"/>
              <a:t>public void </a:t>
            </a:r>
            <a:r>
              <a:rPr lang="en-IN" sz="2200" dirty="0" err="1"/>
              <a:t>addTextListener</a:t>
            </a:r>
            <a:r>
              <a:rPr lang="en-IN" sz="2200" dirty="0"/>
              <a:t>(</a:t>
            </a:r>
            <a:r>
              <a:rPr lang="en-IN" sz="2200" dirty="0" err="1"/>
              <a:t>TextListener</a:t>
            </a:r>
            <a:r>
              <a:rPr lang="en-IN" sz="2200" dirty="0"/>
              <a:t> a){}</a:t>
            </a:r>
          </a:p>
          <a:p>
            <a:r>
              <a:rPr lang="en-IN" sz="2400" b="1" dirty="0" err="1"/>
              <a:t>TextArea</a:t>
            </a:r>
            <a:endParaRPr lang="en-IN" sz="2400" dirty="0"/>
          </a:p>
          <a:p>
            <a:pPr lvl="1"/>
            <a:r>
              <a:rPr lang="en-IN" sz="2200" dirty="0"/>
              <a:t>public void </a:t>
            </a:r>
            <a:r>
              <a:rPr lang="en-IN" sz="2200" dirty="0" err="1"/>
              <a:t>addTextListener</a:t>
            </a:r>
            <a:r>
              <a:rPr lang="en-IN" sz="2200" dirty="0"/>
              <a:t>(</a:t>
            </a:r>
            <a:r>
              <a:rPr lang="en-IN" sz="2200" dirty="0" err="1"/>
              <a:t>TextListener</a:t>
            </a:r>
            <a:r>
              <a:rPr lang="en-IN" sz="2200" dirty="0"/>
              <a:t> a){}</a:t>
            </a:r>
          </a:p>
          <a:p>
            <a:r>
              <a:rPr lang="en-IN" sz="2400" b="1" dirty="0"/>
              <a:t>Checkbox</a:t>
            </a:r>
            <a:endParaRPr lang="en-IN" sz="2400" dirty="0"/>
          </a:p>
          <a:p>
            <a:pPr lvl="1"/>
            <a:r>
              <a:rPr lang="en-IN" sz="2200" dirty="0"/>
              <a:t>public void </a:t>
            </a:r>
            <a:r>
              <a:rPr lang="en-IN" sz="2200" dirty="0" err="1"/>
              <a:t>addItemListener</a:t>
            </a:r>
            <a:r>
              <a:rPr lang="en-IN" sz="2200" dirty="0"/>
              <a:t>(</a:t>
            </a:r>
            <a:r>
              <a:rPr lang="en-IN" sz="2200" dirty="0" err="1"/>
              <a:t>ItemListener</a:t>
            </a:r>
            <a:r>
              <a:rPr lang="en-IN" sz="2200" dirty="0"/>
              <a:t> a){}</a:t>
            </a:r>
          </a:p>
          <a:p>
            <a:r>
              <a:rPr lang="en-IN" sz="2400" b="1" dirty="0"/>
              <a:t>Choice</a:t>
            </a:r>
            <a:endParaRPr lang="en-IN" sz="2400" dirty="0"/>
          </a:p>
          <a:p>
            <a:pPr lvl="1"/>
            <a:r>
              <a:rPr lang="en-IN" sz="2200" dirty="0"/>
              <a:t>public void </a:t>
            </a:r>
            <a:r>
              <a:rPr lang="en-IN" sz="2200" dirty="0" err="1"/>
              <a:t>addItemListener</a:t>
            </a:r>
            <a:r>
              <a:rPr lang="en-IN" sz="2200" dirty="0"/>
              <a:t>(</a:t>
            </a:r>
            <a:r>
              <a:rPr lang="en-IN" sz="2200" dirty="0" err="1"/>
              <a:t>ItemListener</a:t>
            </a:r>
            <a:r>
              <a:rPr lang="en-IN" sz="2200" dirty="0"/>
              <a:t> a){}</a:t>
            </a:r>
          </a:p>
          <a:p>
            <a:r>
              <a:rPr lang="en-IN" sz="2400" b="1" dirty="0"/>
              <a:t>List</a:t>
            </a:r>
            <a:endParaRPr lang="en-IN" sz="2400" dirty="0"/>
          </a:p>
          <a:p>
            <a:pPr lvl="1"/>
            <a:r>
              <a:rPr lang="en-IN" sz="2200" dirty="0"/>
              <a:t>public void </a:t>
            </a:r>
            <a:r>
              <a:rPr lang="en-IN" sz="2200" dirty="0" err="1"/>
              <a:t>addActionListener</a:t>
            </a:r>
            <a:r>
              <a:rPr lang="en-IN" sz="2200" dirty="0"/>
              <a:t>(</a:t>
            </a:r>
            <a:r>
              <a:rPr lang="en-IN" sz="2200" dirty="0" err="1"/>
              <a:t>ActionListener</a:t>
            </a:r>
            <a:r>
              <a:rPr lang="en-IN" sz="2200" dirty="0"/>
              <a:t> a){}</a:t>
            </a:r>
          </a:p>
          <a:p>
            <a:pPr lvl="1"/>
            <a:r>
              <a:rPr lang="en-IN" sz="2200" dirty="0"/>
              <a:t>public void </a:t>
            </a:r>
            <a:r>
              <a:rPr lang="en-IN" sz="2200" dirty="0" err="1"/>
              <a:t>addItemListener</a:t>
            </a:r>
            <a:r>
              <a:rPr lang="en-IN" sz="2200" dirty="0"/>
              <a:t>(</a:t>
            </a:r>
            <a:r>
              <a:rPr lang="en-IN" sz="2200" dirty="0" err="1"/>
              <a:t>ItemListener</a:t>
            </a:r>
            <a:r>
              <a:rPr lang="en-IN" sz="2200" dirty="0"/>
              <a:t> a){}</a:t>
            </a:r>
          </a:p>
        </p:txBody>
      </p:sp>
      <p:sp>
        <p:nvSpPr>
          <p:cNvPr id="5" name="Slide Number Placeholder 4"/>
          <p:cNvSpPr>
            <a:spLocks noGrp="1"/>
          </p:cNvSpPr>
          <p:nvPr>
            <p:ph type="sldNum" sz="quarter" idx="12"/>
          </p:nvPr>
        </p:nvSpPr>
        <p:spPr/>
        <p:txBody>
          <a:bodyPr/>
          <a:lstStyle/>
          <a:p>
            <a:fld id="{CABF7EEA-85D2-497E-9C95-F3C1348C26C9}" type="slidenum">
              <a:rPr lang="en-IN" smtClean="0"/>
              <a:pPr/>
              <a:t>23</a:t>
            </a:fld>
            <a:endParaRPr lang="en-IN"/>
          </a:p>
        </p:txBody>
      </p:sp>
    </p:spTree>
    <p:extLst>
      <p:ext uri="{BB962C8B-B14F-4D97-AF65-F5344CB8AC3E}">
        <p14:creationId xmlns:p14="http://schemas.microsoft.com/office/powerpoint/2010/main" val="698411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500034" y="214290"/>
            <a:ext cx="8458200" cy="331788"/>
          </a:xfrm>
        </p:spPr>
        <p:txBody>
          <a:bodyPr>
            <a:normAutofit fontScale="90000"/>
          </a:bodyPr>
          <a:lstStyle/>
          <a:p>
            <a:r>
              <a:rPr lang="en-US" sz="3800" b="1" dirty="0" err="1"/>
              <a:t>ActionEvent</a:t>
            </a:r>
            <a:endParaRPr lang="en-US" sz="3800" dirty="0"/>
          </a:p>
        </p:txBody>
      </p:sp>
      <p:sp>
        <p:nvSpPr>
          <p:cNvPr id="20483" name="Rectangle 3"/>
          <p:cNvSpPr>
            <a:spLocks noGrp="1" noChangeArrowheads="1"/>
          </p:cNvSpPr>
          <p:nvPr>
            <p:ph type="body" idx="1"/>
          </p:nvPr>
        </p:nvSpPr>
        <p:spPr>
          <a:xfrm>
            <a:off x="-1036" y="685800"/>
            <a:ext cx="9144000" cy="6172200"/>
          </a:xfrm>
        </p:spPr>
        <p:txBody>
          <a:bodyPr>
            <a:noAutofit/>
          </a:bodyPr>
          <a:lstStyle/>
          <a:p>
            <a:r>
              <a:rPr lang="en-US" sz="2800" dirty="0">
                <a:latin typeface="Cambria" panose="02040503050406030204" pitchFamily="18" charset="0"/>
                <a:ea typeface="Cambria" panose="02040503050406030204" pitchFamily="18" charset="0"/>
              </a:rPr>
              <a:t>An </a:t>
            </a:r>
            <a:r>
              <a:rPr lang="en-US" sz="2800" b="1" dirty="0" err="1">
                <a:latin typeface="Cambria" panose="02040503050406030204" pitchFamily="18" charset="0"/>
                <a:ea typeface="Cambria" panose="02040503050406030204" pitchFamily="18" charset="0"/>
              </a:rPr>
              <a:t>ActionEvent</a:t>
            </a:r>
            <a:r>
              <a:rPr lang="en-US" sz="2800" b="1" dirty="0">
                <a:latin typeface="Cambria" panose="02040503050406030204" pitchFamily="18" charset="0"/>
                <a:ea typeface="Cambria" panose="02040503050406030204" pitchFamily="18" charset="0"/>
              </a:rPr>
              <a:t> is generated when a button is pressed, a list item is double-clicked, or a menu item is selected.</a:t>
            </a:r>
          </a:p>
          <a:p>
            <a:r>
              <a:rPr lang="en-US" sz="2800"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The </a:t>
            </a:r>
            <a:r>
              <a:rPr lang="en-US" sz="2400" dirty="0" err="1">
                <a:latin typeface="Cambria" panose="02040503050406030204" pitchFamily="18" charset="0"/>
                <a:ea typeface="Cambria" panose="02040503050406030204" pitchFamily="18" charset="0"/>
              </a:rPr>
              <a:t>ActionEvent</a:t>
            </a:r>
            <a:r>
              <a:rPr lang="en-US" sz="2400" dirty="0">
                <a:latin typeface="Cambria" panose="02040503050406030204" pitchFamily="18" charset="0"/>
                <a:ea typeface="Cambria" panose="02040503050406030204" pitchFamily="18" charset="0"/>
              </a:rPr>
              <a:t> class defines four integer constants that are used to identify modifiers associated with an action event:</a:t>
            </a:r>
            <a:endParaRPr lang="en-US" sz="2400" b="1" dirty="0">
              <a:latin typeface="Cambria" panose="02040503050406030204" pitchFamily="18" charset="0"/>
              <a:ea typeface="Cambria" panose="02040503050406030204" pitchFamily="18" charset="0"/>
            </a:endParaRPr>
          </a:p>
          <a:p>
            <a:r>
              <a:rPr lang="en-US" sz="2400" b="1" dirty="0">
                <a:latin typeface="Cambria" panose="02040503050406030204" pitchFamily="18" charset="0"/>
                <a:ea typeface="Cambria" panose="02040503050406030204" pitchFamily="18" charset="0"/>
              </a:rPr>
              <a:t>public static final </a:t>
            </a:r>
            <a:r>
              <a:rPr lang="en-US" sz="2400" b="1" dirty="0" err="1">
                <a:latin typeface="Cambria" panose="02040503050406030204" pitchFamily="18" charset="0"/>
                <a:ea typeface="Cambria" panose="02040503050406030204" pitchFamily="18" charset="0"/>
              </a:rPr>
              <a:t>int</a:t>
            </a:r>
            <a:r>
              <a:rPr lang="en-US" sz="2400" b="1" dirty="0">
                <a:latin typeface="Cambria" panose="02040503050406030204" pitchFamily="18" charset="0"/>
                <a:ea typeface="Cambria" panose="02040503050406030204" pitchFamily="18" charset="0"/>
              </a:rPr>
              <a:t> ALT_MASK </a:t>
            </a:r>
            <a:r>
              <a:rPr lang="en-US" sz="2400" dirty="0">
                <a:latin typeface="Cambria" panose="02040503050406030204" pitchFamily="18" charset="0"/>
                <a:ea typeface="Cambria" panose="02040503050406030204" pitchFamily="18" charset="0"/>
              </a:rPr>
              <a:t>The alt modifier. </a:t>
            </a:r>
          </a:p>
          <a:p>
            <a:pPr lvl="1"/>
            <a:r>
              <a:rPr lang="en-US" sz="2400" dirty="0">
                <a:latin typeface="Cambria" panose="02040503050406030204" pitchFamily="18" charset="0"/>
                <a:ea typeface="Cambria" panose="02040503050406030204" pitchFamily="18" charset="0"/>
              </a:rPr>
              <a:t>An indicator that the alt key was held down during the event.</a:t>
            </a:r>
            <a:endParaRPr lang="en-US" sz="2400" b="1" dirty="0">
              <a:latin typeface="Cambria" panose="02040503050406030204" pitchFamily="18" charset="0"/>
              <a:ea typeface="Cambria" panose="02040503050406030204" pitchFamily="18" charset="0"/>
            </a:endParaRPr>
          </a:p>
          <a:p>
            <a:r>
              <a:rPr lang="en-US" sz="2400" b="1" dirty="0">
                <a:latin typeface="Cambria" panose="02040503050406030204" pitchFamily="18" charset="0"/>
                <a:ea typeface="Cambria" panose="02040503050406030204" pitchFamily="18" charset="0"/>
              </a:rPr>
              <a:t>public static final </a:t>
            </a:r>
            <a:r>
              <a:rPr lang="en-US" sz="2400" b="1" dirty="0" err="1">
                <a:latin typeface="Cambria" panose="02040503050406030204" pitchFamily="18" charset="0"/>
                <a:ea typeface="Cambria" panose="02040503050406030204" pitchFamily="18" charset="0"/>
              </a:rPr>
              <a:t>int</a:t>
            </a:r>
            <a:r>
              <a:rPr lang="en-US" sz="2400" b="1" dirty="0">
                <a:latin typeface="Cambria" panose="02040503050406030204" pitchFamily="18" charset="0"/>
                <a:ea typeface="Cambria" panose="02040503050406030204" pitchFamily="18" charset="0"/>
              </a:rPr>
              <a:t> SHIFT_MASK </a:t>
            </a:r>
            <a:r>
              <a:rPr lang="en-US" sz="2400" dirty="0">
                <a:latin typeface="Cambria" panose="02040503050406030204" pitchFamily="18" charset="0"/>
                <a:ea typeface="Cambria" panose="02040503050406030204" pitchFamily="18" charset="0"/>
              </a:rPr>
              <a:t>The shift modifier. </a:t>
            </a:r>
          </a:p>
          <a:p>
            <a:pPr lvl="1"/>
            <a:r>
              <a:rPr lang="en-US" sz="2400" dirty="0">
                <a:latin typeface="Cambria" panose="02040503050406030204" pitchFamily="18" charset="0"/>
                <a:ea typeface="Cambria" panose="02040503050406030204" pitchFamily="18" charset="0"/>
              </a:rPr>
              <a:t>An indicator that the shift key was held down during the event.</a:t>
            </a:r>
            <a:endParaRPr lang="en-US" sz="2400" b="1" dirty="0">
              <a:latin typeface="Cambria" panose="02040503050406030204" pitchFamily="18" charset="0"/>
              <a:ea typeface="Cambria" panose="02040503050406030204" pitchFamily="18" charset="0"/>
            </a:endParaRPr>
          </a:p>
          <a:p>
            <a:r>
              <a:rPr lang="en-US" sz="2400" b="1" dirty="0">
                <a:latin typeface="Cambria" panose="02040503050406030204" pitchFamily="18" charset="0"/>
                <a:ea typeface="Cambria" panose="02040503050406030204" pitchFamily="18" charset="0"/>
              </a:rPr>
              <a:t>public static final </a:t>
            </a:r>
            <a:r>
              <a:rPr lang="en-US" sz="2400" b="1" dirty="0" err="1">
                <a:latin typeface="Cambria" panose="02040503050406030204" pitchFamily="18" charset="0"/>
                <a:ea typeface="Cambria" panose="02040503050406030204" pitchFamily="18" charset="0"/>
              </a:rPr>
              <a:t>int</a:t>
            </a:r>
            <a:r>
              <a:rPr lang="en-US" sz="2400" b="1" dirty="0">
                <a:latin typeface="Cambria" panose="02040503050406030204" pitchFamily="18" charset="0"/>
                <a:ea typeface="Cambria" panose="02040503050406030204" pitchFamily="18" charset="0"/>
              </a:rPr>
              <a:t> CTRL_MASK </a:t>
            </a:r>
            <a:r>
              <a:rPr lang="en-US" sz="2400" dirty="0">
                <a:latin typeface="Cambria" panose="02040503050406030204" pitchFamily="18" charset="0"/>
                <a:ea typeface="Cambria" panose="02040503050406030204" pitchFamily="18" charset="0"/>
              </a:rPr>
              <a:t>The control modifier. </a:t>
            </a:r>
          </a:p>
          <a:p>
            <a:pPr lvl="1"/>
            <a:r>
              <a:rPr lang="en-US" sz="2400" dirty="0">
                <a:latin typeface="Cambria" panose="02040503050406030204" pitchFamily="18" charset="0"/>
                <a:ea typeface="Cambria" panose="02040503050406030204" pitchFamily="18" charset="0"/>
              </a:rPr>
              <a:t>An indicator that control key was held down during the event.</a:t>
            </a:r>
            <a:endParaRPr lang="en-US" sz="2400" b="1" dirty="0">
              <a:latin typeface="Cambria" panose="02040503050406030204" pitchFamily="18" charset="0"/>
              <a:ea typeface="Cambria" panose="02040503050406030204" pitchFamily="18" charset="0"/>
            </a:endParaRPr>
          </a:p>
          <a:p>
            <a:r>
              <a:rPr lang="en-US" sz="2400" b="1" dirty="0">
                <a:latin typeface="Cambria" panose="02040503050406030204" pitchFamily="18" charset="0"/>
                <a:ea typeface="Cambria" panose="02040503050406030204" pitchFamily="18" charset="0"/>
              </a:rPr>
              <a:t>public static final </a:t>
            </a:r>
            <a:r>
              <a:rPr lang="en-US" sz="2400" b="1" dirty="0" err="1">
                <a:latin typeface="Cambria" panose="02040503050406030204" pitchFamily="18" charset="0"/>
                <a:ea typeface="Cambria" panose="02040503050406030204" pitchFamily="18" charset="0"/>
              </a:rPr>
              <a:t>int</a:t>
            </a:r>
            <a:r>
              <a:rPr lang="en-US" sz="2400" b="1" dirty="0">
                <a:latin typeface="Cambria" panose="02040503050406030204" pitchFamily="18" charset="0"/>
                <a:ea typeface="Cambria" panose="02040503050406030204" pitchFamily="18" charset="0"/>
              </a:rPr>
              <a:t> META_MASK </a:t>
            </a:r>
            <a:r>
              <a:rPr lang="en-US" sz="2400" dirty="0">
                <a:latin typeface="Cambria" panose="02040503050406030204" pitchFamily="18" charset="0"/>
                <a:ea typeface="Cambria" panose="02040503050406030204" pitchFamily="18" charset="0"/>
              </a:rPr>
              <a:t>The meta modifier. </a:t>
            </a:r>
          </a:p>
          <a:p>
            <a:pPr lvl="1"/>
            <a:r>
              <a:rPr lang="en-US" sz="2400" dirty="0">
                <a:latin typeface="Cambria" panose="02040503050406030204" pitchFamily="18" charset="0"/>
                <a:ea typeface="Cambria" panose="02040503050406030204" pitchFamily="18" charset="0"/>
              </a:rPr>
              <a:t>An indicator that the meta key was held down during the event. (</a:t>
            </a:r>
            <a:r>
              <a:rPr lang="en-IN" sz="2400" dirty="0">
                <a:latin typeface="Cambria" panose="02040503050406030204" pitchFamily="18" charset="0"/>
                <a:ea typeface="Cambria" panose="02040503050406030204" pitchFamily="18" charset="0"/>
              </a:rPr>
              <a:t>The </a:t>
            </a:r>
            <a:r>
              <a:rPr lang="en-IN" sz="2400" b="1" dirty="0">
                <a:latin typeface="Cambria" panose="02040503050406030204" pitchFamily="18" charset="0"/>
                <a:ea typeface="Cambria" panose="02040503050406030204" pitchFamily="18" charset="0"/>
              </a:rPr>
              <a:t>Meta key</a:t>
            </a:r>
            <a:r>
              <a:rPr lang="en-IN" sz="2400" dirty="0">
                <a:latin typeface="Cambria" panose="02040503050406030204" pitchFamily="18" charset="0"/>
                <a:ea typeface="Cambria" panose="02040503050406030204" pitchFamily="18" charset="0"/>
              </a:rPr>
              <a:t> is a modifier key on certain </a:t>
            </a:r>
            <a:r>
              <a:rPr lang="en-IN" sz="2400" u="sng" dirty="0">
                <a:latin typeface="Cambria" panose="02040503050406030204" pitchFamily="18" charset="0"/>
                <a:ea typeface="Cambria" panose="02040503050406030204" pitchFamily="18" charset="0"/>
              </a:rPr>
              <a:t>keyboards</a:t>
            </a:r>
            <a:r>
              <a:rPr lang="en-IN" sz="2400" dirty="0">
                <a:latin typeface="Cambria" panose="02040503050406030204" pitchFamily="18" charset="0"/>
                <a:ea typeface="Cambria" panose="02040503050406030204" pitchFamily="18" charset="0"/>
              </a:rPr>
              <a:t>)</a:t>
            </a:r>
            <a:endParaRPr lang="en-US" sz="2400" dirty="0">
              <a:latin typeface="Cambria" panose="02040503050406030204" pitchFamily="18" charset="0"/>
              <a:ea typeface="Cambria" panose="020405030504060302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GB" dirty="0">
                <a:latin typeface="Cambria" panose="02040503050406030204" pitchFamily="18" charset="0"/>
                <a:ea typeface="Cambria" panose="02040503050406030204" pitchFamily="18" charset="0"/>
              </a:rPr>
              <a:t>Constructor-1</a:t>
            </a:r>
          </a:p>
        </p:txBody>
      </p:sp>
      <p:sp>
        <p:nvSpPr>
          <p:cNvPr id="22531" name="Rectangle 3"/>
          <p:cNvSpPr>
            <a:spLocks noGrp="1" noChangeArrowheads="1"/>
          </p:cNvSpPr>
          <p:nvPr>
            <p:ph idx="1"/>
          </p:nvPr>
        </p:nvSpPr>
        <p:spPr>
          <a:xfrm>
            <a:off x="457200" y="1268760"/>
            <a:ext cx="8229600" cy="4857403"/>
          </a:xfrm>
        </p:spPr>
        <p:txBody>
          <a:bodyPr>
            <a:noAutofit/>
          </a:bodyPr>
          <a:lstStyle/>
          <a:p>
            <a:pPr marL="0" indent="0">
              <a:lnSpc>
                <a:spcPct val="90000"/>
              </a:lnSpc>
              <a:buNone/>
            </a:pPr>
            <a:r>
              <a:rPr lang="en-US" sz="2100" b="1" dirty="0">
                <a:latin typeface="Cambria" panose="02040503050406030204" pitchFamily="18" charset="0"/>
                <a:ea typeface="Cambria" panose="02040503050406030204" pitchFamily="18" charset="0"/>
              </a:rPr>
              <a:t>public </a:t>
            </a:r>
            <a:r>
              <a:rPr lang="en-US" sz="2100" b="1" dirty="0" err="1">
                <a:latin typeface="Cambria" panose="02040503050406030204" pitchFamily="18" charset="0"/>
                <a:ea typeface="Cambria" panose="02040503050406030204" pitchFamily="18" charset="0"/>
              </a:rPr>
              <a:t>ActionEvent</a:t>
            </a:r>
            <a:r>
              <a:rPr lang="en-US" sz="2100" b="1" dirty="0">
                <a:latin typeface="Cambria" panose="02040503050406030204" pitchFamily="18" charset="0"/>
                <a:ea typeface="Cambria" panose="02040503050406030204" pitchFamily="18" charset="0"/>
              </a:rPr>
              <a:t>(Object </a:t>
            </a:r>
            <a:r>
              <a:rPr lang="en-US" sz="2100" b="1" dirty="0" err="1">
                <a:latin typeface="Cambria" panose="02040503050406030204" pitchFamily="18" charset="0"/>
                <a:ea typeface="Cambria" panose="02040503050406030204" pitchFamily="18" charset="0"/>
              </a:rPr>
              <a:t>source,int</a:t>
            </a:r>
            <a:r>
              <a:rPr lang="en-US" sz="2100" b="1" dirty="0">
                <a:latin typeface="Cambria" panose="02040503050406030204" pitchFamily="18" charset="0"/>
                <a:ea typeface="Cambria" panose="02040503050406030204" pitchFamily="18" charset="0"/>
              </a:rPr>
              <a:t> </a:t>
            </a:r>
            <a:r>
              <a:rPr lang="en-US" sz="2100" b="1" dirty="0" err="1">
                <a:latin typeface="Cambria" panose="02040503050406030204" pitchFamily="18" charset="0"/>
                <a:ea typeface="Cambria" panose="02040503050406030204" pitchFamily="18" charset="0"/>
              </a:rPr>
              <a:t>id,String</a:t>
            </a:r>
            <a:r>
              <a:rPr lang="en-US" sz="2100" b="1" dirty="0">
                <a:latin typeface="Cambria" panose="02040503050406030204" pitchFamily="18" charset="0"/>
                <a:ea typeface="Cambria" panose="02040503050406030204" pitchFamily="18" charset="0"/>
              </a:rPr>
              <a:t> </a:t>
            </a:r>
            <a:r>
              <a:rPr lang="en-US" sz="2100" b="1" dirty="0" err="1">
                <a:latin typeface="Cambria" panose="02040503050406030204" pitchFamily="18" charset="0"/>
                <a:ea typeface="Cambria" panose="02040503050406030204" pitchFamily="18" charset="0"/>
              </a:rPr>
              <a:t>command,int</a:t>
            </a:r>
            <a:r>
              <a:rPr lang="en-US" sz="2100" b="1" dirty="0">
                <a:latin typeface="Cambria" panose="02040503050406030204" pitchFamily="18" charset="0"/>
                <a:ea typeface="Cambria" panose="02040503050406030204" pitchFamily="18" charset="0"/>
              </a:rPr>
              <a:t> modifiers)</a:t>
            </a:r>
          </a:p>
          <a:p>
            <a:pPr marL="0" indent="0">
              <a:lnSpc>
                <a:spcPct val="90000"/>
              </a:lnSpc>
              <a:buNone/>
            </a:pPr>
            <a:endParaRPr lang="en-US" sz="2100" dirty="0">
              <a:latin typeface="Cambria" panose="02040503050406030204" pitchFamily="18" charset="0"/>
              <a:ea typeface="Cambria" panose="02040503050406030204" pitchFamily="18" charset="0"/>
            </a:endParaRPr>
          </a:p>
          <a:p>
            <a:pPr lvl="1">
              <a:lnSpc>
                <a:spcPct val="90000"/>
              </a:lnSpc>
            </a:pPr>
            <a:r>
              <a:rPr lang="en-US" sz="2200" dirty="0">
                <a:latin typeface="Cambria" panose="02040503050406030204" pitchFamily="18" charset="0"/>
                <a:ea typeface="Cambria" panose="02040503050406030204" pitchFamily="18" charset="0"/>
              </a:rPr>
              <a:t>Constructs an </a:t>
            </a:r>
            <a:r>
              <a:rPr lang="en-US" sz="2200" dirty="0" err="1">
                <a:latin typeface="Cambria" panose="02040503050406030204" pitchFamily="18" charset="0"/>
                <a:ea typeface="Cambria" panose="02040503050406030204" pitchFamily="18" charset="0"/>
              </a:rPr>
              <a:t>ActionEvent</a:t>
            </a:r>
            <a:r>
              <a:rPr lang="en-US" sz="2200" dirty="0">
                <a:latin typeface="Cambria" panose="02040503050406030204" pitchFamily="18" charset="0"/>
                <a:ea typeface="Cambria" panose="02040503050406030204" pitchFamily="18" charset="0"/>
              </a:rPr>
              <a:t> object with modifier keys. </a:t>
            </a:r>
            <a:endParaRPr lang="en-US" sz="2200" b="1" dirty="0">
              <a:latin typeface="Cambria" panose="02040503050406030204" pitchFamily="18" charset="0"/>
              <a:ea typeface="Cambria" panose="02040503050406030204" pitchFamily="18" charset="0"/>
            </a:endParaRPr>
          </a:p>
          <a:p>
            <a:pPr lvl="1">
              <a:lnSpc>
                <a:spcPct val="90000"/>
              </a:lnSpc>
            </a:pPr>
            <a:r>
              <a:rPr lang="en-US" sz="2200" b="1" dirty="0">
                <a:latin typeface="Cambria" panose="02040503050406030204" pitchFamily="18" charset="0"/>
                <a:ea typeface="Cambria" panose="02040503050406030204" pitchFamily="18" charset="0"/>
              </a:rPr>
              <a:t>Parameters:</a:t>
            </a:r>
            <a:r>
              <a:rPr lang="en-US" sz="2200" dirty="0">
                <a:latin typeface="Cambria" panose="02040503050406030204" pitchFamily="18" charset="0"/>
                <a:ea typeface="Cambria" panose="02040503050406030204" pitchFamily="18" charset="0"/>
              </a:rPr>
              <a:t> </a:t>
            </a:r>
            <a:r>
              <a:rPr lang="en-US" sz="2200" b="1" dirty="0">
                <a:latin typeface="Cambria" panose="02040503050406030204" pitchFamily="18" charset="0"/>
                <a:ea typeface="Cambria" panose="02040503050406030204" pitchFamily="18" charset="0"/>
              </a:rPr>
              <a:t>source</a:t>
            </a:r>
            <a:r>
              <a:rPr lang="en-US" sz="2200" dirty="0">
                <a:latin typeface="Cambria" panose="02040503050406030204" pitchFamily="18" charset="0"/>
                <a:ea typeface="Cambria" panose="02040503050406030204" pitchFamily="18" charset="0"/>
              </a:rPr>
              <a:t> - the object that originated the event </a:t>
            </a:r>
          </a:p>
          <a:p>
            <a:pPr lvl="1">
              <a:lnSpc>
                <a:spcPct val="90000"/>
              </a:lnSpc>
            </a:pPr>
            <a:endParaRPr lang="en-US" sz="2200" dirty="0">
              <a:latin typeface="Cambria" panose="02040503050406030204" pitchFamily="18" charset="0"/>
              <a:ea typeface="Cambria" panose="02040503050406030204" pitchFamily="18" charset="0"/>
            </a:endParaRPr>
          </a:p>
          <a:p>
            <a:pPr lvl="1">
              <a:lnSpc>
                <a:spcPct val="90000"/>
              </a:lnSpc>
            </a:pPr>
            <a:r>
              <a:rPr lang="en-US" sz="2200" b="1" dirty="0">
                <a:latin typeface="Cambria" panose="02040503050406030204" pitchFamily="18" charset="0"/>
                <a:ea typeface="Cambria" panose="02040503050406030204" pitchFamily="18" charset="0"/>
              </a:rPr>
              <a:t>id</a:t>
            </a:r>
            <a:r>
              <a:rPr lang="en-US" sz="2200" dirty="0">
                <a:latin typeface="Cambria" panose="02040503050406030204" pitchFamily="18" charset="0"/>
                <a:ea typeface="Cambria" panose="02040503050406030204" pitchFamily="18" charset="0"/>
              </a:rPr>
              <a:t> - an integer that identifies the event </a:t>
            </a:r>
          </a:p>
          <a:p>
            <a:pPr lvl="1">
              <a:lnSpc>
                <a:spcPct val="90000"/>
              </a:lnSpc>
            </a:pPr>
            <a:endParaRPr lang="en-US" sz="2200" dirty="0">
              <a:latin typeface="Cambria" panose="02040503050406030204" pitchFamily="18" charset="0"/>
              <a:ea typeface="Cambria" panose="02040503050406030204" pitchFamily="18" charset="0"/>
            </a:endParaRPr>
          </a:p>
          <a:p>
            <a:pPr lvl="1">
              <a:lnSpc>
                <a:spcPct val="90000"/>
              </a:lnSpc>
            </a:pPr>
            <a:r>
              <a:rPr lang="en-US" sz="2200" b="1" dirty="0">
                <a:latin typeface="Cambria" panose="02040503050406030204" pitchFamily="18" charset="0"/>
                <a:ea typeface="Cambria" panose="02040503050406030204" pitchFamily="18" charset="0"/>
              </a:rPr>
              <a:t>command </a:t>
            </a:r>
            <a:r>
              <a:rPr lang="en-US" sz="2200" dirty="0">
                <a:latin typeface="Cambria" panose="02040503050406030204" pitchFamily="18" charset="0"/>
                <a:ea typeface="Cambria" panose="02040503050406030204" pitchFamily="18" charset="0"/>
              </a:rPr>
              <a:t>- a string that may specify a command (possibly one of several) 	associated with the event </a:t>
            </a:r>
          </a:p>
          <a:p>
            <a:pPr lvl="1">
              <a:lnSpc>
                <a:spcPct val="90000"/>
              </a:lnSpc>
            </a:pPr>
            <a:endParaRPr lang="en-US" sz="2200" dirty="0">
              <a:latin typeface="Cambria" panose="02040503050406030204" pitchFamily="18" charset="0"/>
              <a:ea typeface="Cambria" panose="02040503050406030204" pitchFamily="18" charset="0"/>
            </a:endParaRPr>
          </a:p>
          <a:p>
            <a:pPr lvl="1">
              <a:lnSpc>
                <a:spcPct val="90000"/>
              </a:lnSpc>
            </a:pPr>
            <a:r>
              <a:rPr lang="en-US" sz="2200" b="1" dirty="0">
                <a:latin typeface="Cambria" panose="02040503050406030204" pitchFamily="18" charset="0"/>
                <a:ea typeface="Cambria" panose="02040503050406030204" pitchFamily="18" charset="0"/>
              </a:rPr>
              <a:t>modifiers</a:t>
            </a:r>
            <a:r>
              <a:rPr lang="en-US" sz="2200" dirty="0">
                <a:latin typeface="Cambria" panose="02040503050406030204" pitchFamily="18" charset="0"/>
                <a:ea typeface="Cambria" panose="02040503050406030204" pitchFamily="18" charset="0"/>
              </a:rPr>
              <a:t> - the modifier keys held down during this action </a:t>
            </a:r>
            <a:endParaRPr lang="en-US" sz="22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fld id="{CABF7EEA-85D2-497E-9C95-F3C1348C26C9}" type="slidenum">
              <a:rPr lang="en-IN" smtClean="0">
                <a:latin typeface="Cambria" panose="02040503050406030204" pitchFamily="18" charset="0"/>
                <a:ea typeface="Cambria" panose="02040503050406030204" pitchFamily="18" charset="0"/>
              </a:rPr>
              <a:pPr/>
              <a:t>25</a:t>
            </a:fld>
            <a:endParaRPr lang="en-IN">
              <a:latin typeface="Cambria" panose="02040503050406030204" pitchFamily="18" charset="0"/>
              <a:ea typeface="Cambria" panose="020405030504060302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3528" y="1148387"/>
            <a:ext cx="8496944" cy="5410712"/>
          </a:xfrm>
          <a:prstGeom prst="rect">
            <a:avLst/>
          </a:prstGeom>
        </p:spPr>
        <p:txBody>
          <a:bodyPr wrap="square">
            <a:spAutoFit/>
          </a:bodyPr>
          <a:lstStyle/>
          <a:p>
            <a:pPr>
              <a:lnSpc>
                <a:spcPct val="90000"/>
              </a:lnSpc>
            </a:pPr>
            <a:r>
              <a:rPr lang="en-US" sz="2400" b="1" dirty="0"/>
              <a:t>public </a:t>
            </a:r>
            <a:r>
              <a:rPr lang="en-US" sz="2400" b="1" dirty="0" err="1"/>
              <a:t>ActionEvent</a:t>
            </a:r>
            <a:r>
              <a:rPr lang="en-US" sz="2400" b="1" dirty="0"/>
              <a:t>(Object </a:t>
            </a:r>
            <a:r>
              <a:rPr lang="en-US" sz="2400" b="1" dirty="0" err="1"/>
              <a:t>source,int</a:t>
            </a:r>
            <a:r>
              <a:rPr lang="en-US" sz="2400" b="1" dirty="0"/>
              <a:t> </a:t>
            </a:r>
            <a:r>
              <a:rPr lang="en-US" sz="2400" b="1" dirty="0" err="1"/>
              <a:t>id,String</a:t>
            </a:r>
            <a:r>
              <a:rPr lang="en-US" sz="2400" b="1" dirty="0"/>
              <a:t> </a:t>
            </a:r>
            <a:r>
              <a:rPr lang="en-US" sz="2400" b="1" dirty="0" err="1"/>
              <a:t>command,long</a:t>
            </a:r>
            <a:r>
              <a:rPr lang="en-US" sz="2400" b="1" dirty="0"/>
              <a:t> when, </a:t>
            </a:r>
            <a:r>
              <a:rPr lang="en-US" sz="2400" b="1" dirty="0" err="1"/>
              <a:t>int</a:t>
            </a:r>
            <a:r>
              <a:rPr lang="en-US" sz="2400" b="1" dirty="0"/>
              <a:t> modifiers)</a:t>
            </a:r>
          </a:p>
          <a:p>
            <a:pPr>
              <a:lnSpc>
                <a:spcPct val="90000"/>
              </a:lnSpc>
            </a:pPr>
            <a:endParaRPr lang="en-US" sz="2400" dirty="0"/>
          </a:p>
          <a:p>
            <a:pPr lvl="1">
              <a:lnSpc>
                <a:spcPct val="90000"/>
              </a:lnSpc>
            </a:pPr>
            <a:r>
              <a:rPr lang="en-US" sz="2400" dirty="0"/>
              <a:t>Constructs an </a:t>
            </a:r>
            <a:r>
              <a:rPr lang="en-US" sz="2400" dirty="0" err="1"/>
              <a:t>ActionEvent</a:t>
            </a:r>
            <a:r>
              <a:rPr lang="en-US" sz="2400" dirty="0"/>
              <a:t> object with the specified modifier keys and timestamp. </a:t>
            </a:r>
          </a:p>
          <a:p>
            <a:pPr lvl="1">
              <a:lnSpc>
                <a:spcPct val="90000"/>
              </a:lnSpc>
            </a:pPr>
            <a:r>
              <a:rPr lang="en-US" sz="2400" b="1" dirty="0"/>
              <a:t>Parameters:</a:t>
            </a:r>
            <a:r>
              <a:rPr lang="en-US" sz="2400" dirty="0"/>
              <a:t> </a:t>
            </a:r>
            <a:r>
              <a:rPr lang="en-US" sz="2400" b="1" dirty="0"/>
              <a:t>source</a:t>
            </a:r>
            <a:r>
              <a:rPr lang="en-US" sz="2400" dirty="0"/>
              <a:t> - the object that originated the event </a:t>
            </a:r>
          </a:p>
          <a:p>
            <a:pPr lvl="1">
              <a:lnSpc>
                <a:spcPct val="90000"/>
              </a:lnSpc>
            </a:pPr>
            <a:endParaRPr lang="en-US" sz="2400" dirty="0"/>
          </a:p>
          <a:p>
            <a:pPr lvl="1">
              <a:lnSpc>
                <a:spcPct val="90000"/>
              </a:lnSpc>
            </a:pPr>
            <a:r>
              <a:rPr lang="en-US" sz="2400" b="1" dirty="0"/>
              <a:t>id</a:t>
            </a:r>
            <a:r>
              <a:rPr lang="en-US" sz="2400" dirty="0"/>
              <a:t> - an integer that identifies the event </a:t>
            </a:r>
          </a:p>
          <a:p>
            <a:pPr lvl="1">
              <a:lnSpc>
                <a:spcPct val="90000"/>
              </a:lnSpc>
            </a:pPr>
            <a:endParaRPr lang="en-US" sz="2400" dirty="0"/>
          </a:p>
          <a:p>
            <a:pPr lvl="1">
              <a:lnSpc>
                <a:spcPct val="90000"/>
              </a:lnSpc>
            </a:pPr>
            <a:r>
              <a:rPr lang="en-US" sz="2400" b="1" dirty="0"/>
              <a:t>command</a:t>
            </a:r>
            <a:r>
              <a:rPr lang="en-US" sz="2400" dirty="0"/>
              <a:t> - a string that may specify a command (possibly one of several) 	associated with the event </a:t>
            </a:r>
          </a:p>
          <a:p>
            <a:pPr lvl="1">
              <a:lnSpc>
                <a:spcPct val="90000"/>
              </a:lnSpc>
            </a:pPr>
            <a:endParaRPr lang="en-US" sz="2400" dirty="0"/>
          </a:p>
          <a:p>
            <a:pPr lvl="1">
              <a:lnSpc>
                <a:spcPct val="90000"/>
              </a:lnSpc>
            </a:pPr>
            <a:r>
              <a:rPr lang="en-US" sz="2400" b="1" dirty="0"/>
              <a:t>when</a:t>
            </a:r>
            <a:r>
              <a:rPr lang="en-US" sz="2400" dirty="0"/>
              <a:t> - the time the event occurred </a:t>
            </a:r>
          </a:p>
          <a:p>
            <a:pPr lvl="1">
              <a:lnSpc>
                <a:spcPct val="90000"/>
              </a:lnSpc>
            </a:pPr>
            <a:endParaRPr lang="en-US" sz="2400" dirty="0"/>
          </a:p>
          <a:p>
            <a:pPr lvl="1">
              <a:lnSpc>
                <a:spcPct val="90000"/>
              </a:lnSpc>
            </a:pPr>
            <a:r>
              <a:rPr lang="en-US" sz="2400" b="1" dirty="0"/>
              <a:t>modifiers</a:t>
            </a:r>
            <a:r>
              <a:rPr lang="en-US" sz="2400" dirty="0"/>
              <a:t> - the modifier keys held down during this action </a:t>
            </a:r>
          </a:p>
        </p:txBody>
      </p:sp>
      <p:sp>
        <p:nvSpPr>
          <p:cNvPr id="5" name="Slide Number Placeholder 4"/>
          <p:cNvSpPr>
            <a:spLocks noGrp="1"/>
          </p:cNvSpPr>
          <p:nvPr>
            <p:ph type="sldNum" sz="quarter" idx="12"/>
          </p:nvPr>
        </p:nvSpPr>
        <p:spPr/>
        <p:txBody>
          <a:bodyPr/>
          <a:lstStyle/>
          <a:p>
            <a:fld id="{CABF7EEA-85D2-497E-9C95-F3C1348C26C9}" type="slidenum">
              <a:rPr lang="en-IN" smtClean="0"/>
              <a:pPr/>
              <a:t>26</a:t>
            </a:fld>
            <a:endParaRPr lang="en-IN"/>
          </a:p>
        </p:txBody>
      </p:sp>
      <p:sp>
        <p:nvSpPr>
          <p:cNvPr id="6" name="Title 1"/>
          <p:cNvSpPr>
            <a:spLocks noGrp="1"/>
          </p:cNvSpPr>
          <p:nvPr>
            <p:ph type="title"/>
          </p:nvPr>
        </p:nvSpPr>
        <p:spPr>
          <a:xfrm>
            <a:off x="457200" y="274638"/>
            <a:ext cx="8229600" cy="634082"/>
          </a:xfrm>
        </p:spPr>
        <p:txBody>
          <a:bodyPr>
            <a:normAutofit fontScale="90000"/>
          </a:bodyPr>
          <a:lstStyle/>
          <a:p>
            <a:r>
              <a:rPr lang="en-GB" dirty="0">
                <a:latin typeface="Cambria" panose="02040503050406030204" pitchFamily="18" charset="0"/>
                <a:ea typeface="Cambria" panose="02040503050406030204" pitchFamily="18" charset="0"/>
              </a:rPr>
              <a:t>Constructor-2</a:t>
            </a:r>
          </a:p>
        </p:txBody>
      </p:sp>
    </p:spTree>
    <p:extLst>
      <p:ext uri="{BB962C8B-B14F-4D97-AF65-F5344CB8AC3E}">
        <p14:creationId xmlns:p14="http://schemas.microsoft.com/office/powerpoint/2010/main" val="1163919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277813"/>
            <a:ext cx="8229600" cy="560387"/>
          </a:xfrm>
        </p:spPr>
        <p:txBody>
          <a:bodyPr>
            <a:normAutofit fontScale="90000"/>
          </a:bodyPr>
          <a:lstStyle/>
          <a:p>
            <a:r>
              <a:rPr lang="en-US" sz="3800" b="1"/>
              <a:t>Methods</a:t>
            </a:r>
          </a:p>
        </p:txBody>
      </p:sp>
      <p:sp>
        <p:nvSpPr>
          <p:cNvPr id="25603" name="Rectangle 3"/>
          <p:cNvSpPr>
            <a:spLocks noGrp="1" noChangeArrowheads="1"/>
          </p:cNvSpPr>
          <p:nvPr>
            <p:ph type="body" idx="1"/>
          </p:nvPr>
        </p:nvSpPr>
        <p:spPr>
          <a:xfrm>
            <a:off x="457200" y="1071546"/>
            <a:ext cx="8229600" cy="5597814"/>
          </a:xfrm>
        </p:spPr>
        <p:txBody>
          <a:bodyPr>
            <a:normAutofit fontScale="92500" lnSpcReduction="10000"/>
          </a:bodyPr>
          <a:lstStyle/>
          <a:p>
            <a:r>
              <a:rPr lang="en-US" b="1" dirty="0"/>
              <a:t>public String </a:t>
            </a:r>
            <a:r>
              <a:rPr lang="en-US" b="1" dirty="0" err="1"/>
              <a:t>getActionCommand</a:t>
            </a:r>
            <a:r>
              <a:rPr lang="en-US" b="1" dirty="0"/>
              <a:t>()</a:t>
            </a:r>
            <a:endParaRPr lang="en-US" dirty="0"/>
          </a:p>
          <a:p>
            <a:pPr lvl="1"/>
            <a:r>
              <a:rPr lang="en-US" dirty="0"/>
              <a:t>Returns the command string associated with this action. </a:t>
            </a:r>
          </a:p>
          <a:p>
            <a:pPr lvl="1"/>
            <a:endParaRPr lang="en-US" sz="1500" b="1" dirty="0"/>
          </a:p>
          <a:p>
            <a:r>
              <a:rPr lang="en-US" b="1" dirty="0"/>
              <a:t>public long </a:t>
            </a:r>
            <a:r>
              <a:rPr lang="en-US" b="1" dirty="0" err="1"/>
              <a:t>getWhen</a:t>
            </a:r>
            <a:r>
              <a:rPr lang="en-US" b="1" dirty="0"/>
              <a:t>()</a:t>
            </a:r>
            <a:endParaRPr lang="en-US" dirty="0"/>
          </a:p>
          <a:p>
            <a:pPr lvl="1"/>
            <a:r>
              <a:rPr lang="en-US" dirty="0"/>
              <a:t>Returns the timestamp of when this event occurred. </a:t>
            </a:r>
          </a:p>
          <a:p>
            <a:pPr lvl="1"/>
            <a:endParaRPr lang="en-US" sz="1700" dirty="0"/>
          </a:p>
          <a:p>
            <a:r>
              <a:rPr lang="en-IN" b="1" dirty="0" err="1"/>
              <a:t>int</a:t>
            </a:r>
            <a:r>
              <a:rPr lang="en-IN" b="1" dirty="0"/>
              <a:t> </a:t>
            </a:r>
            <a:r>
              <a:rPr lang="en-IN" b="1" dirty="0" err="1"/>
              <a:t>getModifiers</a:t>
            </a:r>
            <a:r>
              <a:rPr lang="en-IN" b="1" dirty="0"/>
              <a:t>()</a:t>
            </a:r>
            <a:endParaRPr lang="en-IN" dirty="0"/>
          </a:p>
          <a:p>
            <a:pPr lvl="1"/>
            <a:r>
              <a:rPr lang="en-IN" dirty="0"/>
              <a:t>Returns the modifier keys held down during this action event.</a:t>
            </a:r>
          </a:p>
          <a:p>
            <a:pPr lvl="1"/>
            <a:endParaRPr lang="en-IN" sz="1700" dirty="0"/>
          </a:p>
          <a:p>
            <a:r>
              <a:rPr lang="en-IN" b="1" dirty="0"/>
              <a:t>String </a:t>
            </a:r>
            <a:r>
              <a:rPr lang="en-IN" b="1" dirty="0" err="1"/>
              <a:t>paramString</a:t>
            </a:r>
            <a:r>
              <a:rPr lang="en-IN" b="1" dirty="0"/>
              <a:t>()</a:t>
            </a:r>
            <a:endParaRPr lang="en-IN" dirty="0"/>
          </a:p>
          <a:p>
            <a:pPr lvl="1"/>
            <a:r>
              <a:rPr lang="en-IN" dirty="0"/>
              <a:t>Returns a parameter string identifying this action event.</a:t>
            </a:r>
          </a:p>
          <a:p>
            <a:pPr lvl="1">
              <a:buNone/>
            </a:pPr>
            <a:endParaRPr lang="en-IN" dirty="0"/>
          </a:p>
          <a:p>
            <a:pPr lvl="1">
              <a:buNone/>
            </a:pPr>
            <a:endParaRPr lang="en-US" dirty="0"/>
          </a:p>
        </p:txBody>
      </p:sp>
      <p:sp>
        <p:nvSpPr>
          <p:cNvPr id="4" name="Slide Number Placeholder 3"/>
          <p:cNvSpPr>
            <a:spLocks noGrp="1"/>
          </p:cNvSpPr>
          <p:nvPr>
            <p:ph type="sldNum" sz="quarter" idx="12"/>
          </p:nvPr>
        </p:nvSpPr>
        <p:spPr/>
        <p:txBody>
          <a:bodyPr/>
          <a:lstStyle/>
          <a:p>
            <a:fld id="{CABF7EEA-85D2-497E-9C95-F3C1348C26C9}" type="slidenum">
              <a:rPr lang="en-IN" smtClean="0"/>
              <a:pPr/>
              <a:t>27</a:t>
            </a:fld>
            <a:endParaRPr lang="en-I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277813"/>
            <a:ext cx="8229600" cy="560387"/>
          </a:xfrm>
        </p:spPr>
        <p:txBody>
          <a:bodyPr>
            <a:normAutofit fontScale="90000"/>
          </a:bodyPr>
          <a:lstStyle/>
          <a:p>
            <a:r>
              <a:rPr lang="en-US" sz="3800" b="1"/>
              <a:t>ActionListener Interface</a:t>
            </a:r>
            <a:endParaRPr lang="en-US" sz="3800"/>
          </a:p>
        </p:txBody>
      </p:sp>
      <p:sp>
        <p:nvSpPr>
          <p:cNvPr id="21507" name="Rectangle 3"/>
          <p:cNvSpPr>
            <a:spLocks noGrp="1" noChangeArrowheads="1"/>
          </p:cNvSpPr>
          <p:nvPr>
            <p:ph type="body" idx="1"/>
          </p:nvPr>
        </p:nvSpPr>
        <p:spPr>
          <a:xfrm>
            <a:off x="228600" y="1600200"/>
            <a:ext cx="8458200" cy="4724400"/>
          </a:xfrm>
        </p:spPr>
        <p:txBody>
          <a:bodyPr/>
          <a:lstStyle/>
          <a:p>
            <a:r>
              <a:rPr lang="en-US" dirty="0"/>
              <a:t>This interface defines the </a:t>
            </a:r>
            <a:r>
              <a:rPr lang="en-US" dirty="0" err="1"/>
              <a:t>actionPerformed</a:t>
            </a:r>
            <a:r>
              <a:rPr lang="en-US" dirty="0"/>
              <a:t>() method that is invoked when an action event occurs. </a:t>
            </a:r>
          </a:p>
          <a:p>
            <a:r>
              <a:rPr lang="en-US" dirty="0"/>
              <a:t>Its general form is shown here:</a:t>
            </a:r>
          </a:p>
          <a:p>
            <a:pPr lvl="1"/>
            <a:r>
              <a:rPr lang="en-US" b="1" dirty="0"/>
              <a:t>void </a:t>
            </a:r>
            <a:r>
              <a:rPr lang="en-US" b="1" dirty="0" err="1"/>
              <a:t>actionPerformed</a:t>
            </a:r>
            <a:r>
              <a:rPr lang="en-US" b="1" dirty="0"/>
              <a:t>(</a:t>
            </a:r>
            <a:r>
              <a:rPr lang="en-US" b="1" dirty="0" err="1"/>
              <a:t>ActionEvent</a:t>
            </a:r>
            <a:r>
              <a:rPr lang="en-US" b="1" dirty="0"/>
              <a:t> </a:t>
            </a:r>
            <a:r>
              <a:rPr lang="en-US" b="1" dirty="0" err="1"/>
              <a:t>ae</a:t>
            </a:r>
            <a:r>
              <a:rPr lang="en-US" b="1" dirty="0"/>
              <a:t>)</a:t>
            </a:r>
          </a:p>
        </p:txBody>
      </p:sp>
      <p:sp>
        <p:nvSpPr>
          <p:cNvPr id="4" name="Slide Number Placeholder 3"/>
          <p:cNvSpPr>
            <a:spLocks noGrp="1"/>
          </p:cNvSpPr>
          <p:nvPr>
            <p:ph type="sldNum" sz="quarter" idx="12"/>
          </p:nvPr>
        </p:nvSpPr>
        <p:spPr/>
        <p:txBody>
          <a:bodyPr/>
          <a:lstStyle/>
          <a:p>
            <a:fld id="{CABF7EEA-85D2-497E-9C95-F3C1348C26C9}" type="slidenum">
              <a:rPr lang="en-IN" smtClean="0"/>
              <a:pPr/>
              <a:t>28</a:t>
            </a:fld>
            <a:endParaRPr lang="en-I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7224" y="25360"/>
            <a:ext cx="7603208" cy="6832640"/>
          </a:xfrm>
          <a:prstGeom prst="rect">
            <a:avLst/>
          </a:prstGeom>
        </p:spPr>
        <p:txBody>
          <a:bodyPr wrap="square">
            <a:spAutoFit/>
          </a:bodyPr>
          <a:lstStyle/>
          <a:p>
            <a:r>
              <a:rPr lang="en-IN" sz="2000" dirty="0"/>
              <a:t>import </a:t>
            </a:r>
            <a:r>
              <a:rPr lang="en-IN" sz="2000" dirty="0" err="1"/>
              <a:t>java.applet</a:t>
            </a:r>
            <a:r>
              <a:rPr lang="en-IN" sz="2000" dirty="0"/>
              <a:t>.*;</a:t>
            </a:r>
          </a:p>
          <a:p>
            <a:r>
              <a:rPr lang="en-IN" sz="2000" dirty="0"/>
              <a:t>import java.awt.*;</a:t>
            </a:r>
          </a:p>
          <a:p>
            <a:r>
              <a:rPr lang="en-IN" sz="2000" dirty="0"/>
              <a:t>import java.awt.event.*;</a:t>
            </a:r>
          </a:p>
          <a:p>
            <a:r>
              <a:rPr lang="en-IN" sz="2000" dirty="0"/>
              <a:t> </a:t>
            </a:r>
          </a:p>
          <a:p>
            <a:r>
              <a:rPr lang="en-IN" sz="2000" dirty="0"/>
              <a:t>/* &lt;applet code="</a:t>
            </a:r>
            <a:r>
              <a:rPr lang="en-IN" sz="2000" dirty="0" err="1"/>
              <a:t>ActionEventExample</a:t>
            </a:r>
            <a:r>
              <a:rPr lang="en-IN" sz="2000" dirty="0"/>
              <a:t>" width=200 height=200&gt;</a:t>
            </a:r>
          </a:p>
          <a:p>
            <a:r>
              <a:rPr lang="en-IN" sz="2000" dirty="0"/>
              <a:t>&lt;/applet&gt; */</a:t>
            </a:r>
          </a:p>
          <a:p>
            <a:r>
              <a:rPr lang="en-IN" sz="2000" dirty="0"/>
              <a:t> </a:t>
            </a:r>
          </a:p>
          <a:p>
            <a:r>
              <a:rPr lang="en-IN" sz="2000" dirty="0"/>
              <a:t>public class </a:t>
            </a:r>
            <a:r>
              <a:rPr lang="en-IN" sz="2000" dirty="0" err="1"/>
              <a:t>ActionEventExample</a:t>
            </a:r>
            <a:r>
              <a:rPr lang="en-IN" sz="2000" dirty="0"/>
              <a:t> extends Applet implements </a:t>
            </a:r>
            <a:r>
              <a:rPr lang="en-IN" sz="2000" dirty="0" err="1"/>
              <a:t>ActionListener</a:t>
            </a:r>
            <a:endParaRPr lang="en-IN" sz="2000" dirty="0"/>
          </a:p>
          <a:p>
            <a:r>
              <a:rPr lang="en-IN" sz="2000" dirty="0"/>
              <a:t>{</a:t>
            </a:r>
          </a:p>
          <a:p>
            <a:r>
              <a:rPr lang="en-IN" sz="2000" dirty="0"/>
              <a:t>     String </a:t>
            </a:r>
            <a:r>
              <a:rPr lang="en-IN" sz="2000" dirty="0" err="1"/>
              <a:t>actionMessage</a:t>
            </a:r>
            <a:r>
              <a:rPr lang="en-IN" sz="2000" dirty="0"/>
              <a:t>="";</a:t>
            </a:r>
          </a:p>
          <a:p>
            <a:endParaRPr lang="en-IN" sz="1200" dirty="0"/>
          </a:p>
          <a:p>
            <a:r>
              <a:rPr lang="en-IN" sz="2000" dirty="0"/>
              <a:t>       public void init()</a:t>
            </a:r>
          </a:p>
          <a:p>
            <a:r>
              <a:rPr lang="en-IN" sz="2000" dirty="0"/>
              <a:t>       {</a:t>
            </a:r>
          </a:p>
          <a:p>
            <a:r>
              <a:rPr lang="en-IN" sz="2000" dirty="0"/>
              <a:t>                Button Button1 = new Button("Ok");</a:t>
            </a:r>
          </a:p>
          <a:p>
            <a:r>
              <a:rPr lang="en-IN" sz="2000" dirty="0"/>
              <a:t>                Button Button2 = new Button("Cancel");</a:t>
            </a:r>
          </a:p>
          <a:p>
            <a:endParaRPr lang="en-IN" sz="1200" dirty="0"/>
          </a:p>
          <a:p>
            <a:r>
              <a:rPr lang="en-IN" sz="2000" dirty="0"/>
              <a:t>                add(Button1);</a:t>
            </a:r>
          </a:p>
          <a:p>
            <a:r>
              <a:rPr lang="en-IN" sz="2000" dirty="0"/>
              <a:t>                add(Button2);</a:t>
            </a:r>
          </a:p>
          <a:p>
            <a:endParaRPr lang="en-IN" sz="1200" dirty="0"/>
          </a:p>
          <a:p>
            <a:r>
              <a:rPr lang="en-IN" sz="2000" dirty="0"/>
              <a:t>                Button1.addActionListener(this); //Listener Registered</a:t>
            </a:r>
          </a:p>
          <a:p>
            <a:r>
              <a:rPr lang="en-IN" sz="2000" dirty="0"/>
              <a:t>                Button2.addActionListener(this); //Listener Registered</a:t>
            </a:r>
          </a:p>
          <a:p>
            <a:r>
              <a:rPr lang="en-IN" sz="2000" dirty="0"/>
              <a:t>        }</a:t>
            </a:r>
          </a:p>
        </p:txBody>
      </p:sp>
      <p:sp>
        <p:nvSpPr>
          <p:cNvPr id="5" name="Slide Number Placeholder 4"/>
          <p:cNvSpPr>
            <a:spLocks noGrp="1"/>
          </p:cNvSpPr>
          <p:nvPr>
            <p:ph type="sldNum" sz="quarter" idx="12"/>
          </p:nvPr>
        </p:nvSpPr>
        <p:spPr/>
        <p:txBody>
          <a:bodyPr/>
          <a:lstStyle/>
          <a:p>
            <a:fld id="{CABF7EEA-85D2-497E-9C95-F3C1348C26C9}" type="slidenum">
              <a:rPr lang="en-IN" smtClean="0"/>
              <a:pPr/>
              <a:t>29</a:t>
            </a:fld>
            <a:endParaRPr lang="en-I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2976" y="428604"/>
            <a:ext cx="6929486" cy="5632311"/>
          </a:xfrm>
          <a:prstGeom prst="rect">
            <a:avLst/>
          </a:prstGeom>
        </p:spPr>
        <p:txBody>
          <a:bodyPr wrap="square">
            <a:spAutoFit/>
          </a:bodyPr>
          <a:lstStyle/>
          <a:p>
            <a:r>
              <a:rPr lang="en-IN" sz="2000" dirty="0"/>
              <a:t>public void paint(Graphics g)</a:t>
            </a:r>
          </a:p>
          <a:p>
            <a:r>
              <a:rPr lang="en-IN" sz="2000" dirty="0"/>
              <a:t>       {</a:t>
            </a:r>
          </a:p>
          <a:p>
            <a:r>
              <a:rPr lang="en-IN" sz="2000" dirty="0"/>
              <a:t>                </a:t>
            </a:r>
            <a:r>
              <a:rPr lang="en-IN" sz="2000" dirty="0" err="1"/>
              <a:t>g.drawString</a:t>
            </a:r>
            <a:r>
              <a:rPr lang="en-IN" sz="2000" dirty="0"/>
              <a:t>(actionMessage,10,50);</a:t>
            </a:r>
          </a:p>
          <a:p>
            <a:r>
              <a:rPr lang="en-IN" sz="2000" dirty="0"/>
              <a:t>        }</a:t>
            </a:r>
          </a:p>
          <a:p>
            <a:r>
              <a:rPr lang="en-IN" sz="2000" dirty="0"/>
              <a:t> </a:t>
            </a:r>
          </a:p>
          <a:p>
            <a:r>
              <a:rPr lang="en-IN" sz="2000" dirty="0"/>
              <a:t>public void </a:t>
            </a:r>
            <a:r>
              <a:rPr lang="en-IN" sz="2000" dirty="0" err="1"/>
              <a:t>actionPerformed</a:t>
            </a:r>
            <a:r>
              <a:rPr lang="en-IN" sz="2000" dirty="0"/>
              <a:t>(</a:t>
            </a:r>
            <a:r>
              <a:rPr lang="en-IN" sz="2000" dirty="0" err="1"/>
              <a:t>ActionEvent</a:t>
            </a:r>
            <a:r>
              <a:rPr lang="en-IN" sz="2000" dirty="0"/>
              <a:t> </a:t>
            </a:r>
            <a:r>
              <a:rPr lang="en-IN" sz="2000" dirty="0" err="1"/>
              <a:t>ae</a:t>
            </a:r>
            <a:r>
              <a:rPr lang="en-IN" sz="2000" dirty="0"/>
              <a:t>)</a:t>
            </a:r>
          </a:p>
          <a:p>
            <a:r>
              <a:rPr lang="en-IN" sz="2000" dirty="0"/>
              <a:t>        {</a:t>
            </a:r>
          </a:p>
          <a:p>
            <a:r>
              <a:rPr lang="en-IN" sz="2000" dirty="0"/>
              <a:t>                          </a:t>
            </a:r>
          </a:p>
          <a:p>
            <a:r>
              <a:rPr lang="en-IN" sz="2000" dirty="0"/>
              <a:t>                String action = </a:t>
            </a:r>
            <a:r>
              <a:rPr lang="en-IN" sz="2000" dirty="0" err="1"/>
              <a:t>ae.getActionCommand</a:t>
            </a:r>
            <a:r>
              <a:rPr lang="en-IN" sz="2000" dirty="0"/>
              <a:t>();</a:t>
            </a:r>
          </a:p>
          <a:p>
            <a:r>
              <a:rPr lang="en-IN" sz="2000" dirty="0"/>
              <a:t>               </a:t>
            </a:r>
          </a:p>
          <a:p>
            <a:r>
              <a:rPr lang="en-IN" sz="2000" dirty="0"/>
              <a:t>                if(</a:t>
            </a:r>
            <a:r>
              <a:rPr lang="en-IN" sz="2000" dirty="0" err="1"/>
              <a:t>action.equals</a:t>
            </a:r>
            <a:r>
              <a:rPr lang="en-IN" sz="2000" dirty="0"/>
              <a:t>("Ok"))</a:t>
            </a:r>
          </a:p>
          <a:p>
            <a:r>
              <a:rPr lang="en-IN" sz="2000" dirty="0"/>
              <a:t>                        </a:t>
            </a:r>
            <a:r>
              <a:rPr lang="en-IN" sz="2000" dirty="0" err="1"/>
              <a:t>actionMessage</a:t>
            </a:r>
            <a:r>
              <a:rPr lang="en-IN" sz="2000" dirty="0"/>
              <a:t> = "Ok Button Pressed";</a:t>
            </a:r>
          </a:p>
          <a:p>
            <a:r>
              <a:rPr lang="en-IN" sz="2000" dirty="0"/>
              <a:t>                else if(</a:t>
            </a:r>
            <a:r>
              <a:rPr lang="en-IN" sz="2000" dirty="0" err="1"/>
              <a:t>action.equals</a:t>
            </a:r>
            <a:r>
              <a:rPr lang="en-IN" sz="2000" dirty="0"/>
              <a:t>("Cancel"))</a:t>
            </a:r>
          </a:p>
          <a:p>
            <a:r>
              <a:rPr lang="en-IN" sz="2000" dirty="0"/>
              <a:t>                        </a:t>
            </a:r>
            <a:r>
              <a:rPr lang="en-IN" sz="2000" dirty="0" err="1"/>
              <a:t>actionMessage</a:t>
            </a:r>
            <a:r>
              <a:rPr lang="en-IN" sz="2000" dirty="0"/>
              <a:t> = "Cancel Button Pressed";</a:t>
            </a:r>
          </a:p>
          <a:p>
            <a:r>
              <a:rPr lang="en-IN" sz="2000" dirty="0"/>
              <a:t>               </a:t>
            </a:r>
          </a:p>
          <a:p>
            <a:r>
              <a:rPr lang="en-IN" sz="2000" dirty="0"/>
              <a:t>                repaint();</a:t>
            </a:r>
          </a:p>
          <a:p>
            <a:r>
              <a:rPr lang="en-IN" sz="2000" dirty="0"/>
              <a:t>        }</a:t>
            </a:r>
          </a:p>
          <a:p>
            <a:r>
              <a:rPr lang="en-IN" sz="2000" dirty="0"/>
              <a:t>}</a:t>
            </a:r>
          </a:p>
        </p:txBody>
      </p:sp>
      <p:sp>
        <p:nvSpPr>
          <p:cNvPr id="5" name="Slide Number Placeholder 4"/>
          <p:cNvSpPr>
            <a:spLocks noGrp="1"/>
          </p:cNvSpPr>
          <p:nvPr>
            <p:ph type="sldNum" sz="quarter" idx="12"/>
          </p:nvPr>
        </p:nvSpPr>
        <p:spPr/>
        <p:txBody>
          <a:bodyPr/>
          <a:lstStyle/>
          <a:p>
            <a:fld id="{CABF7EEA-85D2-497E-9C95-F3C1348C26C9}" type="slidenum">
              <a:rPr lang="en-IN" smtClean="0"/>
              <a:pPr/>
              <a:t>30</a:t>
            </a:fld>
            <a:endParaRPr lang="en-I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c861135.r35.cf2.rackcdn.com/HandleActionEventExample.jpg"/>
          <p:cNvPicPr>
            <a:picLocks noChangeAspect="1" noChangeArrowheads="1"/>
          </p:cNvPicPr>
          <p:nvPr/>
        </p:nvPicPr>
        <p:blipFill>
          <a:blip r:embed="rId2"/>
          <a:srcRect/>
          <a:stretch>
            <a:fillRect/>
          </a:stretch>
        </p:blipFill>
        <p:spPr bwMode="auto">
          <a:xfrm>
            <a:off x="1857356" y="785794"/>
            <a:ext cx="5643602" cy="5500726"/>
          </a:xfrm>
          <a:prstGeom prst="rect">
            <a:avLst/>
          </a:prstGeom>
          <a:noFill/>
        </p:spPr>
      </p:pic>
      <p:sp>
        <p:nvSpPr>
          <p:cNvPr id="4" name="Slide Number Placeholder 3"/>
          <p:cNvSpPr>
            <a:spLocks noGrp="1"/>
          </p:cNvSpPr>
          <p:nvPr>
            <p:ph type="sldNum" sz="quarter" idx="12"/>
          </p:nvPr>
        </p:nvSpPr>
        <p:spPr/>
        <p:txBody>
          <a:bodyPr/>
          <a:lstStyle/>
          <a:p>
            <a:fld id="{CABF7EEA-85D2-497E-9C95-F3C1348C26C9}" type="slidenum">
              <a:rPr lang="en-IN" smtClean="0"/>
              <a:pPr/>
              <a:t>31</a:t>
            </a:fld>
            <a:endParaRPr lang="en-I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277813"/>
            <a:ext cx="8229600" cy="636587"/>
          </a:xfrm>
        </p:spPr>
        <p:txBody>
          <a:bodyPr>
            <a:normAutofit fontScale="90000"/>
          </a:bodyPr>
          <a:lstStyle/>
          <a:p>
            <a:r>
              <a:rPr lang="en-US" sz="3800" b="1"/>
              <a:t>ComponentEvent class</a:t>
            </a:r>
            <a:endParaRPr lang="en-US" sz="3800"/>
          </a:p>
        </p:txBody>
      </p:sp>
      <p:sp>
        <p:nvSpPr>
          <p:cNvPr id="37891" name="Rectangle 3"/>
          <p:cNvSpPr>
            <a:spLocks noGrp="1" noChangeArrowheads="1"/>
          </p:cNvSpPr>
          <p:nvPr>
            <p:ph type="body" idx="1"/>
          </p:nvPr>
        </p:nvSpPr>
        <p:spPr>
          <a:xfrm>
            <a:off x="304800" y="1066800"/>
            <a:ext cx="8659688" cy="5410200"/>
          </a:xfrm>
        </p:spPr>
        <p:txBody>
          <a:bodyPr>
            <a:normAutofit/>
          </a:bodyPr>
          <a:lstStyle/>
          <a:p>
            <a:r>
              <a:rPr lang="en-US" sz="2800" b="1" dirty="0"/>
              <a:t>A low-level event which indicates that a component moved, changed size, or changed visibility.</a:t>
            </a:r>
          </a:p>
          <a:p>
            <a:r>
              <a:rPr lang="en-US" sz="2400" dirty="0"/>
              <a:t>This class has  following </a:t>
            </a:r>
            <a:r>
              <a:rPr lang="en-US" sz="2400" b="1" dirty="0"/>
              <a:t>constants.</a:t>
            </a:r>
          </a:p>
          <a:p>
            <a:r>
              <a:rPr lang="en-US" sz="2400" b="1" dirty="0"/>
              <a:t>public static final </a:t>
            </a:r>
            <a:r>
              <a:rPr lang="en-US" sz="2400" b="1" dirty="0" err="1"/>
              <a:t>int</a:t>
            </a:r>
            <a:r>
              <a:rPr lang="en-US" sz="2400" b="1" dirty="0"/>
              <a:t> COMPONENT_MOVED</a:t>
            </a:r>
            <a:endParaRPr lang="en-US" sz="2400" dirty="0"/>
          </a:p>
          <a:p>
            <a:pPr lvl="1"/>
            <a:r>
              <a:rPr lang="en-US" sz="2400" dirty="0"/>
              <a:t>This event indicates that the component's position changed. </a:t>
            </a:r>
            <a:endParaRPr lang="en-US" sz="2400" b="1" dirty="0"/>
          </a:p>
          <a:p>
            <a:r>
              <a:rPr lang="en-US" sz="2400" b="1" dirty="0"/>
              <a:t>public static final </a:t>
            </a:r>
            <a:r>
              <a:rPr lang="en-US" sz="2400" b="1" dirty="0" err="1"/>
              <a:t>int</a:t>
            </a:r>
            <a:r>
              <a:rPr lang="en-US" sz="2400" b="1" dirty="0"/>
              <a:t> COMPONENT_RESIZED</a:t>
            </a:r>
            <a:endParaRPr lang="en-US" sz="2400" dirty="0"/>
          </a:p>
          <a:p>
            <a:pPr lvl="1"/>
            <a:r>
              <a:rPr lang="en-US" sz="2400" dirty="0"/>
              <a:t>This event indicates that the component's size changed. </a:t>
            </a:r>
            <a:endParaRPr lang="en-US" sz="2400" b="1" dirty="0"/>
          </a:p>
          <a:p>
            <a:r>
              <a:rPr lang="en-US" sz="2400" b="1" dirty="0"/>
              <a:t>public static final </a:t>
            </a:r>
            <a:r>
              <a:rPr lang="en-US" sz="2400" b="1" dirty="0" err="1"/>
              <a:t>int</a:t>
            </a:r>
            <a:r>
              <a:rPr lang="en-US" sz="2400" b="1" dirty="0"/>
              <a:t> COMPONENT_SHOWN</a:t>
            </a:r>
            <a:endParaRPr lang="en-US" sz="2400" dirty="0"/>
          </a:p>
          <a:p>
            <a:pPr lvl="1"/>
            <a:r>
              <a:rPr lang="en-US" sz="2400" dirty="0"/>
              <a:t>This event indicates that the component was made visible. </a:t>
            </a:r>
            <a:endParaRPr lang="en-US" sz="2400" b="1" dirty="0"/>
          </a:p>
          <a:p>
            <a:r>
              <a:rPr lang="en-US" sz="2400" b="1" dirty="0"/>
              <a:t>public static final </a:t>
            </a:r>
            <a:r>
              <a:rPr lang="en-US" sz="2400" b="1" dirty="0" err="1"/>
              <a:t>int</a:t>
            </a:r>
            <a:r>
              <a:rPr lang="en-US" sz="2400" b="1" dirty="0"/>
              <a:t> COMPONENT_HIDDEN</a:t>
            </a:r>
            <a:endParaRPr lang="en-US" sz="2400" dirty="0"/>
          </a:p>
          <a:p>
            <a:pPr lvl="1"/>
            <a:r>
              <a:rPr lang="en-US" sz="2400" dirty="0"/>
              <a:t>This event indicates that the component was become invisible.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32</a:t>
            </a:fld>
            <a:endParaRPr lang="en-I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type="body" idx="1"/>
          </p:nvPr>
        </p:nvSpPr>
        <p:spPr>
          <a:xfrm>
            <a:off x="228600" y="533400"/>
            <a:ext cx="8686800" cy="5867400"/>
          </a:xfrm>
        </p:spPr>
        <p:txBody>
          <a:bodyPr/>
          <a:lstStyle/>
          <a:p>
            <a:r>
              <a:rPr lang="en-US" sz="2600" b="1" dirty="0"/>
              <a:t>public </a:t>
            </a:r>
            <a:r>
              <a:rPr lang="en-US" sz="2600" b="1" dirty="0" err="1"/>
              <a:t>ComponentEvent</a:t>
            </a:r>
            <a:r>
              <a:rPr lang="en-US" sz="2600" b="1" dirty="0"/>
              <a:t>(Component  source, </a:t>
            </a:r>
            <a:r>
              <a:rPr lang="en-US" sz="2600" b="1" dirty="0" err="1"/>
              <a:t>int</a:t>
            </a:r>
            <a:r>
              <a:rPr lang="en-US" sz="2600" b="1" dirty="0"/>
              <a:t> id)</a:t>
            </a:r>
            <a:endParaRPr lang="en-US" sz="2600" dirty="0"/>
          </a:p>
          <a:p>
            <a:pPr lvl="1"/>
            <a:r>
              <a:rPr lang="en-US" dirty="0"/>
              <a:t>Constructs a </a:t>
            </a:r>
            <a:r>
              <a:rPr lang="en-US" dirty="0" err="1"/>
              <a:t>ComponentEvent</a:t>
            </a:r>
            <a:r>
              <a:rPr lang="en-US" dirty="0"/>
              <a:t> object. </a:t>
            </a:r>
            <a:endParaRPr lang="en-US" b="1" dirty="0"/>
          </a:p>
          <a:p>
            <a:pPr marL="457200" lvl="1" indent="0">
              <a:buNone/>
            </a:pPr>
            <a:r>
              <a:rPr lang="en-US" b="1" dirty="0"/>
              <a:t>Parameters:</a:t>
            </a:r>
            <a:r>
              <a:rPr lang="en-US" dirty="0"/>
              <a:t> </a:t>
            </a:r>
          </a:p>
          <a:p>
            <a:pPr lvl="1"/>
            <a:r>
              <a:rPr lang="en-US" b="1" dirty="0"/>
              <a:t>source</a:t>
            </a:r>
            <a:r>
              <a:rPr lang="en-US" dirty="0"/>
              <a:t> - the Component that originated the event </a:t>
            </a:r>
          </a:p>
          <a:p>
            <a:pPr lvl="1"/>
            <a:r>
              <a:rPr lang="en-US" b="1" dirty="0"/>
              <a:t>id</a:t>
            </a:r>
            <a:r>
              <a:rPr lang="en-US" dirty="0"/>
              <a:t> - an integer indicating the type of event </a:t>
            </a:r>
          </a:p>
          <a:p>
            <a:pPr lvl="1">
              <a:buFont typeface="Wingdings" pitchFamily="2" charset="2"/>
              <a:buNone/>
            </a:pPr>
            <a:endParaRPr lang="en-US" b="1" dirty="0"/>
          </a:p>
          <a:p>
            <a:r>
              <a:rPr lang="en-US" sz="2600" b="1" dirty="0"/>
              <a:t>Component  </a:t>
            </a:r>
            <a:r>
              <a:rPr lang="en-US" sz="2600" b="1" dirty="0" err="1"/>
              <a:t>getComponent</a:t>
            </a:r>
            <a:r>
              <a:rPr lang="en-US" sz="2600" b="1" dirty="0"/>
              <a:t>()</a:t>
            </a:r>
            <a:endParaRPr lang="en-US" sz="2600" dirty="0"/>
          </a:p>
          <a:p>
            <a:pPr lvl="1"/>
            <a:r>
              <a:rPr lang="en-US" dirty="0"/>
              <a:t>Returns the creator of the event. </a:t>
            </a:r>
            <a:endParaRPr lang="en-US" b="1" dirty="0"/>
          </a:p>
          <a:p>
            <a:pPr lvl="1"/>
            <a:r>
              <a:rPr lang="en-US" dirty="0"/>
              <a:t>the Component object that originated the event, or null if the object is not a Component.</a:t>
            </a:r>
          </a:p>
        </p:txBody>
      </p:sp>
      <p:sp>
        <p:nvSpPr>
          <p:cNvPr id="4" name="Slide Number Placeholder 3"/>
          <p:cNvSpPr>
            <a:spLocks noGrp="1"/>
          </p:cNvSpPr>
          <p:nvPr>
            <p:ph type="sldNum" sz="quarter" idx="12"/>
          </p:nvPr>
        </p:nvSpPr>
        <p:spPr/>
        <p:txBody>
          <a:bodyPr/>
          <a:lstStyle/>
          <a:p>
            <a:fld id="{CABF7EEA-85D2-497E-9C95-F3C1348C26C9}" type="slidenum">
              <a:rPr lang="en-IN" smtClean="0"/>
              <a:pPr/>
              <a:t>33</a:t>
            </a:fld>
            <a:endParaRPr lang="en-I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277813"/>
            <a:ext cx="8229600" cy="636587"/>
          </a:xfrm>
        </p:spPr>
        <p:txBody>
          <a:bodyPr>
            <a:normAutofit fontScale="90000"/>
          </a:bodyPr>
          <a:lstStyle/>
          <a:p>
            <a:r>
              <a:rPr lang="en-US" sz="3800" b="1"/>
              <a:t>ComponentLIstener interface</a:t>
            </a:r>
            <a:r>
              <a:rPr lang="en-US" sz="3800"/>
              <a:t> </a:t>
            </a:r>
          </a:p>
        </p:txBody>
      </p:sp>
      <p:sp>
        <p:nvSpPr>
          <p:cNvPr id="39939" name="Rectangle 3"/>
          <p:cNvSpPr>
            <a:spLocks noGrp="1" noChangeArrowheads="1"/>
          </p:cNvSpPr>
          <p:nvPr>
            <p:ph type="body" idx="1"/>
          </p:nvPr>
        </p:nvSpPr>
        <p:spPr>
          <a:xfrm>
            <a:off x="228600" y="1143000"/>
            <a:ext cx="8686800" cy="5410200"/>
          </a:xfrm>
        </p:spPr>
        <p:txBody>
          <a:bodyPr/>
          <a:lstStyle/>
          <a:p>
            <a:pPr>
              <a:lnSpc>
                <a:spcPct val="90000"/>
              </a:lnSpc>
            </a:pPr>
            <a:r>
              <a:rPr lang="en-US" dirty="0"/>
              <a:t>The listener interface for receiving component events.</a:t>
            </a:r>
            <a:endParaRPr lang="en-US" b="1" dirty="0"/>
          </a:p>
          <a:p>
            <a:pPr>
              <a:lnSpc>
                <a:spcPct val="90000"/>
              </a:lnSpc>
            </a:pPr>
            <a:r>
              <a:rPr lang="en-US" b="1" dirty="0"/>
              <a:t>void </a:t>
            </a:r>
            <a:r>
              <a:rPr lang="en-US" b="1" dirty="0" err="1"/>
              <a:t>componentResized</a:t>
            </a:r>
            <a:r>
              <a:rPr lang="en-US" b="1" dirty="0"/>
              <a:t>(</a:t>
            </a:r>
            <a:r>
              <a:rPr lang="en-US" b="1" dirty="0" err="1"/>
              <a:t>ComponentEvent</a:t>
            </a:r>
            <a:r>
              <a:rPr lang="en-US" b="1" dirty="0"/>
              <a:t> e)</a:t>
            </a:r>
            <a:endParaRPr lang="en-US" dirty="0"/>
          </a:p>
          <a:p>
            <a:pPr lvl="1">
              <a:lnSpc>
                <a:spcPct val="90000"/>
              </a:lnSpc>
            </a:pPr>
            <a:r>
              <a:rPr lang="en-US" dirty="0"/>
              <a:t>Invoked when the component's size changes. </a:t>
            </a:r>
            <a:endParaRPr lang="en-US" b="1" dirty="0"/>
          </a:p>
          <a:p>
            <a:pPr>
              <a:lnSpc>
                <a:spcPct val="90000"/>
              </a:lnSpc>
            </a:pPr>
            <a:r>
              <a:rPr lang="en-US" b="1" dirty="0"/>
              <a:t>void </a:t>
            </a:r>
            <a:r>
              <a:rPr lang="en-US" b="1" dirty="0" err="1"/>
              <a:t>componentMoved</a:t>
            </a:r>
            <a:r>
              <a:rPr lang="en-US" b="1" dirty="0"/>
              <a:t>(</a:t>
            </a:r>
            <a:r>
              <a:rPr lang="en-US" b="1" dirty="0" err="1"/>
              <a:t>ComponentEvent</a:t>
            </a:r>
            <a:r>
              <a:rPr lang="en-US" b="1" dirty="0"/>
              <a:t> e)</a:t>
            </a:r>
            <a:endParaRPr lang="en-US" dirty="0"/>
          </a:p>
          <a:p>
            <a:pPr lvl="1">
              <a:lnSpc>
                <a:spcPct val="90000"/>
              </a:lnSpc>
            </a:pPr>
            <a:r>
              <a:rPr lang="en-US" dirty="0"/>
              <a:t>Invoked when the component's position changes</a:t>
            </a:r>
            <a:endParaRPr lang="en-US" b="1" dirty="0"/>
          </a:p>
          <a:p>
            <a:pPr>
              <a:lnSpc>
                <a:spcPct val="90000"/>
              </a:lnSpc>
            </a:pPr>
            <a:r>
              <a:rPr lang="en-US" b="1" dirty="0"/>
              <a:t>void </a:t>
            </a:r>
            <a:r>
              <a:rPr lang="en-US" b="1" dirty="0" err="1"/>
              <a:t>componentShown</a:t>
            </a:r>
            <a:r>
              <a:rPr lang="en-US" b="1" dirty="0"/>
              <a:t>(</a:t>
            </a:r>
            <a:r>
              <a:rPr lang="en-US" b="1" dirty="0" err="1"/>
              <a:t>ComponentEvent</a:t>
            </a:r>
            <a:r>
              <a:rPr lang="en-US" b="1" dirty="0"/>
              <a:t> e)</a:t>
            </a:r>
            <a:endParaRPr lang="en-US" dirty="0"/>
          </a:p>
          <a:p>
            <a:pPr lvl="1">
              <a:lnSpc>
                <a:spcPct val="90000"/>
              </a:lnSpc>
            </a:pPr>
            <a:r>
              <a:rPr lang="en-US" dirty="0"/>
              <a:t>Invoked when the component has been made visible. </a:t>
            </a:r>
            <a:endParaRPr lang="en-US" b="1" dirty="0"/>
          </a:p>
          <a:p>
            <a:pPr>
              <a:lnSpc>
                <a:spcPct val="90000"/>
              </a:lnSpc>
            </a:pPr>
            <a:r>
              <a:rPr lang="en-US" b="1" dirty="0"/>
              <a:t>void </a:t>
            </a:r>
            <a:r>
              <a:rPr lang="en-US" b="1" dirty="0" err="1"/>
              <a:t>componentHidden</a:t>
            </a:r>
            <a:r>
              <a:rPr lang="en-US" b="1" dirty="0"/>
              <a:t>(</a:t>
            </a:r>
            <a:r>
              <a:rPr lang="en-US" b="1" dirty="0" err="1"/>
              <a:t>ComponentEvent</a:t>
            </a:r>
            <a:r>
              <a:rPr lang="en-US" b="1" dirty="0"/>
              <a:t> e)</a:t>
            </a:r>
            <a:endParaRPr lang="en-US" dirty="0"/>
          </a:p>
          <a:p>
            <a:pPr lvl="1">
              <a:lnSpc>
                <a:spcPct val="90000"/>
              </a:lnSpc>
            </a:pPr>
            <a:r>
              <a:rPr lang="en-US" dirty="0"/>
              <a:t>Invoked when the component has been made invisible.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34</a:t>
            </a:fld>
            <a:endParaRPr lang="en-I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358246" cy="6432530"/>
          </a:xfrm>
          <a:prstGeom prst="rect">
            <a:avLst/>
          </a:prstGeom>
        </p:spPr>
        <p:txBody>
          <a:bodyPr wrap="square">
            <a:spAutoFit/>
          </a:bodyPr>
          <a:lstStyle/>
          <a:p>
            <a:r>
              <a:rPr lang="en-IN" sz="2000" dirty="0"/>
              <a:t>import java.awt.*;</a:t>
            </a:r>
          </a:p>
          <a:p>
            <a:r>
              <a:rPr lang="en-IN" sz="2000" dirty="0"/>
              <a:t>import java.awt.event.*;</a:t>
            </a:r>
          </a:p>
          <a:p>
            <a:r>
              <a:rPr lang="en-IN" sz="2000" dirty="0"/>
              <a:t>import </a:t>
            </a:r>
            <a:r>
              <a:rPr lang="en-IN" sz="2000" dirty="0" err="1"/>
              <a:t>javax.swing</a:t>
            </a:r>
            <a:r>
              <a:rPr lang="en-IN" sz="2000" dirty="0"/>
              <a:t>.*;</a:t>
            </a:r>
          </a:p>
          <a:p>
            <a:endParaRPr lang="en-IN" sz="1200" dirty="0"/>
          </a:p>
          <a:p>
            <a:r>
              <a:rPr lang="en-IN" sz="2000" dirty="0"/>
              <a:t>public class ComponentEventExample1 </a:t>
            </a:r>
          </a:p>
          <a:p>
            <a:r>
              <a:rPr lang="en-IN" sz="2000" dirty="0"/>
              <a:t>{</a:t>
            </a:r>
          </a:p>
          <a:p>
            <a:r>
              <a:rPr lang="en-IN" sz="2000" dirty="0"/>
              <a:t>  public static void main(String[] args) </a:t>
            </a:r>
          </a:p>
          <a:p>
            <a:r>
              <a:rPr lang="en-IN" sz="2000" dirty="0"/>
              <a:t>  {</a:t>
            </a:r>
          </a:p>
          <a:p>
            <a:r>
              <a:rPr lang="en-IN" sz="2000" dirty="0"/>
              <a:t>      JFrame frame = new JFrame("ComponentEventExample");</a:t>
            </a:r>
          </a:p>
          <a:p>
            <a:r>
              <a:rPr lang="en-IN" sz="2000" dirty="0"/>
              <a:t>      frame.setDefaultCloseOperation(JFrame.EXIT_ON_CLOSE);</a:t>
            </a:r>
          </a:p>
          <a:p>
            <a:r>
              <a:rPr lang="en-IN" sz="2000" dirty="0"/>
              <a:t>      TextArea txtArea = new TextArea();</a:t>
            </a:r>
          </a:p>
          <a:p>
            <a:r>
              <a:rPr lang="en-IN" sz="2000" dirty="0"/>
              <a:t>      Checkbox checkbox1 = new Checkbox("Checkbox 1");</a:t>
            </a:r>
          </a:p>
          <a:p>
            <a:r>
              <a:rPr lang="en-IN" sz="2000" dirty="0"/>
              <a:t>      Checkbox checkbox2 = new Checkbox("Checkbox 2");</a:t>
            </a:r>
          </a:p>
          <a:p>
            <a:r>
              <a:rPr lang="en-IN" sz="2000" dirty="0"/>
              <a:t>      frame.add(txtArea, BorderLayout.CENTER);</a:t>
            </a:r>
          </a:p>
          <a:p>
            <a:r>
              <a:rPr lang="en-IN" sz="2000" dirty="0"/>
              <a:t>      frame.add(checkbox1, BorderLayout.NORTH);</a:t>
            </a:r>
          </a:p>
          <a:p>
            <a:r>
              <a:rPr lang="en-IN" sz="2000" dirty="0"/>
              <a:t>      frame.add(checkbox2, BorderLayout.SOUTH);</a:t>
            </a:r>
          </a:p>
          <a:p>
            <a:r>
              <a:rPr lang="en-IN" sz="2000" dirty="0"/>
              <a:t>      frame.setVisible(true);</a:t>
            </a:r>
          </a:p>
          <a:p>
            <a:r>
              <a:rPr lang="en-IN" sz="2000" dirty="0"/>
              <a:t>      ComponentListener componentListener = new </a:t>
            </a:r>
            <a:r>
              <a:rPr lang="en-IN" sz="2000" dirty="0" err="1"/>
              <a:t>MyCompList</a:t>
            </a:r>
            <a:r>
              <a:rPr lang="en-IN" sz="2000" dirty="0"/>
              <a:t>();</a:t>
            </a:r>
          </a:p>
          <a:p>
            <a:r>
              <a:rPr lang="en-IN" sz="2000" dirty="0"/>
              <a:t>      frame.addComponentListener(componentListener);</a:t>
            </a:r>
          </a:p>
          <a:p>
            <a:r>
              <a:rPr lang="en-IN" sz="2000" dirty="0"/>
              <a:t>  }</a:t>
            </a:r>
          </a:p>
          <a:p>
            <a:r>
              <a:rPr lang="en-IN" sz="2000" dirty="0"/>
              <a:t>}</a:t>
            </a:r>
          </a:p>
        </p:txBody>
      </p:sp>
      <p:sp>
        <p:nvSpPr>
          <p:cNvPr id="5" name="Slide Number Placeholder 4"/>
          <p:cNvSpPr>
            <a:spLocks noGrp="1"/>
          </p:cNvSpPr>
          <p:nvPr>
            <p:ph type="sldNum" sz="quarter" idx="12"/>
          </p:nvPr>
        </p:nvSpPr>
        <p:spPr/>
        <p:txBody>
          <a:bodyPr/>
          <a:lstStyle/>
          <a:p>
            <a:fld id="{CABF7EEA-85D2-497E-9C95-F3C1348C26C9}" type="slidenum">
              <a:rPr lang="en-IN" smtClean="0"/>
              <a:pPr/>
              <a:t>35</a:t>
            </a:fld>
            <a:endParaRPr lang="en-I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85852" y="149625"/>
            <a:ext cx="7500990" cy="6494085"/>
          </a:xfrm>
          <a:prstGeom prst="rect">
            <a:avLst/>
          </a:prstGeom>
        </p:spPr>
        <p:txBody>
          <a:bodyPr wrap="square">
            <a:spAutoFit/>
          </a:bodyPr>
          <a:lstStyle/>
          <a:p>
            <a:r>
              <a:rPr lang="en-IN" sz="2000" dirty="0"/>
              <a:t>class </a:t>
            </a:r>
            <a:r>
              <a:rPr lang="en-IN" sz="2000" dirty="0" err="1"/>
              <a:t>MyCompList</a:t>
            </a:r>
            <a:r>
              <a:rPr lang="en-IN" sz="2000" dirty="0"/>
              <a:t> implements ComponentListener </a:t>
            </a:r>
          </a:p>
          <a:p>
            <a:r>
              <a:rPr lang="en-IN" sz="2000" dirty="0"/>
              <a:t>{</a:t>
            </a:r>
          </a:p>
          <a:p>
            <a:r>
              <a:rPr lang="en-IN" sz="2000" dirty="0"/>
              <a:t>    public void componentShown(ComponentEvent evt) </a:t>
            </a:r>
          </a:p>
          <a:p>
            <a:r>
              <a:rPr lang="en-IN" sz="2000" dirty="0"/>
              <a:t>    {</a:t>
            </a:r>
          </a:p>
          <a:p>
            <a:r>
              <a:rPr lang="en-IN" sz="2000" dirty="0"/>
              <a:t>        System.out.println("componentShown");</a:t>
            </a:r>
          </a:p>
          <a:p>
            <a:r>
              <a:rPr lang="en-IN" sz="2000" dirty="0"/>
              <a:t>    }</a:t>
            </a:r>
          </a:p>
          <a:p>
            <a:endParaRPr lang="en-IN" sz="1200" dirty="0"/>
          </a:p>
          <a:p>
            <a:r>
              <a:rPr lang="en-IN" sz="2000" dirty="0"/>
              <a:t>    public void componentHidden(ComponentEvent evt) </a:t>
            </a:r>
          </a:p>
          <a:p>
            <a:r>
              <a:rPr lang="en-IN" sz="2000" dirty="0"/>
              <a:t>    {</a:t>
            </a:r>
          </a:p>
          <a:p>
            <a:r>
              <a:rPr lang="en-IN" sz="2000" dirty="0"/>
              <a:t>         System.out.println("componentHidden");</a:t>
            </a:r>
          </a:p>
          <a:p>
            <a:r>
              <a:rPr lang="en-IN" sz="2000" dirty="0"/>
              <a:t>     }</a:t>
            </a:r>
          </a:p>
          <a:p>
            <a:endParaRPr lang="en-IN" sz="1200" dirty="0"/>
          </a:p>
          <a:p>
            <a:r>
              <a:rPr lang="en-IN" sz="2000" dirty="0"/>
              <a:t>    public void componentMoved(ComponentEvent evt) </a:t>
            </a:r>
          </a:p>
          <a:p>
            <a:r>
              <a:rPr lang="en-IN" sz="2000" dirty="0"/>
              <a:t>    {</a:t>
            </a:r>
          </a:p>
          <a:p>
            <a:r>
              <a:rPr lang="en-IN" sz="2000" dirty="0"/>
              <a:t>         System.out.println("componentMoved");</a:t>
            </a:r>
          </a:p>
          <a:p>
            <a:r>
              <a:rPr lang="en-IN" sz="2000" dirty="0"/>
              <a:t>    }</a:t>
            </a:r>
          </a:p>
          <a:p>
            <a:endParaRPr lang="en-IN" sz="1200" dirty="0"/>
          </a:p>
          <a:p>
            <a:r>
              <a:rPr lang="en-IN" sz="2000" dirty="0"/>
              <a:t>     public void componentResized(ComponentEvent evt) </a:t>
            </a:r>
          </a:p>
          <a:p>
            <a:r>
              <a:rPr lang="en-IN" sz="2000" dirty="0"/>
              <a:t>     {</a:t>
            </a:r>
          </a:p>
          <a:p>
            <a:r>
              <a:rPr lang="en-IN" sz="2000" dirty="0"/>
              <a:t>          System.out.println("componentResized");</a:t>
            </a:r>
          </a:p>
          <a:p>
            <a:r>
              <a:rPr lang="en-IN" sz="2000" dirty="0"/>
              <a:t>     }</a:t>
            </a:r>
          </a:p>
          <a:p>
            <a:r>
              <a:rPr lang="en-IN" sz="2000" dirty="0"/>
              <a:t>}</a:t>
            </a:r>
          </a:p>
        </p:txBody>
      </p:sp>
      <p:sp>
        <p:nvSpPr>
          <p:cNvPr id="5" name="Slide Number Placeholder 4"/>
          <p:cNvSpPr>
            <a:spLocks noGrp="1"/>
          </p:cNvSpPr>
          <p:nvPr>
            <p:ph type="sldNum" sz="quarter" idx="12"/>
          </p:nvPr>
        </p:nvSpPr>
        <p:spPr/>
        <p:txBody>
          <a:bodyPr/>
          <a:lstStyle/>
          <a:p>
            <a:fld id="{CABF7EEA-85D2-497E-9C95-F3C1348C26C9}" type="slidenum">
              <a:rPr lang="en-IN" smtClean="0"/>
              <a:pPr/>
              <a:t>36</a:t>
            </a:fld>
            <a:endParaRPr lang="en-I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ABF7EEA-85D2-497E-9C95-F3C1348C26C9}" type="slidenum">
              <a:rPr lang="en-IN" smtClean="0"/>
              <a:pPr/>
              <a:t>37</a:t>
            </a:fld>
            <a:endParaRPr lang="en-IN"/>
          </a:p>
        </p:txBody>
      </p:sp>
      <p:pic>
        <p:nvPicPr>
          <p:cNvPr id="2" name="Picture 1"/>
          <p:cNvPicPr>
            <a:picLocks noChangeAspect="1"/>
          </p:cNvPicPr>
          <p:nvPr/>
        </p:nvPicPr>
        <p:blipFill>
          <a:blip r:embed="rId2"/>
          <a:stretch>
            <a:fillRect/>
          </a:stretch>
        </p:blipFill>
        <p:spPr>
          <a:xfrm>
            <a:off x="539552" y="116632"/>
            <a:ext cx="8424936" cy="6239718"/>
          </a:xfrm>
          <a:prstGeom prst="rect">
            <a:avLst/>
          </a:prstGeom>
        </p:spPr>
      </p:pic>
      <p:pic>
        <p:nvPicPr>
          <p:cNvPr id="37891" name="Picture 3"/>
          <p:cNvPicPr>
            <a:picLocks noChangeAspect="1" noChangeArrowheads="1"/>
          </p:cNvPicPr>
          <p:nvPr/>
        </p:nvPicPr>
        <p:blipFill>
          <a:blip r:embed="rId3"/>
          <a:srcRect/>
          <a:stretch>
            <a:fillRect/>
          </a:stretch>
        </p:blipFill>
        <p:spPr bwMode="auto">
          <a:xfrm>
            <a:off x="2915816" y="1824005"/>
            <a:ext cx="5048255" cy="3143272"/>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277813"/>
            <a:ext cx="8229600" cy="636587"/>
          </a:xfrm>
        </p:spPr>
        <p:txBody>
          <a:bodyPr>
            <a:normAutofit fontScale="90000"/>
          </a:bodyPr>
          <a:lstStyle/>
          <a:p>
            <a:r>
              <a:rPr lang="en-US" sz="3800" b="1"/>
              <a:t>ContainerEvent class</a:t>
            </a:r>
            <a:r>
              <a:rPr lang="en-US" sz="3800"/>
              <a:t> </a:t>
            </a:r>
          </a:p>
        </p:txBody>
      </p:sp>
      <p:sp>
        <p:nvSpPr>
          <p:cNvPr id="40963" name="Rectangle 3"/>
          <p:cNvSpPr>
            <a:spLocks noGrp="1" noChangeArrowheads="1"/>
          </p:cNvSpPr>
          <p:nvPr>
            <p:ph type="body" idx="1"/>
          </p:nvPr>
        </p:nvSpPr>
        <p:spPr>
          <a:xfrm>
            <a:off x="457200" y="1143000"/>
            <a:ext cx="8229600" cy="5257800"/>
          </a:xfrm>
        </p:spPr>
        <p:txBody>
          <a:bodyPr/>
          <a:lstStyle/>
          <a:p>
            <a:pPr algn="just"/>
            <a:r>
              <a:rPr lang="en-US" sz="2600" b="1" dirty="0"/>
              <a:t>A low-level event which indicates that a container's contents changed because a component was added or removed</a:t>
            </a:r>
          </a:p>
          <a:p>
            <a:pPr algn="just"/>
            <a:r>
              <a:rPr lang="en-US" sz="2600" dirty="0"/>
              <a:t>This class has following constants.</a:t>
            </a:r>
            <a:endParaRPr lang="en-US" sz="2600" b="1" dirty="0"/>
          </a:p>
          <a:p>
            <a:pPr algn="just"/>
            <a:r>
              <a:rPr lang="en-US" sz="2600" b="1" dirty="0"/>
              <a:t>public static final </a:t>
            </a:r>
            <a:r>
              <a:rPr lang="en-US" sz="2600" b="1" dirty="0" err="1"/>
              <a:t>int</a:t>
            </a:r>
            <a:r>
              <a:rPr lang="en-US" sz="2600" b="1" dirty="0"/>
              <a:t> COMPONENT_ADDED</a:t>
            </a:r>
            <a:endParaRPr lang="en-US" sz="2600" dirty="0"/>
          </a:p>
          <a:p>
            <a:pPr lvl="1" algn="just"/>
            <a:r>
              <a:rPr lang="en-US" dirty="0"/>
              <a:t>This event indicates that a component was added to the container.</a:t>
            </a:r>
            <a:endParaRPr lang="en-US" b="1" dirty="0"/>
          </a:p>
          <a:p>
            <a:pPr algn="just"/>
            <a:r>
              <a:rPr lang="en-US" sz="2600" b="1" dirty="0"/>
              <a:t>public static final </a:t>
            </a:r>
            <a:r>
              <a:rPr lang="en-US" sz="2600" b="1" dirty="0" err="1"/>
              <a:t>int</a:t>
            </a:r>
            <a:r>
              <a:rPr lang="en-US" sz="2600" b="1" dirty="0"/>
              <a:t> COMPONENT_REMOVED</a:t>
            </a:r>
          </a:p>
          <a:p>
            <a:pPr lvl="1" algn="just"/>
            <a:r>
              <a:rPr lang="en-US" dirty="0"/>
              <a:t>This event indicates that a component was removed from the container.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38</a:t>
            </a:fld>
            <a:endParaRPr lang="en-I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type="body" idx="1"/>
          </p:nvPr>
        </p:nvSpPr>
        <p:spPr>
          <a:xfrm>
            <a:off x="304800" y="990600"/>
            <a:ext cx="8534400" cy="5140325"/>
          </a:xfrm>
        </p:spPr>
        <p:txBody>
          <a:bodyPr/>
          <a:lstStyle/>
          <a:p>
            <a:pPr algn="just"/>
            <a:r>
              <a:rPr lang="en-US" sz="2200" b="1" dirty="0"/>
              <a:t>public ContainerEvent(Component source, int id, Component child)</a:t>
            </a:r>
          </a:p>
          <a:p>
            <a:pPr algn="just"/>
            <a:endParaRPr lang="en-US" sz="2200" dirty="0"/>
          </a:p>
          <a:p>
            <a:pPr lvl="1" algn="just"/>
            <a:r>
              <a:rPr lang="en-US" sz="2400" dirty="0"/>
              <a:t>Constructs a ContainerEvent object. </a:t>
            </a:r>
          </a:p>
          <a:p>
            <a:pPr lvl="1" algn="just"/>
            <a:endParaRPr lang="en-US" sz="2400" b="1" dirty="0"/>
          </a:p>
          <a:p>
            <a:pPr marL="457200" lvl="1" indent="0" algn="just">
              <a:buNone/>
            </a:pPr>
            <a:r>
              <a:rPr lang="en-US" sz="2400" b="1" dirty="0"/>
              <a:t>Parameters:</a:t>
            </a:r>
            <a:r>
              <a:rPr lang="en-US" sz="2400" dirty="0"/>
              <a:t> </a:t>
            </a:r>
          </a:p>
          <a:p>
            <a:pPr lvl="1" algn="just"/>
            <a:r>
              <a:rPr lang="en-US" sz="2400" b="1" dirty="0"/>
              <a:t>source</a:t>
            </a:r>
            <a:r>
              <a:rPr lang="en-US" sz="2400" dirty="0"/>
              <a:t> - the Component object (container) that originated the event </a:t>
            </a:r>
          </a:p>
          <a:p>
            <a:pPr lvl="1" algn="just"/>
            <a:endParaRPr lang="en-US" sz="2400" dirty="0"/>
          </a:p>
          <a:p>
            <a:pPr lvl="1" algn="just"/>
            <a:r>
              <a:rPr lang="en-US" sz="2400" b="1" dirty="0"/>
              <a:t>id</a:t>
            </a:r>
            <a:r>
              <a:rPr lang="en-US" sz="2400" dirty="0"/>
              <a:t> - an integer indicating the type of event </a:t>
            </a:r>
          </a:p>
          <a:p>
            <a:pPr lvl="1" algn="just"/>
            <a:endParaRPr lang="en-US" sz="2400" dirty="0"/>
          </a:p>
          <a:p>
            <a:pPr lvl="1" algn="just"/>
            <a:r>
              <a:rPr lang="en-US" sz="2400" b="1" dirty="0"/>
              <a:t>child</a:t>
            </a:r>
            <a:r>
              <a:rPr lang="en-US" sz="2400" dirty="0"/>
              <a:t> - the component that was added or removed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39</a:t>
            </a:fld>
            <a:endParaRPr lang="en-I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type="body" idx="1"/>
          </p:nvPr>
        </p:nvSpPr>
        <p:spPr>
          <a:xfrm>
            <a:off x="457200" y="609600"/>
            <a:ext cx="8229600" cy="5521325"/>
          </a:xfrm>
        </p:spPr>
        <p:txBody>
          <a:bodyPr/>
          <a:lstStyle/>
          <a:p>
            <a:pPr algn="just"/>
            <a:r>
              <a:rPr lang="en-US" b="1" dirty="0"/>
              <a:t>public Container getContainer()</a:t>
            </a:r>
            <a:endParaRPr lang="en-US" dirty="0"/>
          </a:p>
          <a:p>
            <a:pPr lvl="1" algn="just"/>
            <a:r>
              <a:rPr lang="en-US" dirty="0"/>
              <a:t>Returns the originator of the event. </a:t>
            </a:r>
            <a:endParaRPr lang="en-US" b="1" dirty="0"/>
          </a:p>
          <a:p>
            <a:pPr lvl="1" algn="just"/>
            <a:r>
              <a:rPr lang="en-US" dirty="0"/>
              <a:t>Returns the Container object that originated the event, or null if the object is not a Container.</a:t>
            </a:r>
          </a:p>
          <a:p>
            <a:pPr lvl="1" algn="just"/>
            <a:endParaRPr lang="en-US" b="1" dirty="0"/>
          </a:p>
          <a:p>
            <a:pPr algn="just"/>
            <a:r>
              <a:rPr lang="en-US" b="1" dirty="0"/>
              <a:t> public Component getChild()</a:t>
            </a:r>
            <a:endParaRPr lang="en-US" dirty="0"/>
          </a:p>
          <a:p>
            <a:pPr lvl="1" algn="just"/>
            <a:r>
              <a:rPr lang="en-US" dirty="0"/>
              <a:t>Returns the component that was affected by the event. </a:t>
            </a:r>
            <a:endParaRPr lang="en-US" b="1" dirty="0"/>
          </a:p>
          <a:p>
            <a:pPr lvl="1" algn="just"/>
            <a:r>
              <a:rPr lang="en-US" dirty="0"/>
              <a:t>Returns</a:t>
            </a:r>
            <a:r>
              <a:rPr lang="en-US" b="1" dirty="0"/>
              <a:t> </a:t>
            </a:r>
            <a:r>
              <a:rPr lang="en-US" dirty="0"/>
              <a:t>the Component object that was added or removed</a:t>
            </a:r>
            <a:r>
              <a:rPr lang="en-US" b="1" dirty="0">
                <a:sym typeface="Symbol" pitchFamily="18" charset="2"/>
              </a:rPr>
              <a:t>.</a:t>
            </a:r>
            <a:endParaRPr lang="en-US" dirty="0"/>
          </a:p>
        </p:txBody>
      </p:sp>
      <p:sp>
        <p:nvSpPr>
          <p:cNvPr id="4" name="Slide Number Placeholder 3"/>
          <p:cNvSpPr>
            <a:spLocks noGrp="1"/>
          </p:cNvSpPr>
          <p:nvPr>
            <p:ph type="sldNum" sz="quarter" idx="12"/>
          </p:nvPr>
        </p:nvSpPr>
        <p:spPr/>
        <p:txBody>
          <a:bodyPr/>
          <a:lstStyle/>
          <a:p>
            <a:fld id="{CABF7EEA-85D2-497E-9C95-F3C1348C26C9}" type="slidenum">
              <a:rPr lang="en-IN" smtClean="0"/>
              <a:pPr/>
              <a:t>40</a:t>
            </a:fld>
            <a:endParaRPr lang="en-I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277813"/>
            <a:ext cx="8229600" cy="636587"/>
          </a:xfrm>
        </p:spPr>
        <p:txBody>
          <a:bodyPr>
            <a:normAutofit fontScale="90000"/>
          </a:bodyPr>
          <a:lstStyle/>
          <a:p>
            <a:r>
              <a:rPr lang="en-US" sz="3800" b="1" dirty="0"/>
              <a:t>ContainerListener interface</a:t>
            </a:r>
            <a:endParaRPr lang="en-US" sz="3800" dirty="0"/>
          </a:p>
        </p:txBody>
      </p:sp>
      <p:sp>
        <p:nvSpPr>
          <p:cNvPr id="44035" name="Rectangle 3"/>
          <p:cNvSpPr>
            <a:spLocks noGrp="1" noChangeArrowheads="1"/>
          </p:cNvSpPr>
          <p:nvPr>
            <p:ph type="body" idx="1"/>
          </p:nvPr>
        </p:nvSpPr>
        <p:spPr>
          <a:xfrm>
            <a:off x="228600" y="1143000"/>
            <a:ext cx="8686800" cy="5257800"/>
          </a:xfrm>
        </p:spPr>
        <p:txBody>
          <a:bodyPr/>
          <a:lstStyle/>
          <a:p>
            <a:pPr lvl="1" algn="just"/>
            <a:r>
              <a:rPr lang="en-US" dirty="0"/>
              <a:t>The listener interface for receiving container events.</a:t>
            </a:r>
          </a:p>
          <a:p>
            <a:pPr lvl="1" algn="just"/>
            <a:endParaRPr lang="en-US" b="1" dirty="0"/>
          </a:p>
          <a:p>
            <a:pPr algn="just"/>
            <a:r>
              <a:rPr lang="en-US" sz="2600" b="1" dirty="0"/>
              <a:t>void componentAdded(ContainerEvent e)</a:t>
            </a:r>
            <a:endParaRPr lang="en-US" sz="2600" dirty="0"/>
          </a:p>
          <a:p>
            <a:pPr lvl="1" algn="just"/>
            <a:r>
              <a:rPr lang="en-US" dirty="0"/>
              <a:t>Invoked when a component has been added to the container. </a:t>
            </a:r>
          </a:p>
          <a:p>
            <a:pPr lvl="1" algn="just"/>
            <a:endParaRPr lang="en-US" b="1" dirty="0"/>
          </a:p>
          <a:p>
            <a:pPr algn="just"/>
            <a:r>
              <a:rPr lang="en-US" sz="2600" b="1" dirty="0"/>
              <a:t>void componentRemoved (ContainerEvent e)</a:t>
            </a:r>
            <a:endParaRPr lang="en-US" sz="2600" dirty="0"/>
          </a:p>
          <a:p>
            <a:pPr lvl="1" algn="just"/>
            <a:r>
              <a:rPr lang="en-US" dirty="0"/>
              <a:t>Invoked when a component has been removed from the container. </a:t>
            </a:r>
          </a:p>
          <a:p>
            <a:pPr algn="just"/>
            <a:endParaRPr lang="en-US" dirty="0"/>
          </a:p>
        </p:txBody>
      </p:sp>
      <p:sp>
        <p:nvSpPr>
          <p:cNvPr id="4" name="Slide Number Placeholder 3"/>
          <p:cNvSpPr>
            <a:spLocks noGrp="1"/>
          </p:cNvSpPr>
          <p:nvPr>
            <p:ph type="sldNum" sz="quarter" idx="12"/>
          </p:nvPr>
        </p:nvSpPr>
        <p:spPr/>
        <p:txBody>
          <a:bodyPr/>
          <a:lstStyle/>
          <a:p>
            <a:fld id="{CABF7EEA-85D2-497E-9C95-F3C1348C26C9}" type="slidenum">
              <a:rPr lang="en-IN" smtClean="0"/>
              <a:pPr/>
              <a:t>41</a:t>
            </a:fld>
            <a:endParaRPr lang="en-I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117693"/>
            <a:ext cx="8358246" cy="6524863"/>
          </a:xfrm>
          <a:prstGeom prst="rect">
            <a:avLst/>
          </a:prstGeom>
        </p:spPr>
        <p:txBody>
          <a:bodyPr wrap="square">
            <a:spAutoFit/>
          </a:bodyPr>
          <a:lstStyle/>
          <a:p>
            <a:r>
              <a:rPr lang="en-IN" sz="2000" dirty="0"/>
              <a:t>import java.awt.*;</a:t>
            </a:r>
          </a:p>
          <a:p>
            <a:r>
              <a:rPr lang="en-IN" sz="2000" dirty="0"/>
              <a:t>import java.awt.event.*;</a:t>
            </a:r>
          </a:p>
          <a:p>
            <a:r>
              <a:rPr lang="en-IN" sz="2000" dirty="0"/>
              <a:t>import </a:t>
            </a:r>
            <a:r>
              <a:rPr lang="en-IN" sz="2000" dirty="0" err="1"/>
              <a:t>javax.swing</a:t>
            </a:r>
            <a:r>
              <a:rPr lang="en-IN" sz="2000" dirty="0"/>
              <a:t>.*;</a:t>
            </a:r>
          </a:p>
          <a:p>
            <a:endParaRPr lang="en-IN" sz="2000" dirty="0"/>
          </a:p>
          <a:p>
            <a:r>
              <a:rPr lang="en-IN" sz="2000" dirty="0"/>
              <a:t>public class ContainerEventExample</a:t>
            </a:r>
          </a:p>
          <a:p>
            <a:r>
              <a:rPr lang="en-IN" sz="2000" dirty="0"/>
              <a:t>{</a:t>
            </a:r>
          </a:p>
          <a:p>
            <a:r>
              <a:rPr lang="en-IN" sz="2000" dirty="0"/>
              <a:t>  public static void main(String args[]) </a:t>
            </a:r>
          </a:p>
          <a:p>
            <a:r>
              <a:rPr lang="en-IN" sz="2000" dirty="0"/>
              <a:t>  {</a:t>
            </a:r>
          </a:p>
          <a:p>
            <a:r>
              <a:rPr lang="en-IN" sz="2000" dirty="0"/>
              <a:t>    </a:t>
            </a:r>
            <a:r>
              <a:rPr lang="en-IN" sz="2000" dirty="0" err="1"/>
              <a:t>JFrame</a:t>
            </a:r>
            <a:r>
              <a:rPr lang="en-IN" sz="2000" dirty="0"/>
              <a:t> frame = new </a:t>
            </a:r>
            <a:r>
              <a:rPr lang="en-IN" sz="2000" dirty="0" err="1"/>
              <a:t>JFrame</a:t>
            </a:r>
            <a:r>
              <a:rPr lang="en-IN" sz="2000" dirty="0"/>
              <a:t>();</a:t>
            </a:r>
          </a:p>
          <a:p>
            <a:r>
              <a:rPr lang="en-IN" sz="2000" dirty="0"/>
              <a:t>    frame.setDefaultCloseOperation(JFrame.EXIT_ON_CLOSE);</a:t>
            </a:r>
          </a:p>
          <a:p>
            <a:r>
              <a:rPr lang="en-IN" sz="2000" dirty="0"/>
              <a:t>    Container </a:t>
            </a:r>
            <a:r>
              <a:rPr lang="en-IN" sz="2000" dirty="0" err="1"/>
              <a:t>contentPane</a:t>
            </a:r>
            <a:r>
              <a:rPr lang="en-IN" sz="2000" dirty="0"/>
              <a:t> = </a:t>
            </a:r>
            <a:r>
              <a:rPr lang="en-IN" sz="2000" dirty="0" err="1"/>
              <a:t>frame.getContentPane</a:t>
            </a:r>
            <a:r>
              <a:rPr lang="en-IN" sz="2000" dirty="0"/>
              <a:t>();</a:t>
            </a:r>
          </a:p>
          <a:p>
            <a:endParaRPr lang="en-IN" sz="2000" dirty="0"/>
          </a:p>
          <a:p>
            <a:r>
              <a:rPr lang="en-IN" sz="2000" dirty="0"/>
              <a:t>    ContainerListener cont = new ContainerListener() </a:t>
            </a:r>
          </a:p>
          <a:p>
            <a:r>
              <a:rPr lang="en-IN" sz="2000" dirty="0"/>
              <a:t>    {</a:t>
            </a:r>
          </a:p>
          <a:p>
            <a:r>
              <a:rPr lang="en-IN" sz="2000" dirty="0"/>
              <a:t>         ActionListener listener = new ActionListener() </a:t>
            </a:r>
          </a:p>
          <a:p>
            <a:r>
              <a:rPr lang="en-IN" sz="2000" dirty="0"/>
              <a:t>         {</a:t>
            </a:r>
          </a:p>
          <a:p>
            <a:r>
              <a:rPr lang="en-IN" sz="2000" dirty="0"/>
              <a:t>             public void actionPerformed(ActionEvent e) </a:t>
            </a:r>
          </a:p>
          <a:p>
            <a:r>
              <a:rPr lang="en-IN" sz="2000" dirty="0"/>
              <a:t>            {</a:t>
            </a:r>
          </a:p>
          <a:p>
            <a:r>
              <a:rPr lang="en-IN" sz="2000" dirty="0"/>
              <a:t>                System.out.println("Selected: " + e.getActionCommand());</a:t>
            </a:r>
          </a:p>
          <a:p>
            <a:r>
              <a:rPr lang="en-IN" sz="2000" dirty="0"/>
              <a:t>            }</a:t>
            </a:r>
          </a:p>
          <a:p>
            <a:r>
              <a:rPr lang="en-IN" sz="2000" dirty="0"/>
              <a:t>         };</a:t>
            </a:r>
          </a:p>
        </p:txBody>
      </p:sp>
      <p:sp>
        <p:nvSpPr>
          <p:cNvPr id="5" name="Slide Number Placeholder 4"/>
          <p:cNvSpPr>
            <a:spLocks noGrp="1"/>
          </p:cNvSpPr>
          <p:nvPr>
            <p:ph type="sldNum" sz="quarter" idx="12"/>
          </p:nvPr>
        </p:nvSpPr>
        <p:spPr/>
        <p:txBody>
          <a:bodyPr/>
          <a:lstStyle/>
          <a:p>
            <a:fld id="{CABF7EEA-85D2-497E-9C95-F3C1348C26C9}" type="slidenum">
              <a:rPr lang="en-IN" smtClean="0"/>
              <a:pPr/>
              <a:t>42</a:t>
            </a:fld>
            <a:endParaRPr lang="en-I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7290" y="285728"/>
            <a:ext cx="6858048" cy="6247864"/>
          </a:xfrm>
          <a:prstGeom prst="rect">
            <a:avLst/>
          </a:prstGeom>
        </p:spPr>
        <p:txBody>
          <a:bodyPr wrap="square">
            <a:spAutoFit/>
          </a:bodyPr>
          <a:lstStyle/>
          <a:p>
            <a:r>
              <a:rPr lang="en-IN" sz="2000" dirty="0"/>
              <a:t>   public void componentAdded(ContainerEvent e) </a:t>
            </a:r>
          </a:p>
          <a:p>
            <a:r>
              <a:rPr lang="en-IN" sz="2000" dirty="0"/>
              <a:t>   {</a:t>
            </a:r>
          </a:p>
          <a:p>
            <a:r>
              <a:rPr lang="en-IN" sz="2000" dirty="0"/>
              <a:t>        Component c = e.getChild();</a:t>
            </a:r>
          </a:p>
          <a:p>
            <a:r>
              <a:rPr lang="en-IN" sz="2000" dirty="0"/>
              <a:t>        if (c instanceof JButton)</a:t>
            </a:r>
          </a:p>
          <a:p>
            <a:r>
              <a:rPr lang="en-IN" sz="2000" dirty="0"/>
              <a:t>        {</a:t>
            </a:r>
          </a:p>
          <a:p>
            <a:r>
              <a:rPr lang="en-IN" sz="2000" dirty="0"/>
              <a:t>             JButton b = (JButton) c;</a:t>
            </a:r>
          </a:p>
          <a:p>
            <a:r>
              <a:rPr lang="en-IN" sz="2000" dirty="0"/>
              <a:t>             b.addActionListener(listener);</a:t>
            </a:r>
          </a:p>
          <a:p>
            <a:r>
              <a:rPr lang="en-IN" sz="2000" dirty="0"/>
              <a:t>        }</a:t>
            </a:r>
          </a:p>
          <a:p>
            <a:r>
              <a:rPr lang="en-IN" sz="2000" dirty="0"/>
              <a:t>   }</a:t>
            </a:r>
          </a:p>
          <a:p>
            <a:r>
              <a:rPr lang="en-IN" sz="2000" dirty="0"/>
              <a:t> </a:t>
            </a:r>
          </a:p>
          <a:p>
            <a:r>
              <a:rPr lang="en-IN" sz="2000" dirty="0"/>
              <a:t>   public void componentRemoved(ContainerEvent e) </a:t>
            </a:r>
          </a:p>
          <a:p>
            <a:r>
              <a:rPr lang="en-IN" sz="2000" dirty="0"/>
              <a:t>   {</a:t>
            </a:r>
          </a:p>
          <a:p>
            <a:r>
              <a:rPr lang="en-IN" sz="2000" dirty="0"/>
              <a:t>        Component c = </a:t>
            </a:r>
            <a:r>
              <a:rPr lang="en-IN" sz="2000" dirty="0" err="1"/>
              <a:t>e.getChild</a:t>
            </a:r>
            <a:r>
              <a:rPr lang="en-IN" sz="2000" dirty="0"/>
              <a:t>();</a:t>
            </a:r>
          </a:p>
          <a:p>
            <a:r>
              <a:rPr lang="en-IN" sz="2000" dirty="0"/>
              <a:t>         if (c instanceof JButton)</a:t>
            </a:r>
          </a:p>
          <a:p>
            <a:r>
              <a:rPr lang="en-IN" sz="2000" dirty="0"/>
              <a:t>         {</a:t>
            </a:r>
          </a:p>
          <a:p>
            <a:r>
              <a:rPr lang="en-IN" sz="2000" dirty="0"/>
              <a:t>              JButton b = (JButton) c;</a:t>
            </a:r>
          </a:p>
          <a:p>
            <a:r>
              <a:rPr lang="en-IN" sz="2000" dirty="0"/>
              <a:t>              b.removeActionListener(listener);</a:t>
            </a:r>
          </a:p>
          <a:p>
            <a:r>
              <a:rPr lang="en-IN" sz="2000" dirty="0"/>
              <a:t>         }</a:t>
            </a:r>
          </a:p>
          <a:p>
            <a:r>
              <a:rPr lang="en-IN" sz="2000" dirty="0"/>
              <a:t>      }</a:t>
            </a:r>
          </a:p>
          <a:p>
            <a:r>
              <a:rPr lang="en-IN" sz="2000" dirty="0"/>
              <a:t>  };</a:t>
            </a:r>
          </a:p>
        </p:txBody>
      </p:sp>
      <p:sp>
        <p:nvSpPr>
          <p:cNvPr id="5" name="Slide Number Placeholder 4"/>
          <p:cNvSpPr>
            <a:spLocks noGrp="1"/>
          </p:cNvSpPr>
          <p:nvPr>
            <p:ph type="sldNum" sz="quarter" idx="12"/>
          </p:nvPr>
        </p:nvSpPr>
        <p:spPr/>
        <p:txBody>
          <a:bodyPr/>
          <a:lstStyle/>
          <a:p>
            <a:fld id="{CABF7EEA-85D2-497E-9C95-F3C1348C26C9}" type="slidenum">
              <a:rPr lang="en-IN" smtClean="0"/>
              <a:pPr/>
              <a:t>43</a:t>
            </a:fld>
            <a:endParaRPr lang="en-I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14480" y="1305342"/>
            <a:ext cx="6215106" cy="5262979"/>
          </a:xfrm>
          <a:prstGeom prst="rect">
            <a:avLst/>
          </a:prstGeom>
        </p:spPr>
        <p:txBody>
          <a:bodyPr wrap="square">
            <a:spAutoFit/>
          </a:bodyPr>
          <a:lstStyle/>
          <a:p>
            <a:endParaRPr lang="en-IN" sz="2400" dirty="0"/>
          </a:p>
          <a:p>
            <a:r>
              <a:rPr lang="en-IN" sz="2400" dirty="0"/>
              <a:t>    </a:t>
            </a:r>
            <a:r>
              <a:rPr lang="en-IN" sz="2400" dirty="0" err="1"/>
              <a:t>contentPane.addContainerListener</a:t>
            </a:r>
            <a:r>
              <a:rPr lang="en-IN" sz="2400" dirty="0"/>
              <a:t>(</a:t>
            </a:r>
            <a:r>
              <a:rPr lang="en-IN" sz="2400" dirty="0" err="1"/>
              <a:t>cont</a:t>
            </a:r>
            <a:r>
              <a:rPr lang="en-IN" sz="2400" dirty="0"/>
              <a:t>);</a:t>
            </a:r>
          </a:p>
          <a:p>
            <a:endParaRPr lang="en-IN" sz="2400" dirty="0"/>
          </a:p>
          <a:p>
            <a:r>
              <a:rPr lang="en-IN" sz="2400" dirty="0"/>
              <a:t>    </a:t>
            </a:r>
            <a:r>
              <a:rPr lang="en-IN" sz="2400" dirty="0" err="1"/>
              <a:t>contentPane.setLayout</a:t>
            </a:r>
            <a:r>
              <a:rPr lang="en-IN" sz="2400" dirty="0"/>
              <a:t>(new </a:t>
            </a:r>
            <a:r>
              <a:rPr lang="en-IN" sz="2400" dirty="0" err="1"/>
              <a:t>GridLayout</a:t>
            </a:r>
            <a:r>
              <a:rPr lang="en-IN" sz="2400" dirty="0"/>
              <a:t>(3, 2));</a:t>
            </a:r>
          </a:p>
          <a:p>
            <a:r>
              <a:rPr lang="en-IN" sz="2400" dirty="0"/>
              <a:t>    </a:t>
            </a:r>
            <a:r>
              <a:rPr lang="en-IN" sz="2400" dirty="0" err="1"/>
              <a:t>contentPane.add</a:t>
            </a:r>
            <a:r>
              <a:rPr lang="en-IN" sz="2400" dirty="0"/>
              <a:t>(new </a:t>
            </a:r>
            <a:r>
              <a:rPr lang="en-IN" sz="2400" dirty="0" err="1"/>
              <a:t>JButton</a:t>
            </a:r>
            <a:r>
              <a:rPr lang="en-IN" sz="2400" dirty="0"/>
              <a:t>("First"));</a:t>
            </a:r>
          </a:p>
          <a:p>
            <a:r>
              <a:rPr lang="en-IN" sz="2400" dirty="0"/>
              <a:t>    </a:t>
            </a:r>
            <a:r>
              <a:rPr lang="en-IN" sz="2400" dirty="0" err="1"/>
              <a:t>contentPane.add</a:t>
            </a:r>
            <a:r>
              <a:rPr lang="en-IN" sz="2400" dirty="0"/>
              <a:t>(new </a:t>
            </a:r>
            <a:r>
              <a:rPr lang="en-IN" sz="2400" dirty="0" err="1"/>
              <a:t>JButton</a:t>
            </a:r>
            <a:r>
              <a:rPr lang="en-IN" sz="2400" dirty="0"/>
              <a:t>("Second"));</a:t>
            </a:r>
          </a:p>
          <a:p>
            <a:r>
              <a:rPr lang="en-IN" sz="2400" dirty="0"/>
              <a:t>    </a:t>
            </a:r>
            <a:r>
              <a:rPr lang="en-IN" sz="2400" dirty="0" err="1"/>
              <a:t>contentPane.add</a:t>
            </a:r>
            <a:r>
              <a:rPr lang="en-IN" sz="2400" dirty="0"/>
              <a:t>(new </a:t>
            </a:r>
            <a:r>
              <a:rPr lang="en-IN" sz="2400" dirty="0" err="1"/>
              <a:t>JButton</a:t>
            </a:r>
            <a:r>
              <a:rPr lang="en-IN" sz="2400" dirty="0"/>
              <a:t>("Third"));</a:t>
            </a:r>
          </a:p>
          <a:p>
            <a:r>
              <a:rPr lang="en-IN" sz="2400" dirty="0"/>
              <a:t>    </a:t>
            </a:r>
            <a:r>
              <a:rPr lang="en-IN" sz="2400" dirty="0" err="1"/>
              <a:t>contentPane.add</a:t>
            </a:r>
            <a:r>
              <a:rPr lang="en-IN" sz="2400" dirty="0"/>
              <a:t>(new </a:t>
            </a:r>
            <a:r>
              <a:rPr lang="en-IN" sz="2400" dirty="0" err="1"/>
              <a:t>JButton</a:t>
            </a:r>
            <a:r>
              <a:rPr lang="en-IN" sz="2400" dirty="0"/>
              <a:t>("Fourth"));</a:t>
            </a:r>
          </a:p>
          <a:p>
            <a:r>
              <a:rPr lang="en-IN" sz="2400" dirty="0"/>
              <a:t>    </a:t>
            </a:r>
            <a:r>
              <a:rPr lang="en-IN" sz="2400" dirty="0" err="1"/>
              <a:t>contentPane.add</a:t>
            </a:r>
            <a:r>
              <a:rPr lang="en-IN" sz="2400" dirty="0"/>
              <a:t>(new </a:t>
            </a:r>
            <a:r>
              <a:rPr lang="en-IN" sz="2400" dirty="0" err="1"/>
              <a:t>JButton</a:t>
            </a:r>
            <a:r>
              <a:rPr lang="en-IN" sz="2400" dirty="0"/>
              <a:t>("Fifth"));</a:t>
            </a:r>
          </a:p>
          <a:p>
            <a:endParaRPr lang="en-IN" sz="2400" dirty="0"/>
          </a:p>
          <a:p>
            <a:r>
              <a:rPr lang="en-IN" sz="2400" dirty="0"/>
              <a:t>    </a:t>
            </a:r>
            <a:r>
              <a:rPr lang="en-IN" sz="2400" dirty="0" err="1"/>
              <a:t>frame.setSize</a:t>
            </a:r>
            <a:r>
              <a:rPr lang="en-IN" sz="2400" dirty="0"/>
              <a:t>(300, 200);</a:t>
            </a:r>
          </a:p>
          <a:p>
            <a:r>
              <a:rPr lang="en-IN" sz="2400" dirty="0"/>
              <a:t>    </a:t>
            </a:r>
            <a:r>
              <a:rPr lang="en-IN" sz="2400" dirty="0" err="1"/>
              <a:t>frame.show</a:t>
            </a:r>
            <a:r>
              <a:rPr lang="en-IN" sz="2400" dirty="0"/>
              <a:t>();</a:t>
            </a:r>
          </a:p>
          <a:p>
            <a:r>
              <a:rPr lang="en-IN" sz="2400" dirty="0"/>
              <a:t>  }</a:t>
            </a:r>
          </a:p>
          <a:p>
            <a:r>
              <a:rPr lang="en-IN" sz="2400" dirty="0"/>
              <a:t>}</a:t>
            </a:r>
          </a:p>
        </p:txBody>
      </p:sp>
      <p:sp>
        <p:nvSpPr>
          <p:cNvPr id="5" name="Slide Number Placeholder 4"/>
          <p:cNvSpPr>
            <a:spLocks noGrp="1"/>
          </p:cNvSpPr>
          <p:nvPr>
            <p:ph type="sldNum" sz="quarter" idx="12"/>
          </p:nvPr>
        </p:nvSpPr>
        <p:spPr/>
        <p:txBody>
          <a:bodyPr/>
          <a:lstStyle/>
          <a:p>
            <a:fld id="{CABF7EEA-85D2-497E-9C95-F3C1348C26C9}" type="slidenum">
              <a:rPr lang="en-IN" smtClean="0"/>
              <a:pPr/>
              <a:t>44</a:t>
            </a:fld>
            <a:endParaRPr lang="en-I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ABF7EEA-85D2-497E-9C95-F3C1348C26C9}" type="slidenum">
              <a:rPr lang="en-IN" smtClean="0"/>
              <a:pPr/>
              <a:t>45</a:t>
            </a:fld>
            <a:endParaRPr lang="en-IN"/>
          </a:p>
        </p:txBody>
      </p:sp>
      <p:pic>
        <p:nvPicPr>
          <p:cNvPr id="2" name="Picture 1"/>
          <p:cNvPicPr>
            <a:picLocks noChangeAspect="1"/>
          </p:cNvPicPr>
          <p:nvPr/>
        </p:nvPicPr>
        <p:blipFill>
          <a:blip r:embed="rId2"/>
          <a:stretch>
            <a:fillRect/>
          </a:stretch>
        </p:blipFill>
        <p:spPr>
          <a:xfrm>
            <a:off x="395536" y="986143"/>
            <a:ext cx="8424936" cy="488571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457200" y="277813"/>
            <a:ext cx="8229600" cy="407987"/>
          </a:xfrm>
        </p:spPr>
        <p:txBody>
          <a:bodyPr>
            <a:normAutofit fontScale="90000"/>
          </a:bodyPr>
          <a:lstStyle/>
          <a:p>
            <a:r>
              <a:rPr lang="en-US" sz="3800" b="1"/>
              <a:t>FocusEvent class</a:t>
            </a:r>
            <a:r>
              <a:rPr lang="en-US" sz="3800"/>
              <a:t> </a:t>
            </a:r>
          </a:p>
        </p:txBody>
      </p:sp>
      <p:sp>
        <p:nvSpPr>
          <p:cNvPr id="49155" name="Rectangle 3"/>
          <p:cNvSpPr>
            <a:spLocks noGrp="1" noChangeArrowheads="1"/>
          </p:cNvSpPr>
          <p:nvPr>
            <p:ph type="body" idx="1"/>
          </p:nvPr>
        </p:nvSpPr>
        <p:spPr>
          <a:xfrm>
            <a:off x="228600" y="1066800"/>
            <a:ext cx="8763000" cy="5334000"/>
          </a:xfrm>
        </p:spPr>
        <p:txBody>
          <a:bodyPr/>
          <a:lstStyle/>
          <a:p>
            <a:r>
              <a:rPr lang="en-US" sz="2700"/>
              <a:t>A low-level event which indicates that a Component has gained or lost the input focus.</a:t>
            </a:r>
          </a:p>
          <a:p>
            <a:r>
              <a:rPr lang="en-US" sz="2700"/>
              <a:t>This class has following constants.</a:t>
            </a:r>
          </a:p>
          <a:p>
            <a:endParaRPr lang="en-US" sz="2700" b="1"/>
          </a:p>
          <a:p>
            <a:r>
              <a:rPr lang="en-US" sz="2700" b="1"/>
              <a:t>public static final int FOCUS_GAINED</a:t>
            </a:r>
            <a:endParaRPr lang="en-US" sz="2700"/>
          </a:p>
          <a:p>
            <a:pPr lvl="1"/>
            <a:r>
              <a:rPr lang="en-US" sz="2700"/>
              <a:t>This event indicates that the Component is now the focus owner. </a:t>
            </a:r>
            <a:endParaRPr lang="en-US" sz="2700" b="1"/>
          </a:p>
          <a:p>
            <a:r>
              <a:rPr lang="en-US" sz="2700" b="1"/>
              <a:t>public static final int FOCUS_LOST</a:t>
            </a:r>
            <a:endParaRPr lang="en-US" sz="2700"/>
          </a:p>
          <a:p>
            <a:pPr lvl="1"/>
            <a:r>
              <a:rPr lang="en-US" sz="2700"/>
              <a:t>This event indicates that the Component is no longer the focus owner.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46</a:t>
            </a:fld>
            <a:endParaRPr lang="en-I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57200" y="277813"/>
            <a:ext cx="8229600" cy="484187"/>
          </a:xfrm>
        </p:spPr>
        <p:txBody>
          <a:bodyPr>
            <a:normAutofit fontScale="90000"/>
          </a:bodyPr>
          <a:lstStyle/>
          <a:p>
            <a:r>
              <a:rPr lang="en-US" sz="3800" b="1"/>
              <a:t>Constructors</a:t>
            </a:r>
          </a:p>
        </p:txBody>
      </p:sp>
      <p:sp>
        <p:nvSpPr>
          <p:cNvPr id="50179" name="Rectangle 3"/>
          <p:cNvSpPr>
            <a:spLocks noGrp="1" noChangeArrowheads="1"/>
          </p:cNvSpPr>
          <p:nvPr>
            <p:ph type="body" idx="1"/>
          </p:nvPr>
        </p:nvSpPr>
        <p:spPr>
          <a:xfrm>
            <a:off x="228600" y="990600"/>
            <a:ext cx="8686800" cy="5562600"/>
          </a:xfrm>
        </p:spPr>
        <p:txBody>
          <a:bodyPr/>
          <a:lstStyle/>
          <a:p>
            <a:r>
              <a:rPr lang="en-US" sz="2600" b="1"/>
              <a:t>public FocusEvent(Component source,int id,boolean temporary, Component opposite)</a:t>
            </a:r>
            <a:endParaRPr lang="en-US" sz="2600"/>
          </a:p>
          <a:p>
            <a:pPr>
              <a:buFont typeface="Wingdings" pitchFamily="2" charset="2"/>
              <a:buNone/>
            </a:pPr>
            <a:endParaRPr lang="en-US" sz="2600" b="1"/>
          </a:p>
          <a:p>
            <a:pPr lvl="1"/>
            <a:r>
              <a:rPr lang="en-US" b="1"/>
              <a:t>source</a:t>
            </a:r>
            <a:r>
              <a:rPr lang="en-US"/>
              <a:t> - the Component that originated the event </a:t>
            </a:r>
          </a:p>
          <a:p>
            <a:pPr lvl="1"/>
            <a:r>
              <a:rPr lang="en-US" b="1"/>
              <a:t>id</a:t>
            </a:r>
            <a:r>
              <a:rPr lang="en-US"/>
              <a:t> - FOCUS_GAINED or FOCUS_LOST </a:t>
            </a:r>
          </a:p>
          <a:p>
            <a:pPr lvl="1"/>
            <a:r>
              <a:rPr lang="en-US" b="1"/>
              <a:t>temporary</a:t>
            </a:r>
            <a:r>
              <a:rPr lang="en-US"/>
              <a:t> - true if the focus change is temporary; false otherwise </a:t>
            </a:r>
          </a:p>
          <a:p>
            <a:pPr lvl="1"/>
            <a:r>
              <a:rPr lang="en-US" b="1"/>
              <a:t>opposite</a:t>
            </a:r>
            <a:r>
              <a:rPr lang="en-US"/>
              <a:t> - the other Component involved in the focus change, or null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47</a:t>
            </a:fld>
            <a:endParaRPr lang="en-I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type="body" idx="1"/>
          </p:nvPr>
        </p:nvSpPr>
        <p:spPr>
          <a:xfrm>
            <a:off x="228600" y="304800"/>
            <a:ext cx="8686800" cy="6172200"/>
          </a:xfrm>
        </p:spPr>
        <p:txBody>
          <a:bodyPr/>
          <a:lstStyle/>
          <a:p>
            <a:r>
              <a:rPr lang="en-US" sz="2600" b="1"/>
              <a:t>public FocusEvent(Component source,int id,boolean temporary)</a:t>
            </a:r>
            <a:endParaRPr lang="en-US" sz="2600"/>
          </a:p>
          <a:p>
            <a:pPr lvl="1"/>
            <a:r>
              <a:rPr lang="en-US" b="1"/>
              <a:t>id</a:t>
            </a:r>
            <a:r>
              <a:rPr lang="en-US"/>
              <a:t> - an integer indicating the type of event </a:t>
            </a:r>
          </a:p>
          <a:p>
            <a:pPr lvl="1"/>
            <a:r>
              <a:rPr lang="en-US" b="1"/>
              <a:t>temporary</a:t>
            </a:r>
            <a:r>
              <a:rPr lang="en-US"/>
              <a:t> - true if the focus change is temporary; false otherwise.</a:t>
            </a:r>
          </a:p>
          <a:p>
            <a:pPr lvl="1"/>
            <a:endParaRPr lang="en-US" b="1"/>
          </a:p>
          <a:p>
            <a:r>
              <a:rPr lang="en-US" sz="2600" b="1"/>
              <a:t>public FocusEvent(Component source,int id)</a:t>
            </a:r>
            <a:endParaRPr lang="en-US" sz="2600"/>
          </a:p>
          <a:p>
            <a:pPr lvl="1"/>
            <a:r>
              <a:rPr lang="en-US" b="1"/>
              <a:t>source</a:t>
            </a:r>
            <a:r>
              <a:rPr lang="en-US"/>
              <a:t> - the Component that originated the event </a:t>
            </a:r>
          </a:p>
          <a:p>
            <a:pPr lvl="1"/>
            <a:r>
              <a:rPr lang="en-US" b="1"/>
              <a:t>id</a:t>
            </a:r>
            <a:r>
              <a:rPr lang="en-US"/>
              <a:t> - an integer indicating the type of event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48</a:t>
            </a:fld>
            <a:endParaRPr lang="en-I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457200" y="277813"/>
            <a:ext cx="8229600" cy="712787"/>
          </a:xfrm>
        </p:spPr>
        <p:txBody>
          <a:bodyPr/>
          <a:lstStyle/>
          <a:p>
            <a:r>
              <a:rPr lang="en-US" sz="3800" b="1"/>
              <a:t>Methods</a:t>
            </a:r>
          </a:p>
        </p:txBody>
      </p:sp>
      <p:sp>
        <p:nvSpPr>
          <p:cNvPr id="52227" name="Rectangle 3"/>
          <p:cNvSpPr>
            <a:spLocks noGrp="1" noChangeArrowheads="1"/>
          </p:cNvSpPr>
          <p:nvPr>
            <p:ph type="body" idx="1"/>
          </p:nvPr>
        </p:nvSpPr>
        <p:spPr>
          <a:xfrm>
            <a:off x="304800" y="990600"/>
            <a:ext cx="8534400" cy="5334000"/>
          </a:xfrm>
        </p:spPr>
        <p:txBody>
          <a:bodyPr/>
          <a:lstStyle/>
          <a:p>
            <a:r>
              <a:rPr lang="en-US" sz="2800" b="1"/>
              <a:t>public boolean isTemporary()</a:t>
            </a:r>
            <a:endParaRPr lang="en-US" sz="2800"/>
          </a:p>
          <a:p>
            <a:pPr lvl="1"/>
            <a:r>
              <a:rPr lang="en-US"/>
              <a:t>Identifies the focus change event as temporary or permanent. </a:t>
            </a:r>
            <a:endParaRPr lang="en-US" b="1"/>
          </a:p>
          <a:p>
            <a:pPr lvl="1"/>
            <a:r>
              <a:rPr lang="en-US" b="1"/>
              <a:t>Returns:</a:t>
            </a:r>
            <a:r>
              <a:rPr lang="en-US"/>
              <a:t> true if the focus change is temporary; false otherwise</a:t>
            </a:r>
            <a:endParaRPr lang="en-US" b="1"/>
          </a:p>
          <a:p>
            <a:r>
              <a:rPr lang="en-US" sz="2800" b="1"/>
              <a:t>public Component getOppositeComponent()</a:t>
            </a:r>
            <a:endParaRPr lang="en-US" sz="2800"/>
          </a:p>
          <a:p>
            <a:pPr lvl="1"/>
            <a:r>
              <a:rPr lang="en-US"/>
              <a:t>Returns the other Component involved in this focus change.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49</a:t>
            </a:fld>
            <a:endParaRPr lang="en-I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57200" y="277813"/>
            <a:ext cx="8229600" cy="636587"/>
          </a:xfrm>
        </p:spPr>
        <p:txBody>
          <a:bodyPr>
            <a:normAutofit fontScale="90000"/>
          </a:bodyPr>
          <a:lstStyle/>
          <a:p>
            <a:r>
              <a:rPr lang="en-US" sz="3800" b="1"/>
              <a:t>FocusListener interface</a:t>
            </a:r>
            <a:r>
              <a:rPr lang="en-US" sz="3800"/>
              <a:t> </a:t>
            </a:r>
          </a:p>
        </p:txBody>
      </p:sp>
      <p:sp>
        <p:nvSpPr>
          <p:cNvPr id="53251" name="Rectangle 3"/>
          <p:cNvSpPr>
            <a:spLocks noGrp="1" noChangeArrowheads="1"/>
          </p:cNvSpPr>
          <p:nvPr>
            <p:ph type="body" idx="1"/>
          </p:nvPr>
        </p:nvSpPr>
        <p:spPr>
          <a:xfrm>
            <a:off x="457200" y="1143000"/>
            <a:ext cx="8229600" cy="4987925"/>
          </a:xfrm>
        </p:spPr>
        <p:txBody>
          <a:bodyPr/>
          <a:lstStyle/>
          <a:p>
            <a:r>
              <a:rPr lang="en-US" b="1"/>
              <a:t>void focusGained(FocusEvent e)</a:t>
            </a:r>
            <a:endParaRPr lang="en-US"/>
          </a:p>
          <a:p>
            <a:pPr lvl="1"/>
            <a:r>
              <a:rPr lang="en-US"/>
              <a:t>Invoked when a component gains the keyboard focus. </a:t>
            </a:r>
          </a:p>
          <a:p>
            <a:pPr lvl="1"/>
            <a:endParaRPr lang="en-US" b="1"/>
          </a:p>
          <a:p>
            <a:r>
              <a:rPr lang="en-US" b="1"/>
              <a:t>void focusLost(FocusEvent e)</a:t>
            </a:r>
            <a:endParaRPr lang="en-US"/>
          </a:p>
          <a:p>
            <a:pPr lvl="1"/>
            <a:r>
              <a:rPr lang="en-US"/>
              <a:t>Invoked when a component loses the keyboard focus.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50</a:t>
            </a:fld>
            <a:endParaRPr lang="en-I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348" y="214290"/>
            <a:ext cx="7929618" cy="6524863"/>
          </a:xfrm>
          <a:prstGeom prst="rect">
            <a:avLst/>
          </a:prstGeom>
        </p:spPr>
        <p:txBody>
          <a:bodyPr wrap="square">
            <a:spAutoFit/>
          </a:bodyPr>
          <a:lstStyle/>
          <a:p>
            <a:r>
              <a:rPr lang="en-IN" sz="2000" dirty="0"/>
              <a:t>import java.awt.*;</a:t>
            </a:r>
          </a:p>
          <a:p>
            <a:r>
              <a:rPr lang="en-IN" sz="2000" dirty="0"/>
              <a:t>import java.awt.event.*;</a:t>
            </a:r>
          </a:p>
          <a:p>
            <a:r>
              <a:rPr lang="en-IN" sz="2000" dirty="0"/>
              <a:t>import </a:t>
            </a:r>
            <a:r>
              <a:rPr lang="en-IN" sz="2000" dirty="0" err="1"/>
              <a:t>javax.swing</a:t>
            </a:r>
            <a:r>
              <a:rPr lang="en-IN" sz="2000" dirty="0"/>
              <a:t>.*;</a:t>
            </a:r>
          </a:p>
          <a:p>
            <a:endParaRPr lang="en-IN" sz="2000" dirty="0"/>
          </a:p>
          <a:p>
            <a:r>
              <a:rPr lang="en-IN" sz="2000" dirty="0"/>
              <a:t>public class </a:t>
            </a:r>
            <a:r>
              <a:rPr lang="en-IN" sz="2000" dirty="0" err="1"/>
              <a:t>FocusListenerExample</a:t>
            </a:r>
            <a:r>
              <a:rPr lang="en-IN" sz="2000" dirty="0"/>
              <a:t> extends </a:t>
            </a:r>
            <a:r>
              <a:rPr lang="en-IN" sz="2000" dirty="0" err="1"/>
              <a:t>JFrame</a:t>
            </a:r>
            <a:r>
              <a:rPr lang="en-IN" sz="2000" dirty="0"/>
              <a:t> implements </a:t>
            </a:r>
            <a:r>
              <a:rPr lang="en-IN" sz="2000" dirty="0" err="1"/>
              <a:t>FocusListener</a:t>
            </a:r>
            <a:endParaRPr lang="en-IN" sz="2000" dirty="0"/>
          </a:p>
          <a:p>
            <a:r>
              <a:rPr lang="en-IN" sz="2000" dirty="0"/>
              <a:t>{</a:t>
            </a:r>
          </a:p>
          <a:p>
            <a:r>
              <a:rPr lang="en-IN" sz="2000" dirty="0"/>
              <a:t>     Button b1,b2;</a:t>
            </a:r>
          </a:p>
          <a:p>
            <a:r>
              <a:rPr lang="en-IN" sz="2000" dirty="0"/>
              <a:t>    </a:t>
            </a:r>
          </a:p>
          <a:p>
            <a:r>
              <a:rPr lang="en-IN" sz="2000" dirty="0"/>
              <a:t>     public </a:t>
            </a:r>
            <a:r>
              <a:rPr lang="en-IN" sz="2000" dirty="0" err="1"/>
              <a:t>FocusListenerExample</a:t>
            </a:r>
            <a:r>
              <a:rPr lang="en-IN" sz="2000" dirty="0"/>
              <a:t>()</a:t>
            </a:r>
          </a:p>
          <a:p>
            <a:r>
              <a:rPr lang="en-IN" sz="2000" dirty="0"/>
              <a:t>     {</a:t>
            </a:r>
          </a:p>
          <a:p>
            <a:r>
              <a:rPr lang="en-IN" sz="2000" dirty="0"/>
              <a:t>         b1=new Button ("First");</a:t>
            </a:r>
          </a:p>
          <a:p>
            <a:r>
              <a:rPr lang="en-IN" sz="2000" dirty="0"/>
              <a:t>         b2=new Button ("Second");</a:t>
            </a:r>
          </a:p>
          <a:p>
            <a:r>
              <a:rPr lang="en-IN" sz="2000" dirty="0"/>
              <a:t>         add(b1,BorderLayout.SOUTH);</a:t>
            </a:r>
          </a:p>
          <a:p>
            <a:r>
              <a:rPr lang="en-IN" sz="2000" dirty="0"/>
              <a:t>         add(b2,BorderLayout.NORTH);</a:t>
            </a:r>
          </a:p>
          <a:p>
            <a:r>
              <a:rPr lang="en-IN" sz="2000" dirty="0"/>
              <a:t>         b1.addFocusListener(this);</a:t>
            </a:r>
          </a:p>
          <a:p>
            <a:r>
              <a:rPr lang="en-IN" sz="2000" dirty="0"/>
              <a:t>         b2.addFocusListener(this);</a:t>
            </a:r>
          </a:p>
          <a:p>
            <a:r>
              <a:rPr lang="en-IN" sz="2000" dirty="0"/>
              <a:t>         </a:t>
            </a:r>
            <a:r>
              <a:rPr lang="en-IN" sz="2000" dirty="0" err="1"/>
              <a:t>setSize</a:t>
            </a:r>
            <a:r>
              <a:rPr lang="en-IN" sz="2000" dirty="0"/>
              <a:t>(200,200);</a:t>
            </a:r>
          </a:p>
          <a:p>
            <a:r>
              <a:rPr lang="en-IN" sz="2000" dirty="0"/>
              <a:t>         </a:t>
            </a:r>
            <a:r>
              <a:rPr lang="en-IN" sz="2000" dirty="0" err="1"/>
              <a:t>setDefaultCloseOperation</a:t>
            </a:r>
            <a:r>
              <a:rPr lang="en-IN" sz="2000" dirty="0"/>
              <a:t>(</a:t>
            </a:r>
            <a:r>
              <a:rPr lang="en-IN" sz="2000" dirty="0" err="1"/>
              <a:t>JFrame.EXIT_ON_CLOSE</a:t>
            </a:r>
            <a:r>
              <a:rPr lang="en-IN" sz="2000" dirty="0"/>
              <a:t>);</a:t>
            </a:r>
          </a:p>
          <a:p>
            <a:r>
              <a:rPr lang="en-IN" sz="2000" dirty="0"/>
              <a:t>         </a:t>
            </a:r>
            <a:r>
              <a:rPr lang="en-IN" sz="2000" dirty="0" err="1"/>
              <a:t>setVisible</a:t>
            </a:r>
            <a:r>
              <a:rPr lang="en-IN" sz="2000" dirty="0"/>
              <a:t>(true);</a:t>
            </a:r>
          </a:p>
          <a:p>
            <a:r>
              <a:rPr lang="en-IN" sz="2000" dirty="0"/>
              <a:t>     }</a:t>
            </a:r>
          </a:p>
        </p:txBody>
      </p:sp>
      <p:sp>
        <p:nvSpPr>
          <p:cNvPr id="5" name="Slide Number Placeholder 4"/>
          <p:cNvSpPr>
            <a:spLocks noGrp="1"/>
          </p:cNvSpPr>
          <p:nvPr>
            <p:ph type="sldNum" sz="quarter" idx="12"/>
          </p:nvPr>
        </p:nvSpPr>
        <p:spPr/>
        <p:txBody>
          <a:bodyPr/>
          <a:lstStyle/>
          <a:p>
            <a:fld id="{CABF7EEA-85D2-497E-9C95-F3C1348C26C9}" type="slidenum">
              <a:rPr lang="en-IN" smtClean="0"/>
              <a:pPr/>
              <a:t>51</a:t>
            </a:fld>
            <a:endParaRPr lang="en-I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472" y="214290"/>
            <a:ext cx="8143932" cy="6524863"/>
          </a:xfrm>
          <a:prstGeom prst="rect">
            <a:avLst/>
          </a:prstGeom>
        </p:spPr>
        <p:txBody>
          <a:bodyPr wrap="square">
            <a:spAutoFit/>
          </a:bodyPr>
          <a:lstStyle/>
          <a:p>
            <a:r>
              <a:rPr lang="en-IN" sz="2000" dirty="0"/>
              <a:t> public void </a:t>
            </a:r>
            <a:r>
              <a:rPr lang="en-IN" sz="2000" dirty="0" err="1"/>
              <a:t>focusGained</a:t>
            </a:r>
            <a:r>
              <a:rPr lang="en-IN" sz="2000" dirty="0"/>
              <a:t>(</a:t>
            </a:r>
            <a:r>
              <a:rPr lang="en-IN" sz="2000" dirty="0" err="1"/>
              <a:t>FocusEvent</a:t>
            </a:r>
            <a:r>
              <a:rPr lang="en-IN" sz="2000" dirty="0"/>
              <a:t> </a:t>
            </a:r>
            <a:r>
              <a:rPr lang="en-IN" sz="2000" dirty="0" err="1"/>
              <a:t>fe</a:t>
            </a:r>
            <a:r>
              <a:rPr lang="en-IN" sz="2000" dirty="0"/>
              <a:t>) //method of </a:t>
            </a:r>
            <a:r>
              <a:rPr lang="en-IN" sz="2000" dirty="0" err="1"/>
              <a:t>focuslistener</a:t>
            </a:r>
            <a:endParaRPr lang="en-IN" sz="2000" dirty="0"/>
          </a:p>
          <a:p>
            <a:r>
              <a:rPr lang="en-IN" sz="2000" dirty="0"/>
              <a:t>     {</a:t>
            </a:r>
          </a:p>
          <a:p>
            <a:r>
              <a:rPr lang="en-IN" sz="2000" dirty="0"/>
              <a:t>         if(</a:t>
            </a:r>
            <a:r>
              <a:rPr lang="en-IN" sz="2000" dirty="0" err="1"/>
              <a:t>fe.getSource</a:t>
            </a:r>
            <a:r>
              <a:rPr lang="en-IN" sz="2000" dirty="0"/>
              <a:t>()==b1)</a:t>
            </a:r>
          </a:p>
          <a:p>
            <a:r>
              <a:rPr lang="en-IN" sz="2000" dirty="0"/>
              <a:t>         	</a:t>
            </a:r>
            <a:r>
              <a:rPr lang="en-IN" sz="2000" dirty="0" err="1"/>
              <a:t>System.out.println</a:t>
            </a:r>
            <a:r>
              <a:rPr lang="en-IN" sz="2000" dirty="0"/>
              <a:t>(b1.getLabel()+"gained");</a:t>
            </a:r>
          </a:p>
          <a:p>
            <a:r>
              <a:rPr lang="en-IN" sz="2000" dirty="0"/>
              <a:t>         if(</a:t>
            </a:r>
            <a:r>
              <a:rPr lang="en-IN" sz="2000" dirty="0" err="1"/>
              <a:t>fe.getSource</a:t>
            </a:r>
            <a:r>
              <a:rPr lang="en-IN" sz="2000" dirty="0"/>
              <a:t>()==b2)</a:t>
            </a:r>
          </a:p>
          <a:p>
            <a:r>
              <a:rPr lang="en-IN" sz="2000" dirty="0"/>
              <a:t>         	</a:t>
            </a:r>
            <a:r>
              <a:rPr lang="en-IN" sz="2000" dirty="0" err="1"/>
              <a:t>System.out.println</a:t>
            </a:r>
            <a:r>
              <a:rPr lang="en-IN" sz="2000" dirty="0"/>
              <a:t>(b2.getLabel()+"gained");</a:t>
            </a:r>
          </a:p>
          <a:p>
            <a:r>
              <a:rPr lang="en-IN" sz="2000" dirty="0"/>
              <a:t>         if(</a:t>
            </a:r>
            <a:r>
              <a:rPr lang="en-IN" sz="2000" dirty="0" err="1"/>
              <a:t>fe.isTemporary</a:t>
            </a:r>
            <a:r>
              <a:rPr lang="en-IN" sz="2000" dirty="0"/>
              <a:t>())</a:t>
            </a:r>
          </a:p>
          <a:p>
            <a:r>
              <a:rPr lang="en-IN" sz="2000" dirty="0"/>
              <a:t>         	</a:t>
            </a:r>
            <a:r>
              <a:rPr lang="en-IN" sz="2000" dirty="0" err="1"/>
              <a:t>System.out.println</a:t>
            </a:r>
            <a:r>
              <a:rPr lang="en-IN" sz="2000" dirty="0"/>
              <a:t>("Temporary Focus");</a:t>
            </a:r>
          </a:p>
          <a:p>
            <a:r>
              <a:rPr lang="en-IN" sz="2000" dirty="0"/>
              <a:t>     }</a:t>
            </a:r>
          </a:p>
          <a:p>
            <a:r>
              <a:rPr lang="en-IN" sz="2000" dirty="0"/>
              <a:t>     public void </a:t>
            </a:r>
            <a:r>
              <a:rPr lang="en-IN" sz="2000" dirty="0" err="1"/>
              <a:t>focusLost</a:t>
            </a:r>
            <a:r>
              <a:rPr lang="en-IN" sz="2000" dirty="0"/>
              <a:t>(</a:t>
            </a:r>
            <a:r>
              <a:rPr lang="en-IN" sz="2000" dirty="0" err="1"/>
              <a:t>FocusEvent</a:t>
            </a:r>
            <a:r>
              <a:rPr lang="en-IN" sz="2000" dirty="0"/>
              <a:t> </a:t>
            </a:r>
            <a:r>
              <a:rPr lang="en-IN" sz="2000" dirty="0" err="1"/>
              <a:t>fe</a:t>
            </a:r>
            <a:r>
              <a:rPr lang="en-IN" sz="2000" dirty="0"/>
              <a:t>) //in </a:t>
            </a:r>
            <a:r>
              <a:rPr lang="en-IN" sz="2000" dirty="0" err="1"/>
              <a:t>focusevent</a:t>
            </a:r>
            <a:r>
              <a:rPr lang="en-IN" sz="2000" dirty="0"/>
              <a:t> "</a:t>
            </a:r>
            <a:r>
              <a:rPr lang="en-IN" sz="2000" dirty="0" err="1"/>
              <a:t>getID</a:t>
            </a:r>
            <a:r>
              <a:rPr lang="en-IN" sz="2000" dirty="0"/>
              <a:t>()"is a method</a:t>
            </a:r>
          </a:p>
          <a:p>
            <a:r>
              <a:rPr lang="en-IN" sz="2000" dirty="0"/>
              <a:t>     {</a:t>
            </a:r>
          </a:p>
          <a:p>
            <a:r>
              <a:rPr lang="en-IN" sz="2000" dirty="0"/>
              <a:t>         if(</a:t>
            </a:r>
            <a:r>
              <a:rPr lang="en-IN" sz="2000" dirty="0" err="1"/>
              <a:t>fe.getSource</a:t>
            </a:r>
            <a:r>
              <a:rPr lang="en-IN" sz="2000" dirty="0"/>
              <a:t>()==b1)</a:t>
            </a:r>
          </a:p>
          <a:p>
            <a:r>
              <a:rPr lang="en-IN" sz="2000" dirty="0"/>
              <a:t>	</a:t>
            </a:r>
            <a:r>
              <a:rPr lang="en-IN" sz="2000" dirty="0" err="1"/>
              <a:t>System.out.println</a:t>
            </a:r>
            <a:r>
              <a:rPr lang="en-IN" sz="2000" dirty="0"/>
              <a:t>(b1.getLabel()+"lost");</a:t>
            </a:r>
          </a:p>
          <a:p>
            <a:r>
              <a:rPr lang="en-IN" sz="2000" dirty="0"/>
              <a:t>         if(</a:t>
            </a:r>
            <a:r>
              <a:rPr lang="en-IN" sz="2000" dirty="0" err="1"/>
              <a:t>fe.getSource</a:t>
            </a:r>
            <a:r>
              <a:rPr lang="en-IN" sz="2000" dirty="0"/>
              <a:t>()==b2)</a:t>
            </a:r>
          </a:p>
          <a:p>
            <a:r>
              <a:rPr lang="en-IN" sz="2000" dirty="0"/>
              <a:t>         	</a:t>
            </a:r>
            <a:r>
              <a:rPr lang="en-IN" sz="2000" dirty="0" err="1"/>
              <a:t>System.out.println</a:t>
            </a:r>
            <a:r>
              <a:rPr lang="en-IN" sz="2000" dirty="0"/>
              <a:t>(b2.getLabel()+"lost");</a:t>
            </a:r>
          </a:p>
          <a:p>
            <a:r>
              <a:rPr lang="en-IN" sz="2000" dirty="0"/>
              <a:t>     }</a:t>
            </a:r>
          </a:p>
          <a:p>
            <a:r>
              <a:rPr lang="en-IN" sz="2000" dirty="0"/>
              <a:t>     public static void main(String a[])</a:t>
            </a:r>
          </a:p>
          <a:p>
            <a:r>
              <a:rPr lang="en-IN" sz="2000" dirty="0"/>
              <a:t>     {</a:t>
            </a:r>
          </a:p>
          <a:p>
            <a:r>
              <a:rPr lang="en-IN" sz="2000" dirty="0"/>
              <a:t>         new </a:t>
            </a:r>
            <a:r>
              <a:rPr lang="en-IN" sz="2000" dirty="0" err="1"/>
              <a:t>FocusListenerExample</a:t>
            </a:r>
            <a:r>
              <a:rPr lang="en-IN" sz="2000" dirty="0"/>
              <a:t>();</a:t>
            </a:r>
          </a:p>
          <a:p>
            <a:r>
              <a:rPr lang="en-IN" sz="2000" dirty="0"/>
              <a:t>     }</a:t>
            </a:r>
          </a:p>
          <a:p>
            <a:r>
              <a:rPr lang="en-IN" sz="2000" dirty="0"/>
              <a:t>}</a:t>
            </a:r>
          </a:p>
        </p:txBody>
      </p:sp>
      <p:sp>
        <p:nvSpPr>
          <p:cNvPr id="5" name="Slide Number Placeholder 4"/>
          <p:cNvSpPr>
            <a:spLocks noGrp="1"/>
          </p:cNvSpPr>
          <p:nvPr>
            <p:ph type="sldNum" sz="quarter" idx="12"/>
          </p:nvPr>
        </p:nvSpPr>
        <p:spPr/>
        <p:txBody>
          <a:bodyPr/>
          <a:lstStyle/>
          <a:p>
            <a:fld id="{CABF7EEA-85D2-497E-9C95-F3C1348C26C9}" type="slidenum">
              <a:rPr lang="en-IN" smtClean="0"/>
              <a:pPr/>
              <a:t>52</a:t>
            </a:fld>
            <a:endParaRPr lang="en-I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ABF7EEA-85D2-497E-9C95-F3C1348C26C9}" type="slidenum">
              <a:rPr lang="en-IN" smtClean="0"/>
              <a:pPr/>
              <a:t>53</a:t>
            </a:fld>
            <a:endParaRPr lang="en-IN"/>
          </a:p>
        </p:txBody>
      </p:sp>
      <p:pic>
        <p:nvPicPr>
          <p:cNvPr id="2" name="Picture 1"/>
          <p:cNvPicPr>
            <a:picLocks noChangeAspect="1"/>
          </p:cNvPicPr>
          <p:nvPr/>
        </p:nvPicPr>
        <p:blipFill>
          <a:blip r:embed="rId2"/>
          <a:stretch>
            <a:fillRect/>
          </a:stretch>
        </p:blipFill>
        <p:spPr>
          <a:xfrm>
            <a:off x="683568" y="764704"/>
            <a:ext cx="7661020" cy="5094017"/>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277813"/>
            <a:ext cx="8229600" cy="407987"/>
          </a:xfrm>
        </p:spPr>
        <p:txBody>
          <a:bodyPr>
            <a:normAutofit fontScale="90000"/>
          </a:bodyPr>
          <a:lstStyle/>
          <a:p>
            <a:r>
              <a:rPr lang="en-US" sz="3800" b="1" dirty="0" err="1"/>
              <a:t>ItemEvent</a:t>
            </a:r>
            <a:r>
              <a:rPr lang="en-US" sz="3800" b="1" dirty="0"/>
              <a:t> class</a:t>
            </a:r>
            <a:r>
              <a:rPr lang="en-US" sz="3800" dirty="0"/>
              <a:t> </a:t>
            </a:r>
          </a:p>
        </p:txBody>
      </p:sp>
      <p:sp>
        <p:nvSpPr>
          <p:cNvPr id="32771" name="Rectangle 3"/>
          <p:cNvSpPr>
            <a:spLocks noGrp="1" noChangeArrowheads="1"/>
          </p:cNvSpPr>
          <p:nvPr>
            <p:ph type="body" idx="1"/>
          </p:nvPr>
        </p:nvSpPr>
        <p:spPr>
          <a:xfrm>
            <a:off x="457200" y="1066800"/>
            <a:ext cx="8507288" cy="5486400"/>
          </a:xfrm>
        </p:spPr>
        <p:txBody>
          <a:bodyPr/>
          <a:lstStyle/>
          <a:p>
            <a:r>
              <a:rPr lang="en-US" sz="2600" dirty="0"/>
              <a:t>A semantic event which indicates that an </a:t>
            </a:r>
            <a:r>
              <a:rPr lang="en-US" sz="2600" b="1" dirty="0"/>
              <a:t>item was selected or deselected. </a:t>
            </a:r>
          </a:p>
          <a:p>
            <a:r>
              <a:rPr lang="en-US" sz="2600" dirty="0"/>
              <a:t>This high-level event is generated by an </a:t>
            </a:r>
            <a:r>
              <a:rPr lang="en-US" sz="2600" dirty="0" err="1"/>
              <a:t>ItemSelectable</a:t>
            </a:r>
            <a:r>
              <a:rPr lang="en-US" sz="2600" dirty="0"/>
              <a:t> object (such as a List) when an item is selected or deselected by the user. </a:t>
            </a:r>
          </a:p>
          <a:p>
            <a:r>
              <a:rPr lang="en-US" sz="2600" dirty="0"/>
              <a:t>This class has following </a:t>
            </a:r>
            <a:r>
              <a:rPr lang="en-US" sz="2600" b="1" dirty="0"/>
              <a:t>constants.</a:t>
            </a:r>
          </a:p>
          <a:p>
            <a:r>
              <a:rPr lang="en-US" sz="2600" b="1" dirty="0"/>
              <a:t>public static final </a:t>
            </a:r>
            <a:r>
              <a:rPr lang="en-US" sz="2600" b="1" dirty="0" err="1"/>
              <a:t>int</a:t>
            </a:r>
            <a:r>
              <a:rPr lang="en-US" sz="2600" b="1" dirty="0"/>
              <a:t> SELECTED</a:t>
            </a:r>
            <a:endParaRPr lang="en-US" sz="2600" dirty="0"/>
          </a:p>
          <a:p>
            <a:pPr lvl="1"/>
            <a:r>
              <a:rPr lang="en-US" dirty="0"/>
              <a:t>This state-change value indicates that an item was selected. </a:t>
            </a:r>
            <a:endParaRPr lang="en-US" b="1" dirty="0"/>
          </a:p>
          <a:p>
            <a:r>
              <a:rPr lang="en-US" sz="2600" b="1" dirty="0"/>
              <a:t>public static final </a:t>
            </a:r>
            <a:r>
              <a:rPr lang="en-US" sz="2600" b="1" dirty="0" err="1"/>
              <a:t>int</a:t>
            </a:r>
            <a:r>
              <a:rPr lang="en-US" sz="2600" b="1" dirty="0"/>
              <a:t> DESELECTED</a:t>
            </a:r>
            <a:endParaRPr lang="en-US" sz="2600" dirty="0"/>
          </a:p>
          <a:p>
            <a:pPr lvl="1"/>
            <a:r>
              <a:rPr lang="en-US" dirty="0"/>
              <a:t>This state-change-value indicates that a selected item was deselected</a:t>
            </a:r>
          </a:p>
        </p:txBody>
      </p:sp>
      <p:sp>
        <p:nvSpPr>
          <p:cNvPr id="4" name="Slide Number Placeholder 3"/>
          <p:cNvSpPr>
            <a:spLocks noGrp="1"/>
          </p:cNvSpPr>
          <p:nvPr>
            <p:ph type="sldNum" sz="quarter" idx="12"/>
          </p:nvPr>
        </p:nvSpPr>
        <p:spPr/>
        <p:txBody>
          <a:bodyPr/>
          <a:lstStyle/>
          <a:p>
            <a:fld id="{CABF7EEA-85D2-497E-9C95-F3C1348C26C9}" type="slidenum">
              <a:rPr lang="en-IN" smtClean="0"/>
              <a:pPr/>
              <a:t>54</a:t>
            </a:fld>
            <a:endParaRPr lang="en-IN"/>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type="body" idx="1"/>
          </p:nvPr>
        </p:nvSpPr>
        <p:spPr>
          <a:xfrm>
            <a:off x="152400" y="533400"/>
            <a:ext cx="8763000" cy="5943600"/>
          </a:xfrm>
        </p:spPr>
        <p:txBody>
          <a:bodyPr/>
          <a:lstStyle/>
          <a:p>
            <a:r>
              <a:rPr lang="en-US" sz="2600" b="1"/>
              <a:t>public ItemEvent (ItemSelectable source, int id, Object item, int stateChange)</a:t>
            </a:r>
            <a:endParaRPr lang="en-US" sz="2600"/>
          </a:p>
          <a:p>
            <a:pPr lvl="1"/>
            <a:r>
              <a:rPr lang="en-US"/>
              <a:t>Constructs an ItemEvent object. </a:t>
            </a:r>
            <a:endParaRPr lang="en-US" b="1"/>
          </a:p>
          <a:p>
            <a:pPr lvl="1"/>
            <a:r>
              <a:rPr lang="en-US" b="1"/>
              <a:t>Parameters:</a:t>
            </a:r>
            <a:r>
              <a:rPr lang="en-US"/>
              <a:t> </a:t>
            </a:r>
          </a:p>
          <a:p>
            <a:pPr lvl="1"/>
            <a:r>
              <a:rPr lang="en-US" b="1"/>
              <a:t>source</a:t>
            </a:r>
            <a:r>
              <a:rPr lang="en-US"/>
              <a:t> - the ItemSelectable object that originated the event </a:t>
            </a:r>
          </a:p>
          <a:p>
            <a:pPr lvl="1"/>
            <a:r>
              <a:rPr lang="en-US" b="1"/>
              <a:t>id</a:t>
            </a:r>
            <a:r>
              <a:rPr lang="en-US"/>
              <a:t> - an integer that identifies the event type </a:t>
            </a:r>
          </a:p>
          <a:p>
            <a:pPr lvl="1"/>
            <a:r>
              <a:rPr lang="en-US" b="1"/>
              <a:t>item</a:t>
            </a:r>
            <a:r>
              <a:rPr lang="en-US"/>
              <a:t> - an object -- the item affected by the event </a:t>
            </a:r>
          </a:p>
          <a:p>
            <a:pPr lvl="1"/>
            <a:r>
              <a:rPr lang="en-US" b="1"/>
              <a:t>stateChange</a:t>
            </a:r>
            <a:r>
              <a:rPr lang="en-US"/>
              <a:t> - an integer that indicates whether the item was selected or deselected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55</a:t>
            </a:fld>
            <a:endParaRPr lang="en-I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277813"/>
            <a:ext cx="8229600" cy="636587"/>
          </a:xfrm>
        </p:spPr>
        <p:txBody>
          <a:bodyPr>
            <a:normAutofit fontScale="90000"/>
          </a:bodyPr>
          <a:lstStyle/>
          <a:p>
            <a:r>
              <a:rPr lang="en-US" sz="3800" b="1"/>
              <a:t>Methods of ItemEvent Class</a:t>
            </a:r>
          </a:p>
        </p:txBody>
      </p:sp>
      <p:sp>
        <p:nvSpPr>
          <p:cNvPr id="34819" name="Rectangle 3"/>
          <p:cNvSpPr>
            <a:spLocks noGrp="1" noChangeArrowheads="1"/>
          </p:cNvSpPr>
          <p:nvPr>
            <p:ph type="body" idx="1"/>
          </p:nvPr>
        </p:nvSpPr>
        <p:spPr>
          <a:xfrm>
            <a:off x="304800" y="1143000"/>
            <a:ext cx="8610600" cy="5486400"/>
          </a:xfrm>
        </p:spPr>
        <p:txBody>
          <a:bodyPr/>
          <a:lstStyle/>
          <a:p>
            <a:r>
              <a:rPr lang="en-US" sz="2600" b="1"/>
              <a:t>public ItemSelectable getItemSelectable()</a:t>
            </a:r>
            <a:endParaRPr lang="en-US" sz="2600"/>
          </a:p>
          <a:p>
            <a:pPr lvl="1"/>
            <a:r>
              <a:rPr lang="en-US" sz="2200"/>
              <a:t>Returns the creator of the event. </a:t>
            </a:r>
            <a:endParaRPr lang="en-US" sz="2200" b="1"/>
          </a:p>
          <a:p>
            <a:pPr lvl="1"/>
            <a:r>
              <a:rPr lang="en-US" sz="2200" b="1"/>
              <a:t>Returns:</a:t>
            </a:r>
            <a:r>
              <a:rPr lang="en-US" sz="2200"/>
              <a:t> the ItemSelectable object that originated the event.</a:t>
            </a:r>
          </a:p>
          <a:p>
            <a:r>
              <a:rPr lang="en-US" sz="2600" b="1"/>
              <a:t>public Object getItem()</a:t>
            </a:r>
            <a:endParaRPr lang="en-US" sz="2600"/>
          </a:p>
          <a:p>
            <a:pPr lvl="1"/>
            <a:r>
              <a:rPr lang="en-US" sz="2200"/>
              <a:t>Returns the item affected by the event. </a:t>
            </a:r>
            <a:endParaRPr lang="en-US" sz="2200" b="1"/>
          </a:p>
          <a:p>
            <a:pPr lvl="1"/>
            <a:r>
              <a:rPr lang="en-US" sz="2200" b="1"/>
              <a:t>Returns:</a:t>
            </a:r>
            <a:r>
              <a:rPr lang="en-US" sz="2200"/>
              <a:t> the item (object) that was affected by the event.</a:t>
            </a:r>
          </a:p>
          <a:p>
            <a:r>
              <a:rPr lang="en-US" sz="2600" b="1"/>
              <a:t>public int getStateChange()</a:t>
            </a:r>
            <a:endParaRPr lang="en-US" sz="2600"/>
          </a:p>
          <a:p>
            <a:pPr lvl="1"/>
            <a:r>
              <a:rPr lang="en-US" sz="2200"/>
              <a:t>Returns the type of state change (selected or deselected). </a:t>
            </a:r>
            <a:endParaRPr lang="en-US" sz="2200" b="1"/>
          </a:p>
          <a:p>
            <a:pPr lvl="1"/>
            <a:r>
              <a:rPr lang="en-US" sz="2200" b="1"/>
              <a:t>Returns:</a:t>
            </a:r>
            <a:r>
              <a:rPr lang="en-US" sz="2200"/>
              <a:t> an integer that indicates whether the item was selected or deselected</a:t>
            </a:r>
          </a:p>
        </p:txBody>
      </p:sp>
      <p:sp>
        <p:nvSpPr>
          <p:cNvPr id="4" name="Slide Number Placeholder 3"/>
          <p:cNvSpPr>
            <a:spLocks noGrp="1"/>
          </p:cNvSpPr>
          <p:nvPr>
            <p:ph type="sldNum" sz="quarter" idx="12"/>
          </p:nvPr>
        </p:nvSpPr>
        <p:spPr/>
        <p:txBody>
          <a:bodyPr/>
          <a:lstStyle/>
          <a:p>
            <a:fld id="{CABF7EEA-85D2-497E-9C95-F3C1348C26C9}" type="slidenum">
              <a:rPr lang="en-IN" smtClean="0"/>
              <a:pPr/>
              <a:t>56</a:t>
            </a:fld>
            <a:endParaRPr lang="en-I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277813"/>
            <a:ext cx="8229600" cy="560387"/>
          </a:xfrm>
        </p:spPr>
        <p:txBody>
          <a:bodyPr>
            <a:normAutofit fontScale="90000"/>
          </a:bodyPr>
          <a:lstStyle/>
          <a:p>
            <a:r>
              <a:rPr lang="en-US" sz="3800" b="1"/>
              <a:t>ItemListener interface</a:t>
            </a:r>
            <a:r>
              <a:rPr lang="en-US" sz="3800"/>
              <a:t> </a:t>
            </a:r>
          </a:p>
        </p:txBody>
      </p:sp>
      <p:sp>
        <p:nvSpPr>
          <p:cNvPr id="35843" name="Rectangle 3"/>
          <p:cNvSpPr>
            <a:spLocks noGrp="1" noChangeArrowheads="1"/>
          </p:cNvSpPr>
          <p:nvPr>
            <p:ph type="body" idx="1"/>
          </p:nvPr>
        </p:nvSpPr>
        <p:spPr>
          <a:xfrm>
            <a:off x="228600" y="1219200"/>
            <a:ext cx="8686800" cy="5181600"/>
          </a:xfrm>
        </p:spPr>
        <p:txBody>
          <a:bodyPr/>
          <a:lstStyle/>
          <a:p>
            <a:r>
              <a:rPr lang="en-US" dirty="0"/>
              <a:t>The listener interface for receiving item events.</a:t>
            </a:r>
          </a:p>
          <a:p>
            <a:endParaRPr lang="en-US" dirty="0"/>
          </a:p>
          <a:p>
            <a:r>
              <a:rPr lang="en-US" b="1" dirty="0"/>
              <a:t>void </a:t>
            </a:r>
            <a:r>
              <a:rPr lang="en-US" b="1" dirty="0" err="1"/>
              <a:t>itemStateChanged</a:t>
            </a:r>
            <a:r>
              <a:rPr lang="en-US" b="1" dirty="0"/>
              <a:t>(</a:t>
            </a:r>
            <a:r>
              <a:rPr lang="en-US" b="1" dirty="0" err="1"/>
              <a:t>ItemEvent</a:t>
            </a:r>
            <a:r>
              <a:rPr lang="en-US" b="1" dirty="0"/>
              <a:t> e)</a:t>
            </a:r>
            <a:endParaRPr lang="en-US" dirty="0"/>
          </a:p>
          <a:p>
            <a:r>
              <a:rPr lang="en-US" dirty="0"/>
              <a:t>Invoked when an item has been selected or deselected by the user. </a:t>
            </a:r>
          </a:p>
          <a:p>
            <a:r>
              <a:rPr lang="en-US" dirty="0"/>
              <a:t>The code written for this method performs the operations that need to occur when an item is selected (or deselected).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57</a:t>
            </a:fld>
            <a:endParaRPr lang="en-I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2910" y="857232"/>
            <a:ext cx="7786742" cy="4985980"/>
          </a:xfrm>
          <a:prstGeom prst="rect">
            <a:avLst/>
          </a:prstGeom>
        </p:spPr>
        <p:txBody>
          <a:bodyPr wrap="square">
            <a:spAutoFit/>
          </a:bodyPr>
          <a:lstStyle/>
          <a:p>
            <a:r>
              <a:rPr lang="en-IN" sz="2000" dirty="0"/>
              <a:t>import </a:t>
            </a:r>
            <a:r>
              <a:rPr lang="en-IN" sz="2000" dirty="0" err="1"/>
              <a:t>java.applet</a:t>
            </a:r>
            <a:r>
              <a:rPr lang="en-IN" sz="2000" dirty="0"/>
              <a:t>.*;</a:t>
            </a:r>
          </a:p>
          <a:p>
            <a:r>
              <a:rPr lang="en-IN" sz="2000" dirty="0"/>
              <a:t>import java.awt.*;</a:t>
            </a:r>
          </a:p>
          <a:p>
            <a:r>
              <a:rPr lang="en-IN" sz="2000" dirty="0"/>
              <a:t>import java.awt.event.*;</a:t>
            </a:r>
          </a:p>
          <a:p>
            <a:r>
              <a:rPr lang="en-IN" sz="2000" dirty="0"/>
              <a:t> </a:t>
            </a:r>
          </a:p>
          <a:p>
            <a:r>
              <a:rPr lang="en-IN" sz="2000" dirty="0"/>
              <a:t> /* &lt;applet code="</a:t>
            </a:r>
            <a:r>
              <a:rPr lang="en-IN" sz="2000" dirty="0" err="1"/>
              <a:t>ItemListenerExample</a:t>
            </a:r>
            <a:r>
              <a:rPr lang="en-IN" sz="2000" dirty="0"/>
              <a:t>" width=200 height=200&gt;</a:t>
            </a:r>
          </a:p>
          <a:p>
            <a:r>
              <a:rPr lang="en-IN" sz="2000" dirty="0"/>
              <a:t>&lt;/applet&gt; */</a:t>
            </a:r>
          </a:p>
          <a:p>
            <a:r>
              <a:rPr lang="en-IN" sz="2000" dirty="0"/>
              <a:t> </a:t>
            </a:r>
          </a:p>
          <a:p>
            <a:r>
              <a:rPr lang="en-IN" sz="2000" dirty="0"/>
              <a:t>public class </a:t>
            </a:r>
            <a:r>
              <a:rPr lang="en-IN" sz="2000" dirty="0" err="1"/>
              <a:t>ItemListenerExample</a:t>
            </a:r>
            <a:r>
              <a:rPr lang="en-IN" sz="2000" dirty="0"/>
              <a:t> extends Applet implements </a:t>
            </a:r>
            <a:r>
              <a:rPr lang="en-IN" sz="2000" dirty="0" err="1"/>
              <a:t>ItemListener</a:t>
            </a:r>
            <a:endParaRPr lang="en-IN" sz="2000" dirty="0"/>
          </a:p>
          <a:p>
            <a:r>
              <a:rPr lang="en-IN" sz="2000" dirty="0"/>
              <a:t>{</a:t>
            </a:r>
          </a:p>
          <a:p>
            <a:r>
              <a:rPr lang="en-IN" sz="2000" dirty="0"/>
              <a:t> </a:t>
            </a:r>
          </a:p>
          <a:p>
            <a:r>
              <a:rPr lang="en-IN" sz="2000" dirty="0"/>
              <a:t>        Checkbox java = null;</a:t>
            </a:r>
          </a:p>
          <a:p>
            <a:r>
              <a:rPr lang="en-IN" sz="2000" dirty="0"/>
              <a:t>        Checkbox </a:t>
            </a:r>
            <a:r>
              <a:rPr lang="en-IN" sz="2000" dirty="0" err="1"/>
              <a:t>vb</a:t>
            </a:r>
            <a:r>
              <a:rPr lang="en-IN" sz="2000" dirty="0"/>
              <a:t> = null;</a:t>
            </a:r>
          </a:p>
          <a:p>
            <a:r>
              <a:rPr lang="en-IN" sz="2000" dirty="0"/>
              <a:t>        Checkbox c = null;</a:t>
            </a:r>
          </a:p>
          <a:p>
            <a:r>
              <a:rPr lang="en-IN" sz="2000" dirty="0"/>
              <a:t>       </a:t>
            </a:r>
          </a:p>
          <a:p>
            <a:r>
              <a:rPr lang="en-IN" sz="2000" dirty="0"/>
              <a:t>        </a:t>
            </a:r>
          </a:p>
        </p:txBody>
      </p:sp>
      <p:sp>
        <p:nvSpPr>
          <p:cNvPr id="5" name="Slide Number Placeholder 4"/>
          <p:cNvSpPr>
            <a:spLocks noGrp="1"/>
          </p:cNvSpPr>
          <p:nvPr>
            <p:ph type="sldNum" sz="quarter" idx="12"/>
          </p:nvPr>
        </p:nvSpPr>
        <p:spPr/>
        <p:txBody>
          <a:bodyPr/>
          <a:lstStyle/>
          <a:p>
            <a:fld id="{CABF7EEA-85D2-497E-9C95-F3C1348C26C9}" type="slidenum">
              <a:rPr lang="en-IN" smtClean="0"/>
              <a:pPr/>
              <a:t>58</a:t>
            </a:fld>
            <a:endParaRPr lang="en-I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7224" y="-71461"/>
            <a:ext cx="7500990" cy="7017306"/>
          </a:xfrm>
          <a:prstGeom prst="rect">
            <a:avLst/>
          </a:prstGeom>
        </p:spPr>
        <p:txBody>
          <a:bodyPr wrap="square">
            <a:spAutoFit/>
          </a:bodyPr>
          <a:lstStyle/>
          <a:p>
            <a:r>
              <a:rPr lang="en-IN" dirty="0"/>
              <a:t>         public void init()</a:t>
            </a:r>
          </a:p>
          <a:p>
            <a:r>
              <a:rPr lang="en-IN" dirty="0"/>
              <a:t>         {</a:t>
            </a:r>
          </a:p>
          <a:p>
            <a:r>
              <a:rPr lang="en-IN" dirty="0"/>
              <a:t>                java = new Checkbox("Java");</a:t>
            </a:r>
          </a:p>
          <a:p>
            <a:r>
              <a:rPr lang="en-IN" dirty="0"/>
              <a:t>                </a:t>
            </a:r>
            <a:r>
              <a:rPr lang="en-IN" dirty="0" err="1"/>
              <a:t>vb</a:t>
            </a:r>
            <a:r>
              <a:rPr lang="en-IN" dirty="0"/>
              <a:t> = new Checkbox("Visual Basic");</a:t>
            </a:r>
          </a:p>
          <a:p>
            <a:r>
              <a:rPr lang="en-IN" dirty="0"/>
              <a:t>                c = new Checkbox("C");</a:t>
            </a:r>
          </a:p>
          <a:p>
            <a:r>
              <a:rPr lang="en-IN" dirty="0"/>
              <a:t>      </a:t>
            </a:r>
            <a:r>
              <a:rPr lang="en-IN" sz="1100" dirty="0"/>
              <a:t>         </a:t>
            </a:r>
            <a:endParaRPr lang="en-IN" dirty="0"/>
          </a:p>
          <a:p>
            <a:r>
              <a:rPr lang="en-IN" dirty="0"/>
              <a:t>                add(java);</a:t>
            </a:r>
          </a:p>
          <a:p>
            <a:r>
              <a:rPr lang="en-IN" dirty="0"/>
              <a:t>                add(</a:t>
            </a:r>
            <a:r>
              <a:rPr lang="en-IN" dirty="0" err="1"/>
              <a:t>vb</a:t>
            </a:r>
            <a:r>
              <a:rPr lang="en-IN" dirty="0"/>
              <a:t>);</a:t>
            </a:r>
          </a:p>
          <a:p>
            <a:r>
              <a:rPr lang="en-IN" dirty="0"/>
              <a:t>                add(c);</a:t>
            </a:r>
          </a:p>
          <a:p>
            <a:r>
              <a:rPr lang="en-IN" dirty="0"/>
              <a:t>               </a:t>
            </a:r>
          </a:p>
          <a:p>
            <a:r>
              <a:rPr lang="en-IN" dirty="0"/>
              <a:t>                </a:t>
            </a:r>
            <a:r>
              <a:rPr lang="en-IN" dirty="0" err="1"/>
              <a:t>java.addItemListener</a:t>
            </a:r>
            <a:r>
              <a:rPr lang="en-IN" dirty="0"/>
              <a:t>(this);</a:t>
            </a:r>
          </a:p>
          <a:p>
            <a:r>
              <a:rPr lang="en-IN" dirty="0"/>
              <a:t>                </a:t>
            </a:r>
            <a:r>
              <a:rPr lang="en-IN" dirty="0" err="1"/>
              <a:t>vb.addItemListener</a:t>
            </a:r>
            <a:r>
              <a:rPr lang="en-IN" dirty="0"/>
              <a:t>(this);</a:t>
            </a:r>
          </a:p>
          <a:p>
            <a:r>
              <a:rPr lang="en-IN" dirty="0"/>
              <a:t>                </a:t>
            </a:r>
            <a:r>
              <a:rPr lang="en-IN" dirty="0" err="1"/>
              <a:t>c.addItemListener</a:t>
            </a:r>
            <a:r>
              <a:rPr lang="en-IN" dirty="0"/>
              <a:t>(this);</a:t>
            </a:r>
          </a:p>
          <a:p>
            <a:r>
              <a:rPr lang="en-IN" dirty="0"/>
              <a:t>        }</a:t>
            </a:r>
          </a:p>
          <a:p>
            <a:r>
              <a:rPr lang="en-IN" dirty="0"/>
              <a:t>        public void paint(Graphics g)</a:t>
            </a:r>
          </a:p>
          <a:p>
            <a:r>
              <a:rPr lang="en-IN" dirty="0"/>
              <a:t>        {</a:t>
            </a:r>
          </a:p>
          <a:p>
            <a:r>
              <a:rPr lang="en-IN" dirty="0"/>
              <a:t>                </a:t>
            </a:r>
            <a:r>
              <a:rPr lang="en-IN" dirty="0" err="1"/>
              <a:t>g.drawString</a:t>
            </a:r>
            <a:r>
              <a:rPr lang="en-IN" dirty="0"/>
              <a:t>("Java: " + </a:t>
            </a:r>
            <a:r>
              <a:rPr lang="en-IN" dirty="0" err="1"/>
              <a:t>java.getState</a:t>
            </a:r>
            <a:r>
              <a:rPr lang="en-IN" dirty="0"/>
              <a:t>(),10,80);</a:t>
            </a:r>
          </a:p>
          <a:p>
            <a:r>
              <a:rPr lang="en-IN" dirty="0"/>
              <a:t>                </a:t>
            </a:r>
            <a:r>
              <a:rPr lang="en-IN" dirty="0" err="1"/>
              <a:t>g.drawString</a:t>
            </a:r>
            <a:r>
              <a:rPr lang="en-IN" dirty="0"/>
              <a:t>("VB: " + </a:t>
            </a:r>
            <a:r>
              <a:rPr lang="en-IN" dirty="0" err="1"/>
              <a:t>vb.getState</a:t>
            </a:r>
            <a:r>
              <a:rPr lang="en-IN" dirty="0"/>
              <a:t>(), 10, 100);</a:t>
            </a:r>
          </a:p>
          <a:p>
            <a:r>
              <a:rPr lang="en-IN" dirty="0"/>
              <a:t>                </a:t>
            </a:r>
            <a:r>
              <a:rPr lang="en-IN" dirty="0" err="1"/>
              <a:t>g.drawString</a:t>
            </a:r>
            <a:r>
              <a:rPr lang="en-IN" dirty="0"/>
              <a:t>("C: " + </a:t>
            </a:r>
            <a:r>
              <a:rPr lang="en-IN" dirty="0" err="1"/>
              <a:t>c.getState</a:t>
            </a:r>
            <a:r>
              <a:rPr lang="en-IN" dirty="0"/>
              <a:t>(), 10, 120);  </a:t>
            </a:r>
          </a:p>
          <a:p>
            <a:r>
              <a:rPr lang="en-IN" dirty="0"/>
              <a:t>        }</a:t>
            </a:r>
          </a:p>
          <a:p>
            <a:r>
              <a:rPr lang="en-IN" dirty="0"/>
              <a:t>       public void </a:t>
            </a:r>
            <a:r>
              <a:rPr lang="en-IN" dirty="0" err="1"/>
              <a:t>itemStateChanged</a:t>
            </a:r>
            <a:r>
              <a:rPr lang="en-IN" dirty="0"/>
              <a:t>(</a:t>
            </a:r>
            <a:r>
              <a:rPr lang="en-IN" dirty="0" err="1"/>
              <a:t>ItemEvent</a:t>
            </a:r>
            <a:r>
              <a:rPr lang="en-IN" dirty="0"/>
              <a:t> </a:t>
            </a:r>
            <a:r>
              <a:rPr lang="en-IN" dirty="0" err="1"/>
              <a:t>ie</a:t>
            </a:r>
            <a:r>
              <a:rPr lang="en-IN" dirty="0"/>
              <a:t>)</a:t>
            </a:r>
          </a:p>
          <a:p>
            <a:r>
              <a:rPr lang="en-IN" dirty="0"/>
              <a:t>       {</a:t>
            </a:r>
          </a:p>
          <a:p>
            <a:r>
              <a:rPr lang="en-IN" dirty="0"/>
              <a:t>                repaint();             </a:t>
            </a:r>
          </a:p>
          <a:p>
            <a:r>
              <a:rPr lang="en-IN" dirty="0"/>
              <a:t>        }</a:t>
            </a:r>
          </a:p>
          <a:p>
            <a:r>
              <a:rPr lang="en-IN" dirty="0"/>
              <a:t>} </a:t>
            </a:r>
          </a:p>
        </p:txBody>
      </p:sp>
      <p:sp>
        <p:nvSpPr>
          <p:cNvPr id="5" name="Slide Number Placeholder 4"/>
          <p:cNvSpPr>
            <a:spLocks noGrp="1"/>
          </p:cNvSpPr>
          <p:nvPr>
            <p:ph type="sldNum" sz="quarter" idx="12"/>
          </p:nvPr>
        </p:nvSpPr>
        <p:spPr/>
        <p:txBody>
          <a:bodyPr/>
          <a:lstStyle/>
          <a:p>
            <a:fld id="{CABF7EEA-85D2-497E-9C95-F3C1348C26C9}" type="slidenum">
              <a:rPr lang="en-IN" smtClean="0"/>
              <a:pPr/>
              <a:t>59</a:t>
            </a:fld>
            <a:endParaRPr lang="en-I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428860" y="1142984"/>
            <a:ext cx="4143404" cy="3786214"/>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CABF7EEA-85D2-497E-9C95-F3C1348C26C9}" type="slidenum">
              <a:rPr lang="en-IN" smtClean="0"/>
              <a:pPr/>
              <a:t>60</a:t>
            </a:fld>
            <a:endParaRPr lang="en-I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277813"/>
            <a:ext cx="8229600" cy="560387"/>
          </a:xfrm>
        </p:spPr>
        <p:txBody>
          <a:bodyPr>
            <a:normAutofit fontScale="90000"/>
          </a:bodyPr>
          <a:lstStyle/>
          <a:p>
            <a:r>
              <a:rPr lang="en-US" sz="3800" b="1" dirty="0" err="1"/>
              <a:t>KeyEvent</a:t>
            </a:r>
            <a:r>
              <a:rPr lang="en-US" sz="3800" b="1" dirty="0"/>
              <a:t> class</a:t>
            </a:r>
            <a:r>
              <a:rPr lang="en-US" sz="3800" dirty="0"/>
              <a:t> </a:t>
            </a:r>
          </a:p>
        </p:txBody>
      </p:sp>
      <p:sp>
        <p:nvSpPr>
          <p:cNvPr id="27651" name="Rectangle 3"/>
          <p:cNvSpPr>
            <a:spLocks noGrp="1" noChangeArrowheads="1"/>
          </p:cNvSpPr>
          <p:nvPr>
            <p:ph type="body" idx="1"/>
          </p:nvPr>
        </p:nvSpPr>
        <p:spPr>
          <a:xfrm>
            <a:off x="152400" y="914400"/>
            <a:ext cx="8668072" cy="5715000"/>
          </a:xfrm>
        </p:spPr>
        <p:txBody>
          <a:bodyPr>
            <a:noAutofit/>
          </a:bodyPr>
          <a:lstStyle/>
          <a:p>
            <a:pPr>
              <a:lnSpc>
                <a:spcPct val="90000"/>
              </a:lnSpc>
            </a:pPr>
            <a:r>
              <a:rPr lang="en-US" dirty="0">
                <a:latin typeface="Cambria" panose="02040503050406030204" pitchFamily="18" charset="0"/>
                <a:ea typeface="Cambria" panose="02040503050406030204" pitchFamily="18" charset="0"/>
              </a:rPr>
              <a:t>An event which indicates that a keystroke occurred in a component. </a:t>
            </a:r>
            <a:endParaRPr lang="en-US" sz="2800" dirty="0">
              <a:latin typeface="Cambria" panose="02040503050406030204" pitchFamily="18" charset="0"/>
              <a:ea typeface="Cambria" panose="02040503050406030204" pitchFamily="18" charset="0"/>
            </a:endParaRPr>
          </a:p>
          <a:p>
            <a:pPr>
              <a:lnSpc>
                <a:spcPct val="90000"/>
              </a:lnSpc>
            </a:pPr>
            <a:r>
              <a:rPr lang="en-US" sz="2800" b="1" dirty="0">
                <a:latin typeface="Cambria" panose="02040503050406030204" pitchFamily="18" charset="0"/>
                <a:ea typeface="Cambria" panose="02040503050406030204" pitchFamily="18" charset="0"/>
              </a:rPr>
              <a:t>This class has following constant.</a:t>
            </a:r>
            <a:endParaRPr lang="en-US" sz="2400" b="1" dirty="0">
              <a:latin typeface="Cambria" panose="02040503050406030204" pitchFamily="18" charset="0"/>
              <a:ea typeface="Cambria" panose="02040503050406030204" pitchFamily="18" charset="0"/>
            </a:endParaRPr>
          </a:p>
          <a:p>
            <a:pPr>
              <a:lnSpc>
                <a:spcPct val="90000"/>
              </a:lnSpc>
            </a:pPr>
            <a:r>
              <a:rPr lang="en-US" sz="2800" b="1" dirty="0">
                <a:latin typeface="Cambria" panose="02040503050406030204" pitchFamily="18" charset="0"/>
                <a:ea typeface="Cambria" panose="02040503050406030204" pitchFamily="18" charset="0"/>
              </a:rPr>
              <a:t>public static final </a:t>
            </a:r>
            <a:r>
              <a:rPr lang="en-US" sz="2800" b="1" dirty="0" err="1">
                <a:latin typeface="Cambria" panose="02040503050406030204" pitchFamily="18" charset="0"/>
                <a:ea typeface="Cambria" panose="02040503050406030204" pitchFamily="18" charset="0"/>
              </a:rPr>
              <a:t>int</a:t>
            </a:r>
            <a:r>
              <a:rPr lang="en-US" sz="2800" b="1" dirty="0">
                <a:latin typeface="Cambria" panose="02040503050406030204" pitchFamily="18" charset="0"/>
                <a:ea typeface="Cambria" panose="02040503050406030204" pitchFamily="18" charset="0"/>
              </a:rPr>
              <a:t> KEY_PRESSED</a:t>
            </a:r>
            <a:endParaRPr lang="en-US" sz="2800" dirty="0">
              <a:latin typeface="Cambria" panose="02040503050406030204" pitchFamily="18" charset="0"/>
              <a:ea typeface="Cambria" panose="02040503050406030204" pitchFamily="18" charset="0"/>
            </a:endParaRPr>
          </a:p>
          <a:p>
            <a:pPr lvl="1">
              <a:lnSpc>
                <a:spcPct val="90000"/>
              </a:lnSpc>
            </a:pPr>
            <a:r>
              <a:rPr lang="en-US" sz="2400" dirty="0">
                <a:latin typeface="Cambria" panose="02040503050406030204" pitchFamily="18" charset="0"/>
                <a:ea typeface="Cambria" panose="02040503050406030204" pitchFamily="18" charset="0"/>
              </a:rPr>
              <a:t>This event is generated when a key is pushed down.</a:t>
            </a:r>
            <a:endParaRPr lang="en-US" sz="2400" b="1" dirty="0">
              <a:latin typeface="Cambria" panose="02040503050406030204" pitchFamily="18" charset="0"/>
              <a:ea typeface="Cambria" panose="02040503050406030204" pitchFamily="18" charset="0"/>
            </a:endParaRPr>
          </a:p>
          <a:p>
            <a:pPr>
              <a:lnSpc>
                <a:spcPct val="90000"/>
              </a:lnSpc>
            </a:pPr>
            <a:r>
              <a:rPr lang="en-US" sz="2800" b="1" dirty="0">
                <a:latin typeface="Cambria" panose="02040503050406030204" pitchFamily="18" charset="0"/>
                <a:ea typeface="Cambria" panose="02040503050406030204" pitchFamily="18" charset="0"/>
              </a:rPr>
              <a:t>public static final </a:t>
            </a:r>
            <a:r>
              <a:rPr lang="en-US" sz="2800" b="1" dirty="0" err="1">
                <a:latin typeface="Cambria" panose="02040503050406030204" pitchFamily="18" charset="0"/>
                <a:ea typeface="Cambria" panose="02040503050406030204" pitchFamily="18" charset="0"/>
              </a:rPr>
              <a:t>int</a:t>
            </a:r>
            <a:r>
              <a:rPr lang="en-US" sz="2800" b="1" dirty="0">
                <a:latin typeface="Cambria" panose="02040503050406030204" pitchFamily="18" charset="0"/>
                <a:ea typeface="Cambria" panose="02040503050406030204" pitchFamily="18" charset="0"/>
              </a:rPr>
              <a:t> KEY_RELEASED</a:t>
            </a:r>
            <a:endParaRPr lang="en-US" sz="2800" dirty="0">
              <a:latin typeface="Cambria" panose="02040503050406030204" pitchFamily="18" charset="0"/>
              <a:ea typeface="Cambria" panose="02040503050406030204" pitchFamily="18" charset="0"/>
            </a:endParaRPr>
          </a:p>
          <a:p>
            <a:pPr lvl="1">
              <a:lnSpc>
                <a:spcPct val="90000"/>
              </a:lnSpc>
            </a:pPr>
            <a:r>
              <a:rPr lang="en-US" sz="2400" dirty="0">
                <a:latin typeface="Cambria" panose="02040503050406030204" pitchFamily="18" charset="0"/>
                <a:ea typeface="Cambria" panose="02040503050406030204" pitchFamily="18" charset="0"/>
              </a:rPr>
              <a:t>This event is generated when a key is let up. </a:t>
            </a:r>
            <a:endParaRPr lang="en-US" sz="2400" b="1" dirty="0">
              <a:latin typeface="Cambria" panose="02040503050406030204" pitchFamily="18" charset="0"/>
              <a:ea typeface="Cambria" panose="02040503050406030204" pitchFamily="18" charset="0"/>
            </a:endParaRPr>
          </a:p>
          <a:p>
            <a:pPr>
              <a:lnSpc>
                <a:spcPct val="90000"/>
              </a:lnSpc>
            </a:pPr>
            <a:r>
              <a:rPr lang="en-US" sz="2800" b="1" dirty="0">
                <a:latin typeface="Cambria" panose="02040503050406030204" pitchFamily="18" charset="0"/>
                <a:ea typeface="Cambria" panose="02040503050406030204" pitchFamily="18" charset="0"/>
              </a:rPr>
              <a:t>public static final </a:t>
            </a:r>
            <a:r>
              <a:rPr lang="en-US" sz="2800" b="1" dirty="0" err="1">
                <a:latin typeface="Cambria" panose="02040503050406030204" pitchFamily="18" charset="0"/>
                <a:ea typeface="Cambria" panose="02040503050406030204" pitchFamily="18" charset="0"/>
              </a:rPr>
              <a:t>int</a:t>
            </a:r>
            <a:r>
              <a:rPr lang="en-US" sz="2800" b="1" dirty="0">
                <a:latin typeface="Cambria" panose="02040503050406030204" pitchFamily="18" charset="0"/>
                <a:ea typeface="Cambria" panose="02040503050406030204" pitchFamily="18" charset="0"/>
              </a:rPr>
              <a:t> KEY_TYPED</a:t>
            </a:r>
            <a:endParaRPr lang="en-US" sz="2800" dirty="0">
              <a:latin typeface="Cambria" panose="02040503050406030204" pitchFamily="18" charset="0"/>
              <a:ea typeface="Cambria" panose="02040503050406030204" pitchFamily="18" charset="0"/>
            </a:endParaRPr>
          </a:p>
          <a:p>
            <a:pPr lvl="1">
              <a:lnSpc>
                <a:spcPct val="90000"/>
              </a:lnSpc>
            </a:pPr>
            <a:r>
              <a:rPr lang="en-US" sz="2400" dirty="0">
                <a:latin typeface="Cambria" panose="02040503050406030204" pitchFamily="18" charset="0"/>
                <a:ea typeface="Cambria" panose="02040503050406030204" pitchFamily="18" charset="0"/>
              </a:rPr>
              <a:t>This event is generated when a character is entered. In the simplest case, it is produced by a single key press. Often, however, characters are produced by series of key presses, and the mapping from key pressed events to key typed events may be many-to-one or many-to-many.</a:t>
            </a:r>
            <a:r>
              <a:rPr lang="en-US" sz="3200" dirty="0">
                <a:latin typeface="Cambria" panose="02040503050406030204" pitchFamily="18" charset="0"/>
                <a:ea typeface="Cambria" panose="02040503050406030204" pitchFamily="18" charset="0"/>
              </a:rPr>
              <a:t>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61</a:t>
            </a:fld>
            <a:endParaRPr lang="en-I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body" idx="1"/>
          </p:nvPr>
        </p:nvSpPr>
        <p:spPr>
          <a:xfrm>
            <a:off x="228600" y="304800"/>
            <a:ext cx="8686800" cy="6248400"/>
          </a:xfrm>
        </p:spPr>
        <p:txBody>
          <a:bodyPr>
            <a:normAutofit lnSpcReduction="10000"/>
          </a:bodyPr>
          <a:lstStyle/>
          <a:p>
            <a:pPr>
              <a:lnSpc>
                <a:spcPct val="90000"/>
              </a:lnSpc>
            </a:pPr>
            <a:r>
              <a:rPr lang="en-US" dirty="0">
                <a:latin typeface="Cambria" panose="02040503050406030204" pitchFamily="18" charset="0"/>
                <a:ea typeface="Cambria" panose="02040503050406030204" pitchFamily="18" charset="0"/>
              </a:rPr>
              <a:t>There are many other integer constants that are defined by </a:t>
            </a:r>
            <a:r>
              <a:rPr lang="en-US" dirty="0" err="1">
                <a:latin typeface="Cambria" panose="02040503050406030204" pitchFamily="18" charset="0"/>
                <a:ea typeface="Cambria" panose="02040503050406030204" pitchFamily="18" charset="0"/>
              </a:rPr>
              <a:t>KeyEvent</a:t>
            </a:r>
            <a:r>
              <a:rPr lang="en-US" dirty="0">
                <a:latin typeface="Cambria" panose="02040503050406030204" pitchFamily="18" charset="0"/>
                <a:ea typeface="Cambria" panose="02040503050406030204" pitchFamily="18" charset="0"/>
              </a:rPr>
              <a:t>. For example</a:t>
            </a:r>
            <a:endParaRPr lang="en-US" b="1" dirty="0">
              <a:latin typeface="Cambria" panose="02040503050406030204" pitchFamily="18" charset="0"/>
              <a:ea typeface="Cambria" panose="02040503050406030204" pitchFamily="18" charset="0"/>
            </a:endParaRPr>
          </a:p>
          <a:p>
            <a:pPr lvl="1">
              <a:lnSpc>
                <a:spcPct val="90000"/>
              </a:lnSpc>
            </a:pPr>
            <a:r>
              <a:rPr lang="en-US" b="1" dirty="0">
                <a:latin typeface="Cambria" panose="02040503050406030204" pitchFamily="18" charset="0"/>
                <a:ea typeface="Cambria" panose="02040503050406030204" pitchFamily="18" charset="0"/>
              </a:rPr>
              <a:t>VK_0 to VK_9 </a:t>
            </a:r>
          </a:p>
          <a:p>
            <a:pPr lvl="1">
              <a:lnSpc>
                <a:spcPct val="90000"/>
              </a:lnSpc>
            </a:pPr>
            <a:r>
              <a:rPr lang="en-US" b="1" dirty="0">
                <a:latin typeface="Cambria" panose="02040503050406030204" pitchFamily="18" charset="0"/>
                <a:ea typeface="Cambria" panose="02040503050406030204" pitchFamily="18" charset="0"/>
              </a:rPr>
              <a:t>VK_A to VK_Z</a:t>
            </a:r>
            <a:r>
              <a:rPr lang="en-US" dirty="0">
                <a:latin typeface="Cambria" panose="02040503050406030204" pitchFamily="18" charset="0"/>
                <a:ea typeface="Cambria" panose="02040503050406030204" pitchFamily="18" charset="0"/>
              </a:rPr>
              <a:t> define the ASCII equivalents of the numbers and letters. </a:t>
            </a:r>
          </a:p>
          <a:p>
            <a:pPr lvl="1">
              <a:lnSpc>
                <a:spcPct val="90000"/>
              </a:lnSpc>
            </a:pPr>
            <a:endParaRPr lang="en-US" dirty="0">
              <a:latin typeface="Cambria" panose="02040503050406030204" pitchFamily="18" charset="0"/>
              <a:ea typeface="Cambria" panose="02040503050406030204" pitchFamily="18" charset="0"/>
            </a:endParaRPr>
          </a:p>
          <a:p>
            <a:pPr>
              <a:lnSpc>
                <a:spcPct val="90000"/>
              </a:lnSpc>
            </a:pPr>
            <a:r>
              <a:rPr lang="en-US" dirty="0">
                <a:latin typeface="Cambria" panose="02040503050406030204" pitchFamily="18" charset="0"/>
                <a:ea typeface="Cambria" panose="02040503050406030204" pitchFamily="18" charset="0"/>
              </a:rPr>
              <a:t>Here are some others:</a:t>
            </a:r>
            <a:endParaRPr lang="en-US" b="1" dirty="0">
              <a:latin typeface="Cambria" panose="02040503050406030204" pitchFamily="18" charset="0"/>
              <a:ea typeface="Cambria" panose="02040503050406030204" pitchFamily="18" charset="0"/>
            </a:endParaRPr>
          </a:p>
          <a:p>
            <a:pPr lvl="1">
              <a:lnSpc>
                <a:spcPct val="90000"/>
              </a:lnSpc>
            </a:pPr>
            <a:r>
              <a:rPr lang="en-US" b="1" dirty="0">
                <a:latin typeface="Cambria" panose="02040503050406030204" pitchFamily="18" charset="0"/>
                <a:ea typeface="Cambria" panose="02040503050406030204" pitchFamily="18" charset="0"/>
              </a:rPr>
              <a:t>VK_ENTER, VK_ESCAPE, VK_CANCEL, VK_UP, VK_DOWN, VK_LEFT, VK_RIGHT, VK_PAGE_DOWN,VK_PAGE_UP, VK_SHIFT, VK_ALT, VK_CONTROL</a:t>
            </a:r>
            <a:endParaRPr lang="en-US" dirty="0">
              <a:latin typeface="Cambria" panose="02040503050406030204" pitchFamily="18" charset="0"/>
              <a:ea typeface="Cambria" panose="02040503050406030204" pitchFamily="18" charset="0"/>
            </a:endParaRPr>
          </a:p>
          <a:p>
            <a:pPr>
              <a:lnSpc>
                <a:spcPct val="90000"/>
              </a:lnSpc>
            </a:pPr>
            <a:r>
              <a:rPr lang="en-US" dirty="0">
                <a:latin typeface="Cambria" panose="02040503050406030204" pitchFamily="18" charset="0"/>
                <a:ea typeface="Cambria" panose="02040503050406030204" pitchFamily="18" charset="0"/>
              </a:rPr>
              <a:t>The VK constants specify virtual key codes and are independent of any modifiers, such as control, shift, or alt.</a:t>
            </a:r>
          </a:p>
        </p:txBody>
      </p:sp>
      <p:sp>
        <p:nvSpPr>
          <p:cNvPr id="4" name="Slide Number Placeholder 3"/>
          <p:cNvSpPr>
            <a:spLocks noGrp="1"/>
          </p:cNvSpPr>
          <p:nvPr>
            <p:ph type="sldNum" sz="quarter" idx="12"/>
          </p:nvPr>
        </p:nvSpPr>
        <p:spPr/>
        <p:txBody>
          <a:bodyPr/>
          <a:lstStyle/>
          <a:p>
            <a:fld id="{CABF7EEA-85D2-497E-9C95-F3C1348C26C9}" type="slidenum">
              <a:rPr lang="en-IN" smtClean="0"/>
              <a:pPr/>
              <a:t>62</a:t>
            </a:fld>
            <a:endParaRPr lang="en-IN"/>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277813"/>
            <a:ext cx="8229600" cy="636587"/>
          </a:xfrm>
        </p:spPr>
        <p:txBody>
          <a:bodyPr>
            <a:normAutofit fontScale="90000"/>
          </a:bodyPr>
          <a:lstStyle/>
          <a:p>
            <a:r>
              <a:rPr lang="en-US" sz="3800" b="1">
                <a:latin typeface="Cambria" panose="02040503050406030204" pitchFamily="18" charset="0"/>
                <a:ea typeface="Cambria" panose="02040503050406030204" pitchFamily="18" charset="0"/>
              </a:rPr>
              <a:t>Methods of KeyEvent class</a:t>
            </a:r>
          </a:p>
        </p:txBody>
      </p:sp>
      <p:sp>
        <p:nvSpPr>
          <p:cNvPr id="29699" name="Rectangle 3"/>
          <p:cNvSpPr>
            <a:spLocks noGrp="1" noChangeArrowheads="1"/>
          </p:cNvSpPr>
          <p:nvPr>
            <p:ph type="body" idx="1"/>
          </p:nvPr>
        </p:nvSpPr>
        <p:spPr>
          <a:xfrm>
            <a:off x="228600" y="1143000"/>
            <a:ext cx="8686800" cy="5486400"/>
          </a:xfrm>
        </p:spPr>
        <p:txBody>
          <a:bodyPr>
            <a:normAutofit fontScale="92500" lnSpcReduction="20000"/>
          </a:bodyPr>
          <a:lstStyle/>
          <a:p>
            <a:r>
              <a:rPr lang="en-US" b="1" dirty="0">
                <a:latin typeface="Cambria" panose="02040503050406030204" pitchFamily="18" charset="0"/>
                <a:ea typeface="Cambria" panose="02040503050406030204" pitchFamily="18" charset="0"/>
              </a:rPr>
              <a:t>public </a:t>
            </a:r>
            <a:r>
              <a:rPr lang="en-US" b="1" dirty="0" err="1">
                <a:latin typeface="Cambria" panose="02040503050406030204" pitchFamily="18" charset="0"/>
                <a:ea typeface="Cambria" panose="02040503050406030204" pitchFamily="18" charset="0"/>
              </a:rPr>
              <a:t>int</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getKeyCode</a:t>
            </a:r>
            <a:r>
              <a:rPr lang="en-US" b="1" dirty="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a:p>
            <a:pPr lvl="1"/>
            <a:r>
              <a:rPr lang="en-US" dirty="0">
                <a:latin typeface="Cambria" panose="02040503050406030204" pitchFamily="18" charset="0"/>
                <a:ea typeface="Cambria" panose="02040503050406030204" pitchFamily="18" charset="0"/>
              </a:rPr>
              <a:t>Returns the integer </a:t>
            </a:r>
            <a:r>
              <a:rPr lang="en-US" dirty="0" err="1">
                <a:latin typeface="Cambria" panose="02040503050406030204" pitchFamily="18" charset="0"/>
                <a:ea typeface="Cambria" panose="02040503050406030204" pitchFamily="18" charset="0"/>
              </a:rPr>
              <a:t>keyCode</a:t>
            </a:r>
            <a:r>
              <a:rPr lang="en-US" dirty="0">
                <a:latin typeface="Cambria" panose="02040503050406030204" pitchFamily="18" charset="0"/>
                <a:ea typeface="Cambria" panose="02040503050406030204" pitchFamily="18" charset="0"/>
              </a:rPr>
              <a:t> associated with the key in this event. </a:t>
            </a:r>
            <a:endParaRPr lang="en-US" b="1" dirty="0">
              <a:latin typeface="Cambria" panose="02040503050406030204" pitchFamily="18" charset="0"/>
              <a:ea typeface="Cambria" panose="02040503050406030204" pitchFamily="18" charset="0"/>
            </a:endParaRPr>
          </a:p>
          <a:p>
            <a:pPr lvl="1"/>
            <a:r>
              <a:rPr lang="en-US" b="1" dirty="0">
                <a:latin typeface="Cambria" panose="02040503050406030204" pitchFamily="18" charset="0"/>
                <a:ea typeface="Cambria" panose="02040503050406030204" pitchFamily="18" charset="0"/>
              </a:rPr>
              <a:t>Returns:</a:t>
            </a:r>
            <a:r>
              <a:rPr lang="en-US" dirty="0">
                <a:latin typeface="Cambria" panose="02040503050406030204" pitchFamily="18" charset="0"/>
                <a:ea typeface="Cambria" panose="02040503050406030204" pitchFamily="18" charset="0"/>
              </a:rPr>
              <a:t> the integer code for an actual key on the keyboard. </a:t>
            </a:r>
          </a:p>
          <a:p>
            <a:r>
              <a:rPr lang="en-US" b="1" dirty="0">
                <a:latin typeface="Cambria" panose="02040503050406030204" pitchFamily="18" charset="0"/>
                <a:ea typeface="Cambria" panose="02040503050406030204" pitchFamily="18" charset="0"/>
              </a:rPr>
              <a:t>public char </a:t>
            </a:r>
            <a:r>
              <a:rPr lang="en-US" b="1" dirty="0" err="1">
                <a:latin typeface="Cambria" panose="02040503050406030204" pitchFamily="18" charset="0"/>
                <a:ea typeface="Cambria" panose="02040503050406030204" pitchFamily="18" charset="0"/>
              </a:rPr>
              <a:t>getKeyChar</a:t>
            </a:r>
            <a:r>
              <a:rPr lang="en-US" b="1" dirty="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a:p>
            <a:pPr lvl="1"/>
            <a:r>
              <a:rPr lang="en-US" dirty="0">
                <a:latin typeface="Cambria" panose="02040503050406030204" pitchFamily="18" charset="0"/>
                <a:ea typeface="Cambria" panose="02040503050406030204" pitchFamily="18" charset="0"/>
              </a:rPr>
              <a:t>Returns the character associated with the key in this event. </a:t>
            </a:r>
          </a:p>
          <a:p>
            <a:pPr lvl="1"/>
            <a:r>
              <a:rPr lang="en-US" dirty="0">
                <a:latin typeface="Cambria" panose="02040503050406030204" pitchFamily="18" charset="0"/>
                <a:ea typeface="Cambria" panose="02040503050406030204" pitchFamily="18" charset="0"/>
              </a:rPr>
              <a:t>For example, the KEY_TYPED event for shift + "a" returns the value for "A". </a:t>
            </a:r>
          </a:p>
          <a:p>
            <a:pPr marL="342900" lvl="1" indent="-342900">
              <a:buFont typeface="Arial" pitchFamily="34" charset="0"/>
              <a:buChar char="•"/>
            </a:pPr>
            <a:r>
              <a:rPr lang="en-US" sz="3200" b="1" dirty="0" err="1">
                <a:latin typeface="Cambria" panose="02040503050406030204" pitchFamily="18" charset="0"/>
                <a:ea typeface="Cambria" panose="02040503050406030204" pitchFamily="18" charset="0"/>
              </a:rPr>
              <a:t>boolean</a:t>
            </a:r>
            <a:r>
              <a:rPr lang="en-US" sz="3200" b="1" dirty="0">
                <a:latin typeface="Cambria" panose="02040503050406030204" pitchFamily="18" charset="0"/>
                <a:ea typeface="Cambria" panose="02040503050406030204" pitchFamily="18" charset="0"/>
              </a:rPr>
              <a:t> </a:t>
            </a:r>
            <a:r>
              <a:rPr lang="en-US" sz="3200" b="1" dirty="0" err="1">
                <a:latin typeface="Cambria" panose="02040503050406030204" pitchFamily="18" charset="0"/>
                <a:ea typeface="Cambria" panose="02040503050406030204" pitchFamily="18" charset="0"/>
              </a:rPr>
              <a:t>isActionKey</a:t>
            </a:r>
            <a:r>
              <a:rPr lang="en-US" sz="3200" b="1" dirty="0">
                <a:latin typeface="Cambria" panose="02040503050406030204" pitchFamily="18" charset="0"/>
                <a:ea typeface="Cambria" panose="02040503050406030204" pitchFamily="18" charset="0"/>
              </a:rPr>
              <a:t>()</a:t>
            </a:r>
          </a:p>
          <a:p>
            <a:pPr lvl="1"/>
            <a:r>
              <a:rPr lang="en-US" dirty="0">
                <a:latin typeface="Cambria" panose="02040503050406030204" pitchFamily="18" charset="0"/>
                <a:ea typeface="Cambria" panose="02040503050406030204" pitchFamily="18" charset="0"/>
              </a:rPr>
              <a:t>Returns true if the key firing the event is an action key. Examples of action keys include Page Up, Caps Lock, the arrow and function keys.</a:t>
            </a:r>
          </a:p>
          <a:p>
            <a:pPr marL="742950" lvl="2" indent="-342900">
              <a:buNone/>
            </a:pPr>
            <a:endParaRPr lang="en-US" b="1" dirty="0">
              <a:latin typeface="Cambria" panose="02040503050406030204" pitchFamily="18" charset="0"/>
              <a:ea typeface="Cambria" panose="02040503050406030204" pitchFamily="18" charset="0"/>
            </a:endParaRPr>
          </a:p>
          <a:p>
            <a:pPr lvl="1">
              <a:buNone/>
            </a:pP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fld id="{CABF7EEA-85D2-497E-9C95-F3C1348C26C9}" type="slidenum">
              <a:rPr lang="en-IN" smtClean="0">
                <a:latin typeface="Cambria" panose="02040503050406030204" pitchFamily="18" charset="0"/>
                <a:ea typeface="Cambria" panose="02040503050406030204" pitchFamily="18" charset="0"/>
              </a:rPr>
              <a:pPr/>
              <a:t>63</a:t>
            </a:fld>
            <a:endParaRPr lang="en-IN">
              <a:latin typeface="Cambria" panose="02040503050406030204" pitchFamily="18" charset="0"/>
              <a:ea typeface="Cambria" panose="020405030504060302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2920" y="0"/>
            <a:ext cx="8183880" cy="1051560"/>
          </a:xfrm>
        </p:spPr>
        <p:txBody>
          <a:bodyPr/>
          <a:lstStyle/>
          <a:p>
            <a:pPr algn="ctr"/>
            <a:r>
              <a:rPr lang="en-US" b="1" dirty="0" err="1">
                <a:effectLst/>
                <a:latin typeface="Times New Roman" pitchFamily="18" charset="0"/>
                <a:cs typeface="Times New Roman" pitchFamily="18" charset="0"/>
              </a:rPr>
              <a:t>KeyListener</a:t>
            </a:r>
            <a:r>
              <a:rPr lang="en-US" b="1" dirty="0">
                <a:effectLst/>
                <a:latin typeface="Times New Roman" pitchFamily="18" charset="0"/>
                <a:cs typeface="Times New Roman" pitchFamily="18" charset="0"/>
              </a:rPr>
              <a:t> Interface</a:t>
            </a:r>
          </a:p>
        </p:txBody>
      </p:sp>
      <p:sp>
        <p:nvSpPr>
          <p:cNvPr id="2" name="Content Placeholder 1"/>
          <p:cNvSpPr>
            <a:spLocks noGrp="1"/>
          </p:cNvSpPr>
          <p:nvPr>
            <p:ph idx="1"/>
          </p:nvPr>
        </p:nvSpPr>
        <p:spPr>
          <a:xfrm>
            <a:off x="457200" y="990600"/>
            <a:ext cx="8382000" cy="5257800"/>
          </a:xfrm>
        </p:spPr>
        <p:txBody>
          <a:bodyPr>
            <a:noAutofit/>
          </a:bodyPr>
          <a:lstStyle/>
          <a:p>
            <a:r>
              <a:rPr lang="en-US" sz="2800" dirty="0">
                <a:latin typeface="Times New Roman" pitchFamily="18" charset="0"/>
                <a:cs typeface="Times New Roman" pitchFamily="18" charset="0"/>
              </a:rPr>
              <a:t>Key events indicate when the user is typing at the keyboard.</a:t>
            </a:r>
          </a:p>
          <a:p>
            <a:endParaRPr lang="en-US" sz="1800" dirty="0">
              <a:latin typeface="Times New Roman" pitchFamily="18" charset="0"/>
              <a:cs typeface="Times New Roman" pitchFamily="18" charset="0"/>
            </a:endParaRPr>
          </a:p>
          <a:p>
            <a:r>
              <a:rPr lang="en-US" sz="2800" dirty="0">
                <a:latin typeface="Times New Roman" pitchFamily="18" charset="0"/>
                <a:cs typeface="Times New Roman" pitchFamily="18" charset="0"/>
              </a:rPr>
              <a:t>Key events are fired by the component with the keyboard focus when the user presses or releases keyboard keys.</a:t>
            </a:r>
          </a:p>
          <a:p>
            <a:endParaRPr lang="en-US" sz="1800" dirty="0">
              <a:latin typeface="Times New Roman" pitchFamily="18" charset="0"/>
              <a:cs typeface="Times New Roman" pitchFamily="18" charset="0"/>
            </a:endParaRPr>
          </a:p>
          <a:p>
            <a:r>
              <a:rPr lang="en-US" sz="2800" dirty="0">
                <a:latin typeface="Times New Roman" pitchFamily="18" charset="0"/>
                <a:cs typeface="Times New Roman" pitchFamily="18" charset="0"/>
              </a:rPr>
              <a:t>Notifications are sent about two basic kinds of key events:</a:t>
            </a:r>
          </a:p>
          <a:p>
            <a:pPr lvl="1"/>
            <a:r>
              <a:rPr lang="en-US" dirty="0">
                <a:latin typeface="Times New Roman" pitchFamily="18" charset="0"/>
                <a:cs typeface="Times New Roman" pitchFamily="18" charset="0"/>
              </a:rPr>
              <a:t>The typing of a Unicode character</a:t>
            </a:r>
          </a:p>
          <a:p>
            <a:pPr lvl="1"/>
            <a:r>
              <a:rPr lang="en-US" dirty="0">
                <a:latin typeface="Times New Roman" pitchFamily="18" charset="0"/>
                <a:cs typeface="Times New Roman" pitchFamily="18" charset="0"/>
              </a:rPr>
              <a:t>The pressing or releasing of a key on the keyboard</a:t>
            </a:r>
          </a:p>
          <a:p>
            <a:pPr marL="0" indent="0">
              <a:buNone/>
            </a:pPr>
            <a:endParaRPr lang="en-US" sz="24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CABF7EEA-85D2-497E-9C95-F3C1348C26C9}" type="slidenum">
              <a:rPr lang="en-IN" smtClean="0"/>
              <a:pPr/>
              <a:t>64</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down)">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down)">
                                      <p:cBhvr>
                                        <p:cTn id="17" dur="500"/>
                                        <p:tgtEl>
                                          <p:spTgt spid="2">
                                            <p:txEl>
                                              <p:pRg st="4" end="4"/>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2">
                                            <p:txEl>
                                              <p:pRg st="5" end="5"/>
                                            </p:txEl>
                                          </p:spTgt>
                                        </p:tgtEl>
                                        <p:attrNameLst>
                                          <p:attrName>style.visibility</p:attrName>
                                        </p:attrNameLst>
                                      </p:cBhvr>
                                      <p:to>
                                        <p:strVal val="visible"/>
                                      </p:to>
                                    </p:set>
                                    <p:animEffect transition="in" filter="wipe(down)">
                                      <p:cBhvr>
                                        <p:cTn id="20" dur="500"/>
                                        <p:tgtEl>
                                          <p:spTgt spid="2">
                                            <p:txEl>
                                              <p:pRg st="5" end="5"/>
                                            </p:tx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Effect transition="in" filter="wipe(down)">
                                      <p:cBhvr>
                                        <p:cTn id="23"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382000" cy="5257800"/>
          </a:xfrm>
        </p:spPr>
        <p:txBody>
          <a:bodyPr>
            <a:normAutofit/>
          </a:bodyPr>
          <a:lstStyle/>
          <a:p>
            <a:r>
              <a:rPr lang="en-US" sz="2800" dirty="0">
                <a:latin typeface="Times New Roman" pitchFamily="18" charset="0"/>
                <a:cs typeface="Times New Roman" pitchFamily="18" charset="0"/>
              </a:rPr>
              <a:t>The first kind of event is called a </a:t>
            </a:r>
            <a:r>
              <a:rPr lang="en-US" sz="2800" i="1" dirty="0">
                <a:latin typeface="Times New Roman" pitchFamily="18" charset="0"/>
                <a:cs typeface="Times New Roman" pitchFamily="18" charset="0"/>
              </a:rPr>
              <a:t>key-typed</a:t>
            </a:r>
            <a:r>
              <a:rPr lang="en-US" sz="2800" dirty="0">
                <a:latin typeface="Times New Roman" pitchFamily="18" charset="0"/>
                <a:cs typeface="Times New Roman" pitchFamily="18" charset="0"/>
              </a:rPr>
              <a:t> event. </a:t>
            </a:r>
          </a:p>
          <a:p>
            <a:endParaRPr lang="en-US" sz="1400" dirty="0">
              <a:latin typeface="Times New Roman" pitchFamily="18" charset="0"/>
              <a:cs typeface="Times New Roman" pitchFamily="18" charset="0"/>
            </a:endParaRPr>
          </a:p>
          <a:p>
            <a:pPr lvl="1"/>
            <a:r>
              <a:rPr lang="en-US" sz="2400" dirty="0">
                <a:latin typeface="Times New Roman" pitchFamily="18" charset="0"/>
                <a:cs typeface="Times New Roman" pitchFamily="18" charset="0"/>
              </a:rPr>
              <a:t>To know when the user types a Unicode character ? whether by pressing one key such as 'a' or by pressing several keys in sequence ?</a:t>
            </a:r>
          </a:p>
          <a:p>
            <a:endParaRPr lang="en-US" sz="1600" dirty="0">
              <a:latin typeface="Times New Roman" pitchFamily="18" charset="0"/>
              <a:cs typeface="Times New Roman" pitchFamily="18" charset="0"/>
            </a:endParaRPr>
          </a:p>
          <a:p>
            <a:r>
              <a:rPr lang="en-US" sz="2800" dirty="0">
                <a:latin typeface="Times New Roman" pitchFamily="18" charset="0"/>
                <a:cs typeface="Times New Roman" pitchFamily="18" charset="0"/>
              </a:rPr>
              <a:t>The second kind is either a </a:t>
            </a:r>
            <a:r>
              <a:rPr lang="en-US" sz="2800" i="1" dirty="0">
                <a:latin typeface="Times New Roman" pitchFamily="18" charset="0"/>
                <a:cs typeface="Times New Roman" pitchFamily="18" charset="0"/>
              </a:rPr>
              <a:t>key-pressed</a:t>
            </a:r>
            <a:r>
              <a:rPr lang="en-US" sz="2800" dirty="0">
                <a:latin typeface="Times New Roman" pitchFamily="18" charset="0"/>
                <a:cs typeface="Times New Roman" pitchFamily="18" charset="0"/>
              </a:rPr>
              <a:t> or </a:t>
            </a:r>
            <a:r>
              <a:rPr lang="en-US" sz="2800" i="1" dirty="0">
                <a:latin typeface="Times New Roman" pitchFamily="18" charset="0"/>
                <a:cs typeface="Times New Roman" pitchFamily="18" charset="0"/>
              </a:rPr>
              <a:t>key-released</a:t>
            </a:r>
            <a:r>
              <a:rPr lang="en-US" sz="2800" dirty="0">
                <a:latin typeface="Times New Roman" pitchFamily="18" charset="0"/>
                <a:cs typeface="Times New Roman" pitchFamily="18" charset="0"/>
              </a:rPr>
              <a:t> event.</a:t>
            </a:r>
          </a:p>
          <a:p>
            <a:endParaRPr lang="en-US" sz="1600" dirty="0">
              <a:latin typeface="Times New Roman" pitchFamily="18" charset="0"/>
              <a:cs typeface="Times New Roman" pitchFamily="18" charset="0"/>
            </a:endParaRPr>
          </a:p>
          <a:p>
            <a:pPr lvl="1"/>
            <a:r>
              <a:rPr lang="en-US" sz="2400" dirty="0">
                <a:latin typeface="Times New Roman" pitchFamily="18" charset="0"/>
                <a:cs typeface="Times New Roman" pitchFamily="18" charset="0"/>
              </a:rPr>
              <a:t>To know when the user presses the F1 key, or whether the user pressed the '3' key on the number pad, you handle key-pressed events.</a:t>
            </a:r>
          </a:p>
          <a:p>
            <a:endParaRPr lang="en-US" sz="28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CABF7EEA-85D2-497E-9C95-F3C1348C26C9}" type="slidenum">
              <a:rPr lang="en-IN" smtClean="0"/>
              <a:pPr/>
              <a:t>65</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wipe(down)">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wipe(down)">
                                      <p:cBhvr>
                                        <p:cTn id="15" dur="500"/>
                                        <p:tgtEl>
                                          <p:spTgt spid="2">
                                            <p:txEl>
                                              <p:pRg st="4" end="4"/>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
                                            <p:txEl>
                                              <p:pRg st="6" end="6"/>
                                            </p:txEl>
                                          </p:spTgt>
                                        </p:tgtEl>
                                        <p:attrNameLst>
                                          <p:attrName>style.visibility</p:attrName>
                                        </p:attrNameLst>
                                      </p:cBhvr>
                                      <p:to>
                                        <p:strVal val="visible"/>
                                      </p:to>
                                    </p:set>
                                    <p:animEffect transition="in" filter="wipe(down)">
                                      <p:cBhvr>
                                        <p:cTn id="18"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2920" y="243840"/>
            <a:ext cx="8183880" cy="1051560"/>
          </a:xfrm>
        </p:spPr>
        <p:txBody>
          <a:bodyPr>
            <a:normAutofit/>
          </a:bodyPr>
          <a:lstStyle/>
          <a:p>
            <a:pPr algn="ctr"/>
            <a:r>
              <a:rPr lang="en-US" sz="3600" b="1" dirty="0">
                <a:effectLst/>
                <a:latin typeface="Times New Roman" pitchFamily="18" charset="0"/>
                <a:cs typeface="Times New Roman" pitchFamily="18" charset="0"/>
              </a:rPr>
              <a:t>Methods of </a:t>
            </a:r>
            <a:r>
              <a:rPr lang="en-US" sz="3600" b="1" dirty="0" err="1">
                <a:effectLst/>
                <a:latin typeface="Times New Roman" pitchFamily="18" charset="0"/>
                <a:cs typeface="Times New Roman" pitchFamily="18" charset="0"/>
              </a:rPr>
              <a:t>KeyListener</a:t>
            </a:r>
            <a:r>
              <a:rPr lang="en-US" sz="3600" b="1" dirty="0">
                <a:effectLst/>
                <a:latin typeface="Times New Roman" pitchFamily="18" charset="0"/>
                <a:cs typeface="Times New Roman" pitchFamily="18" charset="0"/>
              </a:rPr>
              <a:t> Interface</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505464390"/>
              </p:ext>
            </p:extLst>
          </p:nvPr>
        </p:nvGraphicFramePr>
        <p:xfrm>
          <a:off x="381000" y="1615440"/>
          <a:ext cx="8382000" cy="4023360"/>
        </p:xfrm>
        <a:graphic>
          <a:graphicData uri="http://schemas.openxmlformats.org/drawingml/2006/table">
            <a:tbl>
              <a:tblPr firstRow="1" bandRow="1">
                <a:tableStyleId>{5C22544A-7EE6-4342-B048-85BDC9FD1C3A}</a:tableStyleId>
              </a:tblPr>
              <a:tblGrid>
                <a:gridCol w="3470920">
                  <a:extLst>
                    <a:ext uri="{9D8B030D-6E8A-4147-A177-3AD203B41FA5}">
                      <a16:colId xmlns:a16="http://schemas.microsoft.com/office/drawing/2014/main" val="20000"/>
                    </a:ext>
                  </a:extLst>
                </a:gridCol>
                <a:gridCol w="4911080">
                  <a:extLst>
                    <a:ext uri="{9D8B030D-6E8A-4147-A177-3AD203B41FA5}">
                      <a16:colId xmlns:a16="http://schemas.microsoft.com/office/drawing/2014/main" val="20001"/>
                    </a:ext>
                  </a:extLst>
                </a:gridCol>
              </a:tblGrid>
              <a:tr h="370840">
                <a:tc>
                  <a:txBody>
                    <a:bodyPr/>
                    <a:lstStyle/>
                    <a:p>
                      <a:pPr algn="ctr"/>
                      <a:r>
                        <a:rPr lang="en-US" sz="2400" dirty="0">
                          <a:solidFill>
                            <a:srgbClr val="002060"/>
                          </a:solidFill>
                          <a:latin typeface="Times New Roman" pitchFamily="18" charset="0"/>
                          <a:cs typeface="Times New Roman" pitchFamily="18" charset="0"/>
                        </a:rPr>
                        <a:t>Method</a:t>
                      </a:r>
                    </a:p>
                  </a:txBody>
                  <a:tcPr/>
                </a:tc>
                <a:tc>
                  <a:txBody>
                    <a:bodyPr/>
                    <a:lstStyle/>
                    <a:p>
                      <a:pPr algn="ctr"/>
                      <a:r>
                        <a:rPr lang="en-US" sz="2400" dirty="0">
                          <a:solidFill>
                            <a:srgbClr val="002060"/>
                          </a:solidFill>
                          <a:latin typeface="Times New Roman" pitchFamily="18" charset="0"/>
                          <a:cs typeface="Times New Roman" pitchFamily="18" charset="0"/>
                        </a:rPr>
                        <a:t>Purpose</a:t>
                      </a:r>
                    </a:p>
                  </a:txBody>
                  <a:tcPr/>
                </a:tc>
                <a:extLst>
                  <a:ext uri="{0D108BD9-81ED-4DB2-BD59-A6C34878D82A}">
                    <a16:rowId xmlns:a16="http://schemas.microsoft.com/office/drawing/2014/main" val="10000"/>
                  </a:ext>
                </a:extLst>
              </a:tr>
              <a:tr h="370840">
                <a:tc>
                  <a:txBody>
                    <a:bodyPr/>
                    <a:lstStyle/>
                    <a:p>
                      <a:pPr algn="ctr"/>
                      <a:r>
                        <a:rPr lang="en-US" sz="2400" dirty="0">
                          <a:solidFill>
                            <a:srgbClr val="002060"/>
                          </a:solidFill>
                          <a:latin typeface="Times New Roman" pitchFamily="18" charset="0"/>
                          <a:cs typeface="Times New Roman" pitchFamily="18" charset="0"/>
                        </a:rPr>
                        <a:t>keyTyped(</a:t>
                      </a:r>
                      <a:r>
                        <a:rPr lang="en-US" sz="2400" dirty="0" err="1">
                          <a:solidFill>
                            <a:srgbClr val="002060"/>
                          </a:solidFill>
                          <a:latin typeface="Times New Roman" pitchFamily="18" charset="0"/>
                          <a:cs typeface="Times New Roman" pitchFamily="18" charset="0"/>
                        </a:rPr>
                        <a:t>KeyEvent</a:t>
                      </a:r>
                      <a:r>
                        <a:rPr lang="en-US" sz="2400" dirty="0">
                          <a:solidFill>
                            <a:srgbClr val="002060"/>
                          </a:solidFill>
                          <a:latin typeface="Times New Roman" pitchFamily="18" charset="0"/>
                          <a:cs typeface="Times New Roman" pitchFamily="18" charset="0"/>
                        </a:rPr>
                        <a:t>)</a:t>
                      </a:r>
                    </a:p>
                  </a:txBody>
                  <a:tcPr/>
                </a:tc>
                <a:tc>
                  <a:txBody>
                    <a:bodyPr/>
                    <a:lstStyle/>
                    <a:p>
                      <a:r>
                        <a:rPr lang="en-US" sz="2400" dirty="0">
                          <a:solidFill>
                            <a:srgbClr val="002060"/>
                          </a:solidFill>
                          <a:latin typeface="Times New Roman" pitchFamily="18" charset="0"/>
                          <a:cs typeface="Times New Roman" pitchFamily="18" charset="0"/>
                        </a:rPr>
                        <a:t>Called just after the user types a Unicode character into the listened-to component.</a:t>
                      </a:r>
                    </a:p>
                  </a:txBody>
                  <a:tcPr/>
                </a:tc>
                <a:extLst>
                  <a:ext uri="{0D108BD9-81ED-4DB2-BD59-A6C34878D82A}">
                    <a16:rowId xmlns:a16="http://schemas.microsoft.com/office/drawing/2014/main" val="10001"/>
                  </a:ext>
                </a:extLst>
              </a:tr>
              <a:tr h="370840">
                <a:tc>
                  <a:txBody>
                    <a:bodyPr/>
                    <a:lstStyle/>
                    <a:p>
                      <a:pPr algn="ctr"/>
                      <a:r>
                        <a:rPr lang="en-US" sz="2400" dirty="0">
                          <a:solidFill>
                            <a:srgbClr val="002060"/>
                          </a:solidFill>
                          <a:latin typeface="Times New Roman" pitchFamily="18" charset="0"/>
                          <a:cs typeface="Times New Roman" pitchFamily="18" charset="0"/>
                        </a:rPr>
                        <a:t>keyPressed(</a:t>
                      </a:r>
                      <a:r>
                        <a:rPr lang="en-US" sz="2400" dirty="0" err="1">
                          <a:solidFill>
                            <a:srgbClr val="002060"/>
                          </a:solidFill>
                          <a:latin typeface="Times New Roman" pitchFamily="18" charset="0"/>
                          <a:cs typeface="Times New Roman" pitchFamily="18" charset="0"/>
                        </a:rPr>
                        <a:t>KeyEvent</a:t>
                      </a:r>
                      <a:r>
                        <a:rPr lang="en-US" sz="2400" dirty="0">
                          <a:solidFill>
                            <a:srgbClr val="002060"/>
                          </a:solidFill>
                          <a:latin typeface="Times New Roman" pitchFamily="18" charset="0"/>
                          <a:cs typeface="Times New Roman" pitchFamily="18" charset="0"/>
                        </a:rPr>
                        <a:t>)</a:t>
                      </a:r>
                    </a:p>
                  </a:txBody>
                  <a:tcPr/>
                </a:tc>
                <a:tc>
                  <a:txBody>
                    <a:bodyPr/>
                    <a:lstStyle/>
                    <a:p>
                      <a:r>
                        <a:rPr lang="en-US" sz="2400" dirty="0">
                          <a:solidFill>
                            <a:srgbClr val="002060"/>
                          </a:solidFill>
                          <a:latin typeface="Times New Roman" pitchFamily="18" charset="0"/>
                          <a:cs typeface="Times New Roman" pitchFamily="18" charset="0"/>
                        </a:rPr>
                        <a:t>Called just after the user presses a key while the listened-to component has the focus.</a:t>
                      </a:r>
                    </a:p>
                  </a:txBody>
                  <a:tcPr/>
                </a:tc>
                <a:extLst>
                  <a:ext uri="{0D108BD9-81ED-4DB2-BD59-A6C34878D82A}">
                    <a16:rowId xmlns:a16="http://schemas.microsoft.com/office/drawing/2014/main" val="10002"/>
                  </a:ext>
                </a:extLst>
              </a:tr>
              <a:tr h="370840">
                <a:tc>
                  <a:txBody>
                    <a:bodyPr/>
                    <a:lstStyle/>
                    <a:p>
                      <a:pPr algn="ctr"/>
                      <a:r>
                        <a:rPr lang="en-US" sz="2400" dirty="0">
                          <a:solidFill>
                            <a:srgbClr val="002060"/>
                          </a:solidFill>
                          <a:latin typeface="Times New Roman" pitchFamily="18" charset="0"/>
                          <a:cs typeface="Times New Roman" pitchFamily="18" charset="0"/>
                        </a:rPr>
                        <a:t>keyReleased(</a:t>
                      </a:r>
                      <a:r>
                        <a:rPr lang="en-US" sz="2400" dirty="0" err="1">
                          <a:solidFill>
                            <a:srgbClr val="002060"/>
                          </a:solidFill>
                          <a:latin typeface="Times New Roman" pitchFamily="18" charset="0"/>
                          <a:cs typeface="Times New Roman" pitchFamily="18" charset="0"/>
                        </a:rPr>
                        <a:t>KeyEvent</a:t>
                      </a:r>
                      <a:r>
                        <a:rPr lang="en-US" sz="2400" dirty="0">
                          <a:solidFill>
                            <a:srgbClr val="002060"/>
                          </a:solidFill>
                          <a:latin typeface="Times New Roman" pitchFamily="18" charset="0"/>
                          <a:cs typeface="Times New Roman" pitchFamily="18" charset="0"/>
                        </a:rPr>
                        <a:t>)</a:t>
                      </a:r>
                    </a:p>
                  </a:txBody>
                  <a:tcPr/>
                </a:tc>
                <a:tc>
                  <a:txBody>
                    <a:bodyPr/>
                    <a:lstStyle/>
                    <a:p>
                      <a:r>
                        <a:rPr lang="en-US" sz="2400" dirty="0">
                          <a:solidFill>
                            <a:srgbClr val="002060"/>
                          </a:solidFill>
                          <a:latin typeface="Times New Roman" pitchFamily="18" charset="0"/>
                          <a:cs typeface="Times New Roman" pitchFamily="18" charset="0"/>
                        </a:rPr>
                        <a:t>Called just after the user releases a key while the listened-to component has the focus.</a:t>
                      </a:r>
                    </a:p>
                  </a:txBody>
                  <a:tcPr/>
                </a:tc>
                <a:extLst>
                  <a:ext uri="{0D108BD9-81ED-4DB2-BD59-A6C34878D82A}">
                    <a16:rowId xmlns:a16="http://schemas.microsoft.com/office/drawing/2014/main" val="10003"/>
                  </a:ext>
                </a:extLst>
              </a:tr>
            </a:tbl>
          </a:graphicData>
        </a:graphic>
      </p:graphicFrame>
      <p:sp>
        <p:nvSpPr>
          <p:cNvPr id="5" name="Slide Number Placeholder 4"/>
          <p:cNvSpPr>
            <a:spLocks noGrp="1"/>
          </p:cNvSpPr>
          <p:nvPr>
            <p:ph type="sldNum" sz="quarter" idx="12"/>
          </p:nvPr>
        </p:nvSpPr>
        <p:spPr/>
        <p:txBody>
          <a:bodyPr/>
          <a:lstStyle/>
          <a:p>
            <a:fld id="{CABF7EEA-85D2-497E-9C95-F3C1348C26C9}" type="slidenum">
              <a:rPr lang="en-IN" smtClean="0"/>
              <a:pPr/>
              <a:t>66</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80">
                                          <p:stCondLst>
                                            <p:cond delay="0"/>
                                          </p:stCondLst>
                                        </p:cTn>
                                        <p:tgtEl>
                                          <p:spTgt spid="8"/>
                                        </p:tgtEl>
                                      </p:cBhvr>
                                    </p:animEffect>
                                    <p:anim calcmode="lin" valueType="num">
                                      <p:cBhvr>
                                        <p:cTn id="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3" dur="26">
                                          <p:stCondLst>
                                            <p:cond delay="650"/>
                                          </p:stCondLst>
                                        </p:cTn>
                                        <p:tgtEl>
                                          <p:spTgt spid="8"/>
                                        </p:tgtEl>
                                      </p:cBhvr>
                                      <p:to x="100000" y="60000"/>
                                    </p:animScale>
                                    <p:animScale>
                                      <p:cBhvr>
                                        <p:cTn id="14" dur="166" decel="50000">
                                          <p:stCondLst>
                                            <p:cond delay="676"/>
                                          </p:stCondLst>
                                        </p:cTn>
                                        <p:tgtEl>
                                          <p:spTgt spid="8"/>
                                        </p:tgtEl>
                                      </p:cBhvr>
                                      <p:to x="100000" y="100000"/>
                                    </p:animScale>
                                    <p:animScale>
                                      <p:cBhvr>
                                        <p:cTn id="15" dur="26">
                                          <p:stCondLst>
                                            <p:cond delay="1312"/>
                                          </p:stCondLst>
                                        </p:cTn>
                                        <p:tgtEl>
                                          <p:spTgt spid="8"/>
                                        </p:tgtEl>
                                      </p:cBhvr>
                                      <p:to x="100000" y="80000"/>
                                    </p:animScale>
                                    <p:animScale>
                                      <p:cBhvr>
                                        <p:cTn id="16" dur="166" decel="50000">
                                          <p:stCondLst>
                                            <p:cond delay="1338"/>
                                          </p:stCondLst>
                                        </p:cTn>
                                        <p:tgtEl>
                                          <p:spTgt spid="8"/>
                                        </p:tgtEl>
                                      </p:cBhvr>
                                      <p:to x="100000" y="100000"/>
                                    </p:animScale>
                                    <p:animScale>
                                      <p:cBhvr>
                                        <p:cTn id="17" dur="26">
                                          <p:stCondLst>
                                            <p:cond delay="1642"/>
                                          </p:stCondLst>
                                        </p:cTn>
                                        <p:tgtEl>
                                          <p:spTgt spid="8"/>
                                        </p:tgtEl>
                                      </p:cBhvr>
                                      <p:to x="100000" y="90000"/>
                                    </p:animScale>
                                    <p:animScale>
                                      <p:cBhvr>
                                        <p:cTn id="18" dur="166" decel="50000">
                                          <p:stCondLst>
                                            <p:cond delay="1668"/>
                                          </p:stCondLst>
                                        </p:cTn>
                                        <p:tgtEl>
                                          <p:spTgt spid="8"/>
                                        </p:tgtEl>
                                      </p:cBhvr>
                                      <p:to x="100000" y="100000"/>
                                    </p:animScale>
                                    <p:animScale>
                                      <p:cBhvr>
                                        <p:cTn id="19" dur="26">
                                          <p:stCondLst>
                                            <p:cond delay="1808"/>
                                          </p:stCondLst>
                                        </p:cTn>
                                        <p:tgtEl>
                                          <p:spTgt spid="8"/>
                                        </p:tgtEl>
                                      </p:cBhvr>
                                      <p:to x="100000" y="95000"/>
                                    </p:animScale>
                                    <p:animScale>
                                      <p:cBhvr>
                                        <p:cTn id="20"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357158" y="428604"/>
            <a:ext cx="8786842" cy="594008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import java.awt.*;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import </a:t>
            </a:r>
            <a:r>
              <a:rPr kumimoji="0" lang="en-US" sz="2000" b="0" i="0" u="none" strike="noStrike" cap="none" normalizeH="0" baseline="0" dirty="0" err="1">
                <a:ln>
                  <a:noFill/>
                </a:ln>
                <a:solidFill>
                  <a:srgbClr val="000000"/>
                </a:solidFill>
                <a:effectLst/>
                <a:cs typeface="Arial" pitchFamily="34" charset="0"/>
              </a:rPr>
              <a:t>java.awt.event</a:t>
            </a:r>
            <a:r>
              <a:rPr kumimoji="0" lang="en-US" sz="2000" b="0" i="0" u="none" strike="noStrike" cap="none" normalizeH="0" baseline="0" dirty="0">
                <a:ln>
                  <a:noFill/>
                </a:ln>
                <a:solidFill>
                  <a:srgbClr val="000000"/>
                </a:solidFill>
                <a:effectLs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import </a:t>
            </a:r>
            <a:r>
              <a:rPr kumimoji="0" lang="en-US" sz="2000" b="0" i="0" u="none" strike="noStrike" cap="none" normalizeH="0" baseline="0" dirty="0" err="1">
                <a:ln>
                  <a:noFill/>
                </a:ln>
                <a:solidFill>
                  <a:srgbClr val="000000"/>
                </a:solidFill>
                <a:effectLst/>
                <a:cs typeface="Arial" pitchFamily="34" charset="0"/>
              </a:rPr>
              <a:t>javax.swing.JApplet</a:t>
            </a:r>
            <a:r>
              <a:rPr kumimoji="0" lang="en-US" sz="2000" b="0" i="0" u="none" strike="noStrike" cap="none" normalizeH="0" baseline="0" dirty="0">
                <a:ln>
                  <a:noFill/>
                </a:ln>
                <a:solidFill>
                  <a:srgbClr val="000000"/>
                </a:solidFill>
                <a:effectLs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public class EventDemo6 extends </a:t>
            </a:r>
            <a:r>
              <a:rPr kumimoji="0" lang="en-US" sz="2000" b="0" i="0" u="none" strike="noStrike" cap="none" normalizeH="0" baseline="0" dirty="0" err="1">
                <a:ln>
                  <a:noFill/>
                </a:ln>
                <a:solidFill>
                  <a:srgbClr val="000000"/>
                </a:solidFill>
                <a:effectLst/>
                <a:cs typeface="Arial" pitchFamily="34" charset="0"/>
              </a:rPr>
              <a:t>JApplet</a:t>
            </a:r>
            <a:r>
              <a:rPr kumimoji="0" lang="en-US" sz="2000" b="0" i="0" u="none" strike="noStrike" cap="none" normalizeH="0" baseline="0" dirty="0">
                <a:ln>
                  <a:noFill/>
                </a:ln>
                <a:solidFill>
                  <a:srgbClr val="000000"/>
                </a:solidFill>
                <a:effectLst/>
                <a:cs typeface="Arial" pitchFamily="34" charset="0"/>
              </a:rPr>
              <a:t> implements </a:t>
            </a:r>
            <a:r>
              <a:rPr kumimoji="0" lang="en-US" sz="2000" b="0" i="0" u="none" strike="noStrike" cap="none" normalizeH="0" baseline="0" dirty="0" err="1">
                <a:ln>
                  <a:noFill/>
                </a:ln>
                <a:solidFill>
                  <a:srgbClr val="000000"/>
                </a:solidFill>
                <a:effectLst/>
                <a:cs typeface="Arial" pitchFamily="34" charset="0"/>
              </a:rPr>
              <a:t>KeyListener</a:t>
            </a:r>
            <a:r>
              <a:rPr kumimoji="0" lang="en-US" sz="2000" b="0" i="0" u="none" strike="noStrike" cap="none" normalizeH="0" baseline="0" dirty="0">
                <a:ln>
                  <a:noFill/>
                </a:ln>
                <a:solidFill>
                  <a:srgbClr val="000000"/>
                </a:solidFill>
                <a:effectLs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    String event; // description of keyboard event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    public void init() // set up UI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    { </a:t>
            </a:r>
          </a:p>
          <a:p>
            <a:pPr marL="0" marR="0" lvl="0" indent="0" algn="l" defTabSz="914400" rtl="0" eaLnBrk="1" fontAlgn="base" latinLnBrk="0" hangingPunct="1">
              <a:lnSpc>
                <a:spcPct val="100000"/>
              </a:lnSpc>
              <a:spcBef>
                <a:spcPct val="0"/>
              </a:spcBef>
              <a:spcAft>
                <a:spcPct val="0"/>
              </a:spcAft>
              <a:buClrTx/>
              <a:buSzTx/>
              <a:buFontTx/>
              <a:buNone/>
              <a:tabLst/>
            </a:pPr>
            <a:r>
              <a:rPr lang="en-US" sz="2000" dirty="0">
                <a:solidFill>
                  <a:srgbClr val="000000"/>
                </a:solidFill>
                <a:cs typeface="Arial" pitchFamily="34" charset="0"/>
              </a:rPr>
              <a:t>         </a:t>
            </a:r>
            <a:r>
              <a:rPr kumimoji="0" lang="en-US" sz="2000" b="0" i="0" u="none" strike="noStrike" cap="none" normalizeH="0" baseline="0" dirty="0" err="1">
                <a:ln>
                  <a:noFill/>
                </a:ln>
                <a:solidFill>
                  <a:srgbClr val="000000"/>
                </a:solidFill>
                <a:effectLst/>
                <a:cs typeface="Arial" pitchFamily="34" charset="0"/>
              </a:rPr>
              <a:t>setLayout</a:t>
            </a:r>
            <a:r>
              <a:rPr kumimoji="0" lang="en-US" sz="2000" b="0" i="0" u="none" strike="noStrike" cap="none" normalizeH="0" baseline="0" dirty="0">
                <a:ln>
                  <a:noFill/>
                </a:ln>
                <a:solidFill>
                  <a:srgbClr val="000000"/>
                </a:solidFill>
                <a:effectLst/>
                <a:cs typeface="Arial" pitchFamily="34" charset="0"/>
              </a:rPr>
              <a:t>(new </a:t>
            </a:r>
            <a:r>
              <a:rPr kumimoji="0" lang="en-US" sz="2000" b="0" i="0" u="none" strike="noStrike" cap="none" normalizeH="0" baseline="0" dirty="0" err="1">
                <a:ln>
                  <a:noFill/>
                </a:ln>
                <a:solidFill>
                  <a:srgbClr val="000000"/>
                </a:solidFill>
                <a:effectLst/>
                <a:cs typeface="Arial" pitchFamily="34" charset="0"/>
              </a:rPr>
              <a:t>FlowLayout</a:t>
            </a:r>
            <a:r>
              <a:rPr kumimoji="0" lang="en-US" sz="2000" b="0" i="0" u="none" strike="noStrike" cap="none" normalizeH="0" baseline="0" dirty="0">
                <a:ln>
                  <a:noFill/>
                </a:ln>
                <a:solidFill>
                  <a:srgbClr val="000000"/>
                </a:solidFill>
                <a:effectLs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         event = ""; </a:t>
            </a:r>
            <a:r>
              <a:rPr kumimoji="0" lang="en-US" sz="2000" b="0" i="0" u="none" strike="noStrike" cap="none" normalizeH="0" baseline="0" dirty="0" err="1">
                <a:ln>
                  <a:noFill/>
                </a:ln>
                <a:solidFill>
                  <a:srgbClr val="000000"/>
                </a:solidFill>
                <a:effectLst/>
                <a:cs typeface="Arial" pitchFamily="34" charset="0"/>
              </a:rPr>
              <a:t>addKeyListener</a:t>
            </a:r>
            <a:r>
              <a:rPr kumimoji="0" lang="en-US" sz="2000" b="0" i="0" u="none" strike="noStrike" cap="none" normalizeH="0" baseline="0" dirty="0">
                <a:ln>
                  <a:noFill/>
                </a:ln>
                <a:solidFill>
                  <a:srgbClr val="000000"/>
                </a:solidFill>
                <a:effectLst/>
                <a:cs typeface="Arial" pitchFamily="34" charset="0"/>
              </a:rPr>
              <a:t>(this); // listen for keyboard events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         </a:t>
            </a:r>
            <a:r>
              <a:rPr kumimoji="0" lang="en-US" sz="2000" b="0" i="0" u="none" strike="noStrike" cap="none" normalizeH="0" baseline="0" dirty="0" err="1">
                <a:ln>
                  <a:noFill/>
                </a:ln>
                <a:solidFill>
                  <a:srgbClr val="000000"/>
                </a:solidFill>
                <a:effectLst/>
                <a:cs typeface="Arial" pitchFamily="34" charset="0"/>
              </a:rPr>
              <a:t>setFocusable</a:t>
            </a:r>
            <a:r>
              <a:rPr kumimoji="0" lang="en-US" sz="2000" b="0" i="0" u="none" strike="noStrike" cap="none" normalizeH="0" baseline="0" dirty="0">
                <a:ln>
                  <a:noFill/>
                </a:ln>
                <a:solidFill>
                  <a:srgbClr val="000000"/>
                </a:solidFill>
                <a:effectLst/>
                <a:cs typeface="Arial" pitchFamily="34" charset="0"/>
              </a:rPr>
              <a:t>(true); // force applet to receive </a:t>
            </a:r>
            <a:r>
              <a:rPr kumimoji="0" lang="en-US" sz="2000" b="0" i="0" u="none" strike="noStrike" cap="none" normalizeH="0" baseline="0" dirty="0" err="1">
                <a:ln>
                  <a:noFill/>
                </a:ln>
                <a:solidFill>
                  <a:srgbClr val="000000"/>
                </a:solidFill>
                <a:effectLst/>
                <a:cs typeface="Arial" pitchFamily="34" charset="0"/>
              </a:rPr>
              <a:t>KeyEvent</a:t>
            </a:r>
            <a:endParaRPr kumimoji="0" lang="en-US" sz="2000" b="0" i="0" u="none" strike="noStrike" cap="none" normalizeH="0" baseline="0" dirty="0">
              <a:ln>
                <a:noFill/>
              </a:ln>
              <a:solidFill>
                <a:srgbClr val="000000"/>
              </a:solidFill>
              <a:effectLst/>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    public void paint(Graphics g) // draw message to applet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        </a:t>
            </a:r>
            <a:r>
              <a:rPr kumimoji="0" lang="en-US" sz="2000" b="0" i="0" u="none" strike="noStrike" cap="none" normalizeH="0" baseline="0" dirty="0" err="1">
                <a:ln>
                  <a:noFill/>
                </a:ln>
                <a:solidFill>
                  <a:srgbClr val="000000"/>
                </a:solidFill>
                <a:effectLst/>
                <a:cs typeface="Arial" pitchFamily="34" charset="0"/>
              </a:rPr>
              <a:t>super.paint</a:t>
            </a:r>
            <a:r>
              <a:rPr kumimoji="0" lang="en-US" sz="2000" b="0" i="0" u="none" strike="noStrike" cap="none" normalizeH="0" baseline="0" dirty="0">
                <a:ln>
                  <a:noFill/>
                </a:ln>
                <a:solidFill>
                  <a:srgbClr val="000000"/>
                </a:solidFill>
                <a:effectLst/>
                <a:cs typeface="Arial" pitchFamily="34" charset="0"/>
              </a:rPr>
              <a:t>(g);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        </a:t>
            </a:r>
            <a:r>
              <a:rPr kumimoji="0" lang="en-US" sz="2000" b="0" i="0" u="none" strike="noStrike" cap="none" normalizeH="0" baseline="0" dirty="0" err="1">
                <a:ln>
                  <a:noFill/>
                </a:ln>
                <a:solidFill>
                  <a:srgbClr val="000000"/>
                </a:solidFill>
                <a:effectLst/>
                <a:cs typeface="Arial" pitchFamily="34" charset="0"/>
              </a:rPr>
              <a:t>g.drawRect</a:t>
            </a:r>
            <a:r>
              <a:rPr kumimoji="0" lang="en-US" sz="2000" b="0" i="0" u="none" strike="noStrike" cap="none" normalizeH="0" baseline="0" dirty="0">
                <a:ln>
                  <a:noFill/>
                </a:ln>
                <a:solidFill>
                  <a:srgbClr val="000000"/>
                </a:solidFill>
                <a:effectLst/>
                <a:cs typeface="Arial" pitchFamily="34" charset="0"/>
              </a:rPr>
              <a:t>(0, 0, </a:t>
            </a:r>
            <a:r>
              <a:rPr kumimoji="0" lang="en-US" sz="2000" b="0" i="0" u="none" strike="noStrike" cap="none" normalizeH="0" baseline="0" dirty="0" err="1">
                <a:ln>
                  <a:noFill/>
                </a:ln>
                <a:solidFill>
                  <a:srgbClr val="000000"/>
                </a:solidFill>
                <a:effectLst/>
                <a:cs typeface="Arial" pitchFamily="34" charset="0"/>
              </a:rPr>
              <a:t>getWidth</a:t>
            </a:r>
            <a:r>
              <a:rPr kumimoji="0" lang="en-US" sz="2000" b="0" i="0" u="none" strike="noStrike" cap="none" normalizeH="0" baseline="0" dirty="0">
                <a:ln>
                  <a:noFill/>
                </a:ln>
                <a:solidFill>
                  <a:srgbClr val="000000"/>
                </a:solidFill>
                <a:effectLst/>
                <a:cs typeface="Arial" pitchFamily="34" charset="0"/>
              </a:rPr>
              <a:t>(), </a:t>
            </a:r>
            <a:r>
              <a:rPr kumimoji="0" lang="en-US" sz="2000" b="0" i="0" u="none" strike="noStrike" cap="none" normalizeH="0" baseline="0" dirty="0" err="1">
                <a:ln>
                  <a:noFill/>
                </a:ln>
                <a:solidFill>
                  <a:srgbClr val="000000"/>
                </a:solidFill>
                <a:effectLst/>
                <a:cs typeface="Arial" pitchFamily="34" charset="0"/>
              </a:rPr>
              <a:t>getHeight</a:t>
            </a:r>
            <a:r>
              <a:rPr kumimoji="0" lang="en-US" sz="2000" b="0" i="0" u="none" strike="noStrike" cap="none" normalizeH="0" baseline="0" dirty="0">
                <a:ln>
                  <a:noFill/>
                </a:ln>
                <a:solidFill>
                  <a:srgbClr val="000000"/>
                </a:solidFill>
                <a:effectLst/>
                <a:cs typeface="Arial" pitchFamily="34" charset="0"/>
              </a:rPr>
              <a:t>()); // show bounds of applet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        </a:t>
            </a:r>
            <a:r>
              <a:rPr kumimoji="0" lang="en-US" sz="2000" b="0" i="0" u="none" strike="noStrike" cap="none" normalizeH="0" baseline="0" dirty="0" err="1">
                <a:ln>
                  <a:noFill/>
                </a:ln>
                <a:solidFill>
                  <a:srgbClr val="000000"/>
                </a:solidFill>
                <a:effectLst/>
                <a:cs typeface="Arial" pitchFamily="34" charset="0"/>
              </a:rPr>
              <a:t>g.drawString</a:t>
            </a:r>
            <a:r>
              <a:rPr kumimoji="0" lang="en-US" sz="2000" b="0" i="0" u="none" strike="noStrike" cap="none" normalizeH="0" baseline="0" dirty="0">
                <a:ln>
                  <a:noFill/>
                </a:ln>
                <a:solidFill>
                  <a:srgbClr val="000000"/>
                </a:solidFill>
                <a:effectLst/>
                <a:cs typeface="Arial" pitchFamily="34" charset="0"/>
              </a:rPr>
              <a:t>(event, 10, 50);</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cs typeface="Arial" pitchFamily="34" charset="0"/>
              </a:rPr>
              <a:t>    </a:t>
            </a:r>
            <a:endParaRPr kumimoji="0" lang="en-US" sz="4400" b="0" i="0" u="none" strike="noStrike" cap="none" normalizeH="0" baseline="0" dirty="0">
              <a:ln>
                <a:noFill/>
              </a:ln>
              <a:solidFill>
                <a:schemeClr val="tx1"/>
              </a:solidFill>
              <a:effectLst/>
              <a:cs typeface="Arial" pitchFamily="34" charset="0"/>
            </a:endParaRPr>
          </a:p>
        </p:txBody>
      </p:sp>
      <p:sp>
        <p:nvSpPr>
          <p:cNvPr id="4" name="Slide Number Placeholder 3"/>
          <p:cNvSpPr>
            <a:spLocks noGrp="1"/>
          </p:cNvSpPr>
          <p:nvPr>
            <p:ph type="sldNum" sz="quarter" idx="12"/>
          </p:nvPr>
        </p:nvSpPr>
        <p:spPr/>
        <p:txBody>
          <a:bodyPr/>
          <a:lstStyle/>
          <a:p>
            <a:fld id="{CABF7EEA-85D2-497E-9C95-F3C1348C26C9}" type="slidenum">
              <a:rPr lang="en-IN" smtClean="0"/>
              <a:pPr/>
              <a:t>67</a:t>
            </a:fld>
            <a:endParaRPr lang="en-IN"/>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0100" y="751344"/>
            <a:ext cx="7572428" cy="4093428"/>
          </a:xfrm>
          <a:prstGeom prst="rect">
            <a:avLst/>
          </a:prstGeom>
        </p:spPr>
        <p:txBody>
          <a:bodyPr wrap="square">
            <a:spAutoFit/>
          </a:bodyPr>
          <a:lstStyle/>
          <a:p>
            <a:pPr lvl="0" fontAlgn="base">
              <a:spcBef>
                <a:spcPct val="0"/>
              </a:spcBef>
              <a:spcAft>
                <a:spcPct val="0"/>
              </a:spcAft>
            </a:pPr>
            <a:r>
              <a:rPr lang="en-US" sz="2000" dirty="0">
                <a:solidFill>
                  <a:srgbClr val="000000"/>
                </a:solidFill>
                <a:cs typeface="Arial" pitchFamily="34" charset="0"/>
              </a:rPr>
              <a:t>    public void </a:t>
            </a:r>
            <a:r>
              <a:rPr lang="en-US" sz="2000" dirty="0" err="1">
                <a:solidFill>
                  <a:srgbClr val="000000"/>
                </a:solidFill>
                <a:cs typeface="Arial" pitchFamily="34" charset="0"/>
              </a:rPr>
              <a:t>keyPressed</a:t>
            </a:r>
            <a:r>
              <a:rPr lang="en-US" sz="2000" dirty="0">
                <a:solidFill>
                  <a:srgbClr val="000000"/>
                </a:solidFill>
                <a:cs typeface="Arial" pitchFamily="34" charset="0"/>
              </a:rPr>
              <a:t>(</a:t>
            </a:r>
            <a:r>
              <a:rPr lang="en-US" sz="2000" dirty="0" err="1">
                <a:solidFill>
                  <a:srgbClr val="000000"/>
                </a:solidFill>
                <a:cs typeface="Arial" pitchFamily="34" charset="0"/>
              </a:rPr>
              <a:t>KeyEvent</a:t>
            </a:r>
            <a:r>
              <a:rPr lang="en-US" sz="2000" dirty="0">
                <a:solidFill>
                  <a:srgbClr val="000000"/>
                </a:solidFill>
                <a:cs typeface="Arial" pitchFamily="34" charset="0"/>
              </a:rPr>
              <a:t> e) // handle key presses </a:t>
            </a:r>
          </a:p>
          <a:p>
            <a:pPr lvl="0" fontAlgn="base">
              <a:spcBef>
                <a:spcPct val="0"/>
              </a:spcBef>
              <a:spcAft>
                <a:spcPct val="0"/>
              </a:spcAft>
            </a:pPr>
            <a:r>
              <a:rPr lang="en-US" sz="2000" dirty="0">
                <a:solidFill>
                  <a:srgbClr val="000000"/>
                </a:solidFill>
                <a:cs typeface="Arial" pitchFamily="34" charset="0"/>
              </a:rPr>
              <a:t>    { </a:t>
            </a:r>
          </a:p>
          <a:p>
            <a:pPr lvl="0" fontAlgn="base">
              <a:spcBef>
                <a:spcPct val="0"/>
              </a:spcBef>
              <a:spcAft>
                <a:spcPct val="0"/>
              </a:spcAft>
            </a:pPr>
            <a:r>
              <a:rPr lang="en-US" sz="2000" dirty="0">
                <a:solidFill>
                  <a:srgbClr val="000000"/>
                </a:solidFill>
                <a:cs typeface="Arial" pitchFamily="34" charset="0"/>
              </a:rPr>
              <a:t>        event = </a:t>
            </a:r>
            <a:r>
              <a:rPr lang="en-US" sz="2000" dirty="0" err="1">
                <a:solidFill>
                  <a:srgbClr val="000000"/>
                </a:solidFill>
                <a:cs typeface="Arial" pitchFamily="34" charset="0"/>
              </a:rPr>
              <a:t>e.getKeyChar</a:t>
            </a:r>
            <a:r>
              <a:rPr lang="en-US" sz="2000" dirty="0">
                <a:solidFill>
                  <a:srgbClr val="000000"/>
                </a:solidFill>
                <a:cs typeface="Arial" pitchFamily="34" charset="0"/>
              </a:rPr>
              <a:t>() + " pressed"; repaint(); </a:t>
            </a:r>
          </a:p>
          <a:p>
            <a:pPr lvl="0" fontAlgn="base">
              <a:spcBef>
                <a:spcPct val="0"/>
              </a:spcBef>
              <a:spcAft>
                <a:spcPct val="0"/>
              </a:spcAft>
            </a:pPr>
            <a:r>
              <a:rPr lang="en-US" sz="2000" dirty="0">
                <a:solidFill>
                  <a:srgbClr val="000000"/>
                </a:solidFill>
                <a:cs typeface="Arial" pitchFamily="34" charset="0"/>
              </a:rPr>
              <a:t>    } </a:t>
            </a:r>
          </a:p>
          <a:p>
            <a:pPr lvl="0" fontAlgn="base">
              <a:spcBef>
                <a:spcPct val="0"/>
              </a:spcBef>
              <a:spcAft>
                <a:spcPct val="0"/>
              </a:spcAft>
            </a:pPr>
            <a:r>
              <a:rPr lang="en-US" sz="2000" dirty="0">
                <a:solidFill>
                  <a:srgbClr val="000000"/>
                </a:solidFill>
                <a:cs typeface="Arial" pitchFamily="34" charset="0"/>
              </a:rPr>
              <a:t>    public void </a:t>
            </a:r>
            <a:r>
              <a:rPr lang="en-US" sz="2000" dirty="0" err="1">
                <a:solidFill>
                  <a:srgbClr val="000000"/>
                </a:solidFill>
                <a:cs typeface="Arial" pitchFamily="34" charset="0"/>
              </a:rPr>
              <a:t>keyReleased</a:t>
            </a:r>
            <a:r>
              <a:rPr lang="en-US" sz="2000" dirty="0">
                <a:solidFill>
                  <a:srgbClr val="000000"/>
                </a:solidFill>
                <a:cs typeface="Arial" pitchFamily="34" charset="0"/>
              </a:rPr>
              <a:t>(</a:t>
            </a:r>
            <a:r>
              <a:rPr lang="en-US" sz="2000" dirty="0" err="1">
                <a:solidFill>
                  <a:srgbClr val="000000"/>
                </a:solidFill>
                <a:cs typeface="Arial" pitchFamily="34" charset="0"/>
              </a:rPr>
              <a:t>KeyEvent</a:t>
            </a:r>
            <a:r>
              <a:rPr lang="en-US" sz="2000" dirty="0">
                <a:solidFill>
                  <a:srgbClr val="000000"/>
                </a:solidFill>
                <a:cs typeface="Arial" pitchFamily="34" charset="0"/>
              </a:rPr>
              <a:t> e) // handle key releases</a:t>
            </a:r>
          </a:p>
          <a:p>
            <a:pPr lvl="0" fontAlgn="base">
              <a:spcBef>
                <a:spcPct val="0"/>
              </a:spcBef>
              <a:spcAft>
                <a:spcPct val="0"/>
              </a:spcAft>
            </a:pPr>
            <a:r>
              <a:rPr lang="en-US" sz="2000" dirty="0">
                <a:solidFill>
                  <a:srgbClr val="000000"/>
                </a:solidFill>
                <a:cs typeface="Arial" pitchFamily="34" charset="0"/>
              </a:rPr>
              <a:t>    { </a:t>
            </a:r>
          </a:p>
          <a:p>
            <a:pPr lvl="0" fontAlgn="base">
              <a:spcBef>
                <a:spcPct val="0"/>
              </a:spcBef>
              <a:spcAft>
                <a:spcPct val="0"/>
              </a:spcAft>
            </a:pPr>
            <a:r>
              <a:rPr lang="en-US" sz="2000" dirty="0">
                <a:solidFill>
                  <a:srgbClr val="000000"/>
                </a:solidFill>
                <a:cs typeface="Arial" pitchFamily="34" charset="0"/>
              </a:rPr>
              <a:t>        event = </a:t>
            </a:r>
            <a:r>
              <a:rPr lang="en-US" sz="2000" dirty="0" err="1">
                <a:solidFill>
                  <a:srgbClr val="000000"/>
                </a:solidFill>
                <a:cs typeface="Arial" pitchFamily="34" charset="0"/>
              </a:rPr>
              <a:t>e.getKeyChar</a:t>
            </a:r>
            <a:r>
              <a:rPr lang="en-US" sz="2000" dirty="0">
                <a:solidFill>
                  <a:srgbClr val="000000"/>
                </a:solidFill>
                <a:cs typeface="Arial" pitchFamily="34" charset="0"/>
              </a:rPr>
              <a:t>() + " released"; repaint();</a:t>
            </a:r>
          </a:p>
          <a:p>
            <a:pPr lvl="0" fontAlgn="base">
              <a:spcBef>
                <a:spcPct val="0"/>
              </a:spcBef>
              <a:spcAft>
                <a:spcPct val="0"/>
              </a:spcAft>
            </a:pPr>
            <a:r>
              <a:rPr lang="en-US" sz="2000" dirty="0">
                <a:solidFill>
                  <a:srgbClr val="000000"/>
                </a:solidFill>
                <a:cs typeface="Arial" pitchFamily="34" charset="0"/>
              </a:rPr>
              <a:t>    } </a:t>
            </a:r>
          </a:p>
          <a:p>
            <a:pPr lvl="0" fontAlgn="base">
              <a:spcBef>
                <a:spcPct val="0"/>
              </a:spcBef>
              <a:spcAft>
                <a:spcPct val="0"/>
              </a:spcAft>
            </a:pPr>
            <a:r>
              <a:rPr lang="en-US" sz="2000" dirty="0">
                <a:solidFill>
                  <a:srgbClr val="000000"/>
                </a:solidFill>
                <a:cs typeface="Arial" pitchFamily="34" charset="0"/>
              </a:rPr>
              <a:t>    public void </a:t>
            </a:r>
            <a:r>
              <a:rPr lang="en-US" sz="2000" dirty="0" err="1">
                <a:solidFill>
                  <a:srgbClr val="000000"/>
                </a:solidFill>
                <a:cs typeface="Arial" pitchFamily="34" charset="0"/>
              </a:rPr>
              <a:t>keyTyped</a:t>
            </a:r>
            <a:r>
              <a:rPr lang="en-US" sz="2000" dirty="0">
                <a:solidFill>
                  <a:srgbClr val="000000"/>
                </a:solidFill>
                <a:cs typeface="Arial" pitchFamily="34" charset="0"/>
              </a:rPr>
              <a:t>(</a:t>
            </a:r>
            <a:r>
              <a:rPr lang="en-US" sz="2000" dirty="0" err="1">
                <a:solidFill>
                  <a:srgbClr val="000000"/>
                </a:solidFill>
                <a:cs typeface="Arial" pitchFamily="34" charset="0"/>
              </a:rPr>
              <a:t>KeyEvent</a:t>
            </a:r>
            <a:r>
              <a:rPr lang="en-US" sz="2000" dirty="0">
                <a:solidFill>
                  <a:srgbClr val="000000"/>
                </a:solidFill>
                <a:cs typeface="Arial" pitchFamily="34" charset="0"/>
              </a:rPr>
              <a:t> e) // handle typing on applet </a:t>
            </a:r>
          </a:p>
          <a:p>
            <a:pPr lvl="0" fontAlgn="base">
              <a:spcBef>
                <a:spcPct val="0"/>
              </a:spcBef>
              <a:spcAft>
                <a:spcPct val="0"/>
              </a:spcAft>
            </a:pPr>
            <a:r>
              <a:rPr lang="en-US" sz="2000" dirty="0">
                <a:solidFill>
                  <a:srgbClr val="000000"/>
                </a:solidFill>
                <a:cs typeface="Arial" pitchFamily="34" charset="0"/>
              </a:rPr>
              <a:t>    { </a:t>
            </a:r>
          </a:p>
          <a:p>
            <a:pPr lvl="0" fontAlgn="base">
              <a:spcBef>
                <a:spcPct val="0"/>
              </a:spcBef>
              <a:spcAft>
                <a:spcPct val="0"/>
              </a:spcAft>
            </a:pPr>
            <a:r>
              <a:rPr lang="en-US" sz="2000" dirty="0">
                <a:solidFill>
                  <a:srgbClr val="000000"/>
                </a:solidFill>
                <a:cs typeface="Arial" pitchFamily="34" charset="0"/>
              </a:rPr>
              <a:t>        event = </a:t>
            </a:r>
            <a:r>
              <a:rPr lang="en-US" sz="2000" dirty="0" err="1">
                <a:solidFill>
                  <a:srgbClr val="000000"/>
                </a:solidFill>
                <a:cs typeface="Arial" pitchFamily="34" charset="0"/>
              </a:rPr>
              <a:t>e.getKeyChar</a:t>
            </a:r>
            <a:r>
              <a:rPr lang="en-US" sz="2000" dirty="0">
                <a:solidFill>
                  <a:srgbClr val="000000"/>
                </a:solidFill>
                <a:cs typeface="Arial" pitchFamily="34" charset="0"/>
              </a:rPr>
              <a:t>() + " typed"; repaint();</a:t>
            </a:r>
          </a:p>
          <a:p>
            <a:pPr lvl="0" fontAlgn="base">
              <a:spcBef>
                <a:spcPct val="0"/>
              </a:spcBef>
              <a:spcAft>
                <a:spcPct val="0"/>
              </a:spcAft>
            </a:pPr>
            <a:r>
              <a:rPr lang="en-US" sz="2000" dirty="0">
                <a:solidFill>
                  <a:srgbClr val="000000"/>
                </a:solidFill>
                <a:cs typeface="Arial" pitchFamily="34" charset="0"/>
              </a:rPr>
              <a:t>     }</a:t>
            </a:r>
          </a:p>
          <a:p>
            <a:pPr lvl="0" fontAlgn="base">
              <a:spcBef>
                <a:spcPct val="0"/>
              </a:spcBef>
              <a:spcAft>
                <a:spcPct val="0"/>
              </a:spcAft>
            </a:pPr>
            <a:r>
              <a:rPr lang="en-US" sz="2000" dirty="0">
                <a:solidFill>
                  <a:srgbClr val="000000"/>
                </a:solidFill>
                <a:cs typeface="Arial" pitchFamily="34" charset="0"/>
              </a:rPr>
              <a:t>} </a:t>
            </a:r>
            <a:endParaRPr lang="en-US" sz="2000" dirty="0">
              <a:cs typeface="Arial" pitchFamily="34" charset="0"/>
            </a:endParaRPr>
          </a:p>
        </p:txBody>
      </p:sp>
      <p:sp>
        <p:nvSpPr>
          <p:cNvPr id="5" name="Slide Number Placeholder 4"/>
          <p:cNvSpPr>
            <a:spLocks noGrp="1"/>
          </p:cNvSpPr>
          <p:nvPr>
            <p:ph type="sldNum" sz="quarter" idx="12"/>
          </p:nvPr>
        </p:nvSpPr>
        <p:spPr/>
        <p:txBody>
          <a:bodyPr/>
          <a:lstStyle/>
          <a:p>
            <a:fld id="{CABF7EEA-85D2-497E-9C95-F3C1348C26C9}" type="slidenum">
              <a:rPr lang="en-IN" smtClean="0"/>
              <a:pPr/>
              <a:t>68</a:t>
            </a:fld>
            <a:endParaRPr lang="en-IN"/>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57200" y="277813"/>
            <a:ext cx="8229600" cy="560387"/>
          </a:xfrm>
        </p:spPr>
        <p:txBody>
          <a:bodyPr>
            <a:normAutofit fontScale="90000"/>
          </a:bodyPr>
          <a:lstStyle/>
          <a:p>
            <a:r>
              <a:rPr lang="en-US" sz="3800" b="1" dirty="0" err="1"/>
              <a:t>TextEvent</a:t>
            </a:r>
            <a:r>
              <a:rPr lang="en-US" sz="3800" b="1" dirty="0"/>
              <a:t> class</a:t>
            </a:r>
            <a:r>
              <a:rPr lang="en-US" sz="3800" dirty="0"/>
              <a:t> </a:t>
            </a:r>
          </a:p>
        </p:txBody>
      </p:sp>
      <p:sp>
        <p:nvSpPr>
          <p:cNvPr id="46083" name="Rectangle 3"/>
          <p:cNvSpPr>
            <a:spLocks noGrp="1" noChangeArrowheads="1"/>
          </p:cNvSpPr>
          <p:nvPr>
            <p:ph type="body" idx="1"/>
          </p:nvPr>
        </p:nvSpPr>
        <p:spPr>
          <a:xfrm>
            <a:off x="228600" y="1066800"/>
            <a:ext cx="8686800" cy="5334000"/>
          </a:xfrm>
        </p:spPr>
        <p:txBody>
          <a:bodyPr/>
          <a:lstStyle/>
          <a:p>
            <a:r>
              <a:rPr lang="en-US" sz="2600"/>
              <a:t>A semantic event which indicates that an object's text changed. </a:t>
            </a:r>
          </a:p>
          <a:p>
            <a:r>
              <a:rPr lang="en-US" sz="2600"/>
              <a:t>This high-level event is generated by an object (such as a TextComponent) when its text changes.</a:t>
            </a:r>
          </a:p>
          <a:p>
            <a:endParaRPr lang="en-US" sz="2600"/>
          </a:p>
          <a:p>
            <a:r>
              <a:rPr lang="en-US" sz="2600" b="1"/>
              <a:t>public TextEvent(Object source,int id)</a:t>
            </a:r>
            <a:endParaRPr lang="en-US" sz="2600"/>
          </a:p>
          <a:p>
            <a:pPr lvl="1"/>
            <a:r>
              <a:rPr lang="en-US"/>
              <a:t>Constructs a TextEvent object. </a:t>
            </a:r>
            <a:endParaRPr lang="en-US" b="1"/>
          </a:p>
          <a:p>
            <a:pPr lvl="1"/>
            <a:r>
              <a:rPr lang="en-US" sz="2200" b="1"/>
              <a:t>Parameters:</a:t>
            </a:r>
            <a:r>
              <a:rPr lang="en-US" sz="2200"/>
              <a:t> </a:t>
            </a:r>
          </a:p>
          <a:p>
            <a:pPr lvl="1"/>
            <a:r>
              <a:rPr lang="en-US" b="1"/>
              <a:t>source</a:t>
            </a:r>
            <a:r>
              <a:rPr lang="en-US"/>
              <a:t> - the (TextComponent) object that originated the event </a:t>
            </a:r>
          </a:p>
          <a:p>
            <a:pPr lvl="1"/>
            <a:r>
              <a:rPr lang="en-US" b="1"/>
              <a:t>id</a:t>
            </a:r>
            <a:r>
              <a:rPr lang="en-US"/>
              <a:t> - an integer that identifies the event type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69</a:t>
            </a:fld>
            <a:endParaRPr lang="en-IN"/>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57200" y="277813"/>
            <a:ext cx="8229600" cy="560387"/>
          </a:xfrm>
        </p:spPr>
        <p:txBody>
          <a:bodyPr>
            <a:normAutofit fontScale="90000"/>
          </a:bodyPr>
          <a:lstStyle/>
          <a:p>
            <a:r>
              <a:rPr lang="en-US" sz="3800" b="1"/>
              <a:t>TextListener interface</a:t>
            </a:r>
            <a:r>
              <a:rPr lang="en-US" sz="3800"/>
              <a:t> </a:t>
            </a:r>
          </a:p>
        </p:txBody>
      </p:sp>
      <p:sp>
        <p:nvSpPr>
          <p:cNvPr id="47107" name="Rectangle 3"/>
          <p:cNvSpPr>
            <a:spLocks noGrp="1" noChangeArrowheads="1"/>
          </p:cNvSpPr>
          <p:nvPr>
            <p:ph type="body" idx="1"/>
          </p:nvPr>
        </p:nvSpPr>
        <p:spPr>
          <a:xfrm>
            <a:off x="457200" y="1143000"/>
            <a:ext cx="8229600" cy="5257800"/>
          </a:xfrm>
        </p:spPr>
        <p:txBody>
          <a:bodyPr/>
          <a:lstStyle/>
          <a:p>
            <a:r>
              <a:rPr lang="en-US"/>
              <a:t>The listener interface for receiving text events. </a:t>
            </a:r>
          </a:p>
          <a:p>
            <a:endParaRPr lang="en-US"/>
          </a:p>
          <a:p>
            <a:r>
              <a:rPr lang="en-US" b="1"/>
              <a:t>void textValueChanged(TextEvent e)</a:t>
            </a:r>
            <a:endParaRPr lang="en-US"/>
          </a:p>
          <a:p>
            <a:r>
              <a:rPr lang="en-US"/>
              <a:t>Invoked when the value of the text has changed. </a:t>
            </a:r>
          </a:p>
          <a:p>
            <a:r>
              <a:rPr lang="en-US"/>
              <a:t>The code written for this method performs the operations that need to occur when text changes.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70</a:t>
            </a:fld>
            <a:endParaRPr lang="en-I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457200" y="277813"/>
            <a:ext cx="8229600" cy="560387"/>
          </a:xfrm>
        </p:spPr>
        <p:txBody>
          <a:bodyPr>
            <a:normAutofit fontScale="90000"/>
          </a:bodyPr>
          <a:lstStyle/>
          <a:p>
            <a:r>
              <a:rPr lang="en-US" sz="3800" b="1" dirty="0" err="1"/>
              <a:t>WindowEvent</a:t>
            </a:r>
            <a:r>
              <a:rPr lang="en-US" sz="3800" b="1" dirty="0"/>
              <a:t> class</a:t>
            </a:r>
            <a:r>
              <a:rPr lang="en-US" sz="3800" dirty="0"/>
              <a:t> </a:t>
            </a:r>
          </a:p>
        </p:txBody>
      </p:sp>
      <p:sp>
        <p:nvSpPr>
          <p:cNvPr id="55299" name="Rectangle 3"/>
          <p:cNvSpPr>
            <a:spLocks noGrp="1" noChangeArrowheads="1"/>
          </p:cNvSpPr>
          <p:nvPr>
            <p:ph type="body" idx="1"/>
          </p:nvPr>
        </p:nvSpPr>
        <p:spPr>
          <a:xfrm>
            <a:off x="228600" y="1066800"/>
            <a:ext cx="8610600" cy="5410200"/>
          </a:xfrm>
        </p:spPr>
        <p:txBody>
          <a:bodyPr/>
          <a:lstStyle/>
          <a:p>
            <a:r>
              <a:rPr lang="en-US" dirty="0"/>
              <a:t>A low-level event indicates that a window has changed its status. </a:t>
            </a:r>
          </a:p>
          <a:p>
            <a:endParaRPr lang="en-US" dirty="0"/>
          </a:p>
          <a:p>
            <a:r>
              <a:rPr lang="en-US" dirty="0"/>
              <a:t>This event is generated by a Window object when it is opened, closed, activated, deactivated, </a:t>
            </a:r>
            <a:r>
              <a:rPr lang="en-US" dirty="0" err="1"/>
              <a:t>iconified</a:t>
            </a:r>
            <a:r>
              <a:rPr lang="en-US" dirty="0"/>
              <a:t>, or </a:t>
            </a:r>
            <a:r>
              <a:rPr lang="en-US" dirty="0" err="1"/>
              <a:t>deiconified</a:t>
            </a:r>
            <a:r>
              <a:rPr lang="en-US" dirty="0"/>
              <a:t>, or when focus is transferred into or out of the Window. </a:t>
            </a:r>
          </a:p>
          <a:p>
            <a:endParaRPr lang="en-US" dirty="0"/>
          </a:p>
        </p:txBody>
      </p:sp>
      <p:sp>
        <p:nvSpPr>
          <p:cNvPr id="4" name="Slide Number Placeholder 3"/>
          <p:cNvSpPr>
            <a:spLocks noGrp="1"/>
          </p:cNvSpPr>
          <p:nvPr>
            <p:ph type="sldNum" sz="quarter" idx="12"/>
          </p:nvPr>
        </p:nvSpPr>
        <p:spPr/>
        <p:txBody>
          <a:bodyPr/>
          <a:lstStyle/>
          <a:p>
            <a:fld id="{CABF7EEA-85D2-497E-9C95-F3C1348C26C9}" type="slidenum">
              <a:rPr lang="en-IN" smtClean="0"/>
              <a:pPr/>
              <a:t>71</a:t>
            </a:fld>
            <a:endParaRPr lang="en-IN"/>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57200" y="277813"/>
            <a:ext cx="8229600" cy="331787"/>
          </a:xfrm>
        </p:spPr>
        <p:txBody>
          <a:bodyPr>
            <a:normAutofit fontScale="90000"/>
          </a:bodyPr>
          <a:lstStyle/>
          <a:p>
            <a:r>
              <a:rPr lang="en-US" sz="3800" b="1"/>
              <a:t>int constants</a:t>
            </a:r>
            <a:r>
              <a:rPr lang="en-US" sz="3800"/>
              <a:t> </a:t>
            </a:r>
          </a:p>
        </p:txBody>
      </p:sp>
      <p:sp>
        <p:nvSpPr>
          <p:cNvPr id="56323" name="Rectangle 3"/>
          <p:cNvSpPr>
            <a:spLocks noGrp="1" noChangeArrowheads="1"/>
          </p:cNvSpPr>
          <p:nvPr>
            <p:ph type="body" idx="1"/>
          </p:nvPr>
        </p:nvSpPr>
        <p:spPr>
          <a:xfrm>
            <a:off x="152400" y="914400"/>
            <a:ext cx="8763000" cy="5638800"/>
          </a:xfrm>
        </p:spPr>
        <p:txBody>
          <a:bodyPr/>
          <a:lstStyle/>
          <a:p>
            <a:r>
              <a:rPr lang="en-US" sz="2800" b="1"/>
              <a:t>WINDOW_ACTIVATED </a:t>
            </a:r>
            <a:endParaRPr lang="en-US" sz="2800"/>
          </a:p>
          <a:p>
            <a:r>
              <a:rPr lang="en-US" sz="2800" b="1"/>
              <a:t>WINDOW_CLOSED</a:t>
            </a:r>
            <a:r>
              <a:rPr lang="en-US" sz="2800"/>
              <a:t> </a:t>
            </a:r>
          </a:p>
          <a:p>
            <a:r>
              <a:rPr lang="en-US" sz="2800" b="1"/>
              <a:t>WINDOW_CLOSING </a:t>
            </a:r>
          </a:p>
          <a:p>
            <a:r>
              <a:rPr lang="en-US" sz="2800" b="1"/>
              <a:t>WINDOW_DEACTIVATED </a:t>
            </a:r>
            <a:endParaRPr lang="en-US" sz="2800"/>
          </a:p>
          <a:p>
            <a:r>
              <a:rPr lang="en-US" sz="2800" b="1"/>
              <a:t>WINDOW_DEICONIFIED </a:t>
            </a:r>
            <a:endParaRPr lang="en-US" sz="2800"/>
          </a:p>
          <a:p>
            <a:r>
              <a:rPr lang="en-US" sz="2800" b="1"/>
              <a:t>WINDOW_GAINED_FOCUS </a:t>
            </a:r>
          </a:p>
          <a:p>
            <a:r>
              <a:rPr lang="en-US" sz="2800" b="1"/>
              <a:t>WINDOW_ICONIFIED </a:t>
            </a:r>
            <a:endParaRPr lang="en-US" sz="2800"/>
          </a:p>
          <a:p>
            <a:r>
              <a:rPr lang="en-US" sz="2800" b="1"/>
              <a:t>WINDOW_LOST_FOCUS </a:t>
            </a:r>
          </a:p>
          <a:p>
            <a:r>
              <a:rPr lang="en-US" sz="2800" b="1"/>
              <a:t>WINDOW_OPENED </a:t>
            </a:r>
          </a:p>
          <a:p>
            <a:r>
              <a:rPr lang="en-US" sz="2800" b="1"/>
              <a:t>WINDOW_STATE_CHANGED </a:t>
            </a:r>
            <a:endParaRPr lang="en-US" sz="2800"/>
          </a:p>
        </p:txBody>
      </p:sp>
      <p:sp>
        <p:nvSpPr>
          <p:cNvPr id="4" name="Slide Number Placeholder 3"/>
          <p:cNvSpPr>
            <a:spLocks noGrp="1"/>
          </p:cNvSpPr>
          <p:nvPr>
            <p:ph type="sldNum" sz="quarter" idx="12"/>
          </p:nvPr>
        </p:nvSpPr>
        <p:spPr/>
        <p:txBody>
          <a:bodyPr/>
          <a:lstStyle/>
          <a:p>
            <a:fld id="{CABF7EEA-85D2-497E-9C95-F3C1348C26C9}" type="slidenum">
              <a:rPr lang="en-IN" smtClean="0"/>
              <a:pPr/>
              <a:t>72</a:t>
            </a:fld>
            <a:endParaRPr lang="en-IN"/>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457200" y="152400"/>
            <a:ext cx="8229600" cy="407988"/>
          </a:xfrm>
        </p:spPr>
        <p:txBody>
          <a:bodyPr>
            <a:normAutofit fontScale="90000"/>
          </a:bodyPr>
          <a:lstStyle/>
          <a:p>
            <a:r>
              <a:rPr lang="en-US" sz="3800" b="1"/>
              <a:t>Constructors</a:t>
            </a:r>
          </a:p>
        </p:txBody>
      </p:sp>
      <p:sp>
        <p:nvSpPr>
          <p:cNvPr id="57347" name="Rectangle 3"/>
          <p:cNvSpPr>
            <a:spLocks noGrp="1" noChangeArrowheads="1"/>
          </p:cNvSpPr>
          <p:nvPr>
            <p:ph type="body" idx="1"/>
          </p:nvPr>
        </p:nvSpPr>
        <p:spPr>
          <a:xfrm>
            <a:off x="0" y="914400"/>
            <a:ext cx="9144000" cy="5715000"/>
          </a:xfrm>
        </p:spPr>
        <p:txBody>
          <a:bodyPr/>
          <a:lstStyle/>
          <a:p>
            <a:pPr>
              <a:lnSpc>
                <a:spcPct val="80000"/>
              </a:lnSpc>
            </a:pPr>
            <a:r>
              <a:rPr lang="en-US" sz="1900" b="1"/>
              <a:t>public WindowEvent(Window source,int id)</a:t>
            </a:r>
            <a:endParaRPr lang="en-US" sz="1900"/>
          </a:p>
          <a:p>
            <a:pPr lvl="1">
              <a:lnSpc>
                <a:spcPct val="80000"/>
              </a:lnSpc>
            </a:pPr>
            <a:r>
              <a:rPr lang="en-US" sz="2200"/>
              <a:t>Constructs a WindowEvent object. </a:t>
            </a:r>
            <a:endParaRPr lang="en-US" sz="2200" b="1"/>
          </a:p>
          <a:p>
            <a:pPr lvl="1">
              <a:lnSpc>
                <a:spcPct val="80000"/>
              </a:lnSpc>
            </a:pPr>
            <a:r>
              <a:rPr lang="en-US" sz="2200" b="1"/>
              <a:t>Parameters:</a:t>
            </a:r>
            <a:r>
              <a:rPr lang="en-US" sz="2200"/>
              <a:t> </a:t>
            </a:r>
            <a:r>
              <a:rPr lang="en-US" sz="2200" b="1"/>
              <a:t>source</a:t>
            </a:r>
            <a:r>
              <a:rPr lang="en-US" sz="2200"/>
              <a:t> - the Window object that originated the event </a:t>
            </a:r>
          </a:p>
          <a:p>
            <a:pPr lvl="1">
              <a:lnSpc>
                <a:spcPct val="80000"/>
              </a:lnSpc>
            </a:pPr>
            <a:r>
              <a:rPr lang="en-US" sz="2200" b="1"/>
              <a:t>id</a:t>
            </a:r>
            <a:r>
              <a:rPr lang="en-US" sz="2200"/>
              <a:t> - an integer indicating the type of event</a:t>
            </a:r>
            <a:r>
              <a:rPr lang="en-US" sz="1700"/>
              <a:t> </a:t>
            </a:r>
          </a:p>
          <a:p>
            <a:pPr lvl="1">
              <a:lnSpc>
                <a:spcPct val="80000"/>
              </a:lnSpc>
            </a:pPr>
            <a:endParaRPr lang="en-US" sz="1700" b="1"/>
          </a:p>
          <a:p>
            <a:pPr>
              <a:lnSpc>
                <a:spcPct val="80000"/>
              </a:lnSpc>
            </a:pPr>
            <a:r>
              <a:rPr lang="en-US" sz="1900" b="1"/>
              <a:t>- public WindowEvent(Window source,int id,Window opposite,int oldState, int newState)</a:t>
            </a:r>
            <a:endParaRPr lang="en-US" sz="1900"/>
          </a:p>
          <a:p>
            <a:pPr lvl="1">
              <a:lnSpc>
                <a:spcPct val="80000"/>
              </a:lnSpc>
            </a:pPr>
            <a:r>
              <a:rPr lang="en-US" sz="2200"/>
              <a:t>Note that passing in an invalid id results in unspecified behavior. This method throws an IllegalArgumentException if source is null. </a:t>
            </a:r>
            <a:endParaRPr lang="en-US" sz="2200" b="1"/>
          </a:p>
          <a:p>
            <a:pPr lvl="1">
              <a:lnSpc>
                <a:spcPct val="80000"/>
              </a:lnSpc>
            </a:pPr>
            <a:r>
              <a:rPr lang="en-US" sz="2200" b="1"/>
              <a:t>source</a:t>
            </a:r>
            <a:r>
              <a:rPr lang="en-US" sz="2200"/>
              <a:t> - the Window object that originated the event </a:t>
            </a:r>
          </a:p>
          <a:p>
            <a:pPr lvl="1">
              <a:lnSpc>
                <a:spcPct val="80000"/>
              </a:lnSpc>
            </a:pPr>
            <a:r>
              <a:rPr lang="en-US" sz="2200" b="1"/>
              <a:t>id</a:t>
            </a:r>
            <a:r>
              <a:rPr lang="en-US" sz="2200"/>
              <a:t> - an integer indicating the type of event. </a:t>
            </a:r>
          </a:p>
          <a:p>
            <a:pPr lvl="1">
              <a:lnSpc>
                <a:spcPct val="80000"/>
              </a:lnSpc>
            </a:pPr>
            <a:r>
              <a:rPr lang="en-US" sz="2200" b="1"/>
              <a:t>opposite</a:t>
            </a:r>
            <a:r>
              <a:rPr lang="en-US" sz="2200"/>
              <a:t> - the other window involved in the focus or activation change, or null </a:t>
            </a:r>
          </a:p>
          <a:p>
            <a:pPr lvl="1">
              <a:lnSpc>
                <a:spcPct val="80000"/>
              </a:lnSpc>
            </a:pPr>
            <a:r>
              <a:rPr lang="en-US" sz="2200" b="1"/>
              <a:t>oldState</a:t>
            </a:r>
            <a:r>
              <a:rPr lang="en-US" sz="2200"/>
              <a:t> - previous state of the window for window state change event </a:t>
            </a:r>
          </a:p>
          <a:p>
            <a:pPr lvl="1">
              <a:lnSpc>
                <a:spcPct val="80000"/>
              </a:lnSpc>
            </a:pPr>
            <a:r>
              <a:rPr lang="en-US" sz="2200" b="1"/>
              <a:t>newState</a:t>
            </a:r>
            <a:r>
              <a:rPr lang="en-US" sz="2200"/>
              <a:t> - new state of the window for window state change event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73</a:t>
            </a:fld>
            <a:endParaRPr lang="en-IN"/>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body" idx="1"/>
          </p:nvPr>
        </p:nvSpPr>
        <p:spPr/>
        <p:txBody>
          <a:bodyPr/>
          <a:lstStyle/>
          <a:p>
            <a:r>
              <a:rPr lang="en-US" b="1"/>
              <a:t>public Window getWindow()</a:t>
            </a:r>
            <a:endParaRPr lang="en-US"/>
          </a:p>
          <a:p>
            <a:pPr lvl="1"/>
            <a:r>
              <a:rPr lang="en-US"/>
              <a:t>Returns the originator of the event. </a:t>
            </a:r>
            <a:endParaRPr lang="en-US" b="1"/>
          </a:p>
          <a:p>
            <a:pPr lvl="1"/>
            <a:r>
              <a:rPr lang="en-US" b="1"/>
              <a:t>Returns:</a:t>
            </a:r>
            <a:r>
              <a:rPr lang="en-US"/>
              <a:t> the Window object that originated the event</a:t>
            </a:r>
          </a:p>
        </p:txBody>
      </p:sp>
      <p:sp>
        <p:nvSpPr>
          <p:cNvPr id="4" name="Slide Number Placeholder 3"/>
          <p:cNvSpPr>
            <a:spLocks noGrp="1"/>
          </p:cNvSpPr>
          <p:nvPr>
            <p:ph type="sldNum" sz="quarter" idx="12"/>
          </p:nvPr>
        </p:nvSpPr>
        <p:spPr/>
        <p:txBody>
          <a:bodyPr/>
          <a:lstStyle/>
          <a:p>
            <a:fld id="{CABF7EEA-85D2-497E-9C95-F3C1348C26C9}" type="slidenum">
              <a:rPr lang="en-IN" smtClean="0"/>
              <a:pPr/>
              <a:t>74</a:t>
            </a:fld>
            <a:endParaRPr lang="en-IN"/>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457200" y="152400"/>
            <a:ext cx="8229600" cy="484188"/>
          </a:xfrm>
        </p:spPr>
        <p:txBody>
          <a:bodyPr>
            <a:normAutofit fontScale="90000"/>
          </a:bodyPr>
          <a:lstStyle/>
          <a:p>
            <a:r>
              <a:rPr lang="en-US" sz="3300" b="1"/>
              <a:t>WindowListener interface</a:t>
            </a:r>
            <a:r>
              <a:rPr lang="en-US" sz="3800"/>
              <a:t> </a:t>
            </a:r>
          </a:p>
        </p:txBody>
      </p:sp>
      <p:sp>
        <p:nvSpPr>
          <p:cNvPr id="59395" name="Rectangle 3"/>
          <p:cNvSpPr>
            <a:spLocks noGrp="1" noChangeArrowheads="1"/>
          </p:cNvSpPr>
          <p:nvPr>
            <p:ph type="body" idx="1"/>
          </p:nvPr>
        </p:nvSpPr>
        <p:spPr>
          <a:xfrm>
            <a:off x="304800" y="838200"/>
            <a:ext cx="8610600" cy="5791200"/>
          </a:xfrm>
        </p:spPr>
        <p:txBody>
          <a:bodyPr/>
          <a:lstStyle/>
          <a:p>
            <a:pPr>
              <a:lnSpc>
                <a:spcPct val="80000"/>
              </a:lnSpc>
            </a:pPr>
            <a:r>
              <a:rPr lang="en-US" sz="2100" b="1"/>
              <a:t>void windowOpened(WindowEvent e)</a:t>
            </a:r>
            <a:endParaRPr lang="en-US" sz="2100"/>
          </a:p>
          <a:p>
            <a:pPr lvl="1">
              <a:lnSpc>
                <a:spcPct val="80000"/>
              </a:lnSpc>
            </a:pPr>
            <a:r>
              <a:rPr lang="en-US" sz="2000"/>
              <a:t>Invoked the first time a window is made visible. </a:t>
            </a:r>
            <a:endParaRPr lang="en-US" sz="2000" b="1"/>
          </a:p>
          <a:p>
            <a:pPr>
              <a:lnSpc>
                <a:spcPct val="80000"/>
              </a:lnSpc>
            </a:pPr>
            <a:r>
              <a:rPr lang="en-US" sz="2100" b="1"/>
              <a:t>void windowClosing(WindowEvent e)</a:t>
            </a:r>
            <a:endParaRPr lang="en-US" sz="2100"/>
          </a:p>
          <a:p>
            <a:pPr lvl="1">
              <a:lnSpc>
                <a:spcPct val="80000"/>
              </a:lnSpc>
            </a:pPr>
            <a:r>
              <a:rPr lang="en-US" sz="2000"/>
              <a:t>Invoked when the user attempts to close the window from the window's system menu. </a:t>
            </a:r>
            <a:endParaRPr lang="en-US" sz="2000" b="1"/>
          </a:p>
          <a:p>
            <a:pPr>
              <a:lnSpc>
                <a:spcPct val="80000"/>
              </a:lnSpc>
            </a:pPr>
            <a:r>
              <a:rPr lang="en-US" sz="2100" b="1"/>
              <a:t>void windowClosed(WindowEvent e)</a:t>
            </a:r>
            <a:endParaRPr lang="en-US" sz="2100"/>
          </a:p>
          <a:p>
            <a:pPr lvl="1">
              <a:lnSpc>
                <a:spcPct val="80000"/>
              </a:lnSpc>
            </a:pPr>
            <a:r>
              <a:rPr lang="en-US" sz="2000"/>
              <a:t>Invoked when a window has been closed as the result of calling dispose on the window</a:t>
            </a:r>
            <a:endParaRPr lang="en-US" sz="2000" b="1"/>
          </a:p>
          <a:p>
            <a:pPr>
              <a:lnSpc>
                <a:spcPct val="80000"/>
              </a:lnSpc>
            </a:pPr>
            <a:r>
              <a:rPr lang="en-US" sz="2100" b="1"/>
              <a:t>void windowIconified(WindowEvent e)</a:t>
            </a:r>
            <a:endParaRPr lang="en-US" sz="2100"/>
          </a:p>
          <a:p>
            <a:pPr lvl="1">
              <a:lnSpc>
                <a:spcPct val="80000"/>
              </a:lnSpc>
            </a:pPr>
            <a:r>
              <a:rPr lang="en-US" sz="2000"/>
              <a:t>Invoked when a window is changed from a normal to a minimized state. For many platforms, a minimized window is displayed as the icon specified in the window's iconImage property. </a:t>
            </a:r>
            <a:endParaRPr lang="en-US" sz="2000" b="1"/>
          </a:p>
          <a:p>
            <a:pPr>
              <a:lnSpc>
                <a:spcPct val="80000"/>
              </a:lnSpc>
            </a:pPr>
            <a:r>
              <a:rPr lang="en-US" sz="2100" b="1"/>
              <a:t>void windowDeiconified(WindowEvent e)</a:t>
            </a:r>
            <a:endParaRPr lang="en-US" sz="2100"/>
          </a:p>
          <a:p>
            <a:pPr lvl="1">
              <a:lnSpc>
                <a:spcPct val="80000"/>
              </a:lnSpc>
            </a:pPr>
            <a:r>
              <a:rPr lang="en-US" sz="2000"/>
              <a:t>Invoked when a window is changed from a minimized to a normal state. </a:t>
            </a:r>
            <a:endParaRPr lang="en-US" sz="2000" b="1"/>
          </a:p>
          <a:p>
            <a:pPr>
              <a:lnSpc>
                <a:spcPct val="80000"/>
              </a:lnSpc>
            </a:pPr>
            <a:r>
              <a:rPr lang="en-US" sz="2100" b="1"/>
              <a:t>void windowActivated(WindowEvent e)</a:t>
            </a:r>
            <a:endParaRPr lang="en-US" sz="2100"/>
          </a:p>
          <a:p>
            <a:pPr lvl="1">
              <a:lnSpc>
                <a:spcPct val="80000"/>
              </a:lnSpc>
            </a:pPr>
            <a:r>
              <a:rPr lang="en-US" sz="2000"/>
              <a:t>Invoked when the Window is set to be the active Window. </a:t>
            </a:r>
            <a:endParaRPr lang="en-US" sz="2000" b="1"/>
          </a:p>
          <a:p>
            <a:pPr>
              <a:lnSpc>
                <a:spcPct val="80000"/>
              </a:lnSpc>
            </a:pPr>
            <a:r>
              <a:rPr lang="en-US" sz="2100" b="1"/>
              <a:t>void windowDeactivated(WindowEvent e)</a:t>
            </a:r>
            <a:endParaRPr lang="en-US" sz="2100"/>
          </a:p>
          <a:p>
            <a:pPr lvl="1">
              <a:lnSpc>
                <a:spcPct val="80000"/>
              </a:lnSpc>
            </a:pPr>
            <a:r>
              <a:rPr lang="en-US" sz="2000"/>
              <a:t>Invoked when a Window is no longer the active Window.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75</a:t>
            </a:fld>
            <a:endParaRPr lang="en-IN"/>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457200" y="277813"/>
            <a:ext cx="8229600" cy="712787"/>
          </a:xfrm>
        </p:spPr>
        <p:txBody>
          <a:bodyPr/>
          <a:lstStyle/>
          <a:p>
            <a:r>
              <a:rPr lang="en-US" sz="3800" b="1"/>
              <a:t>WindowFocusListener interface</a:t>
            </a:r>
            <a:endParaRPr lang="en-US" sz="3800"/>
          </a:p>
        </p:txBody>
      </p:sp>
      <p:sp>
        <p:nvSpPr>
          <p:cNvPr id="62467" name="Rectangle 3"/>
          <p:cNvSpPr>
            <a:spLocks noGrp="1" noChangeArrowheads="1"/>
          </p:cNvSpPr>
          <p:nvPr>
            <p:ph type="body" idx="1"/>
          </p:nvPr>
        </p:nvSpPr>
        <p:spPr>
          <a:xfrm>
            <a:off x="228600" y="1066800"/>
            <a:ext cx="8686800" cy="5334000"/>
          </a:xfrm>
        </p:spPr>
        <p:txBody>
          <a:bodyPr/>
          <a:lstStyle/>
          <a:p>
            <a:r>
              <a:rPr lang="en-US" sz="2600"/>
              <a:t>The listener interface for receiving WindowEvents, including WINDOW_GAINED_FOCUS and WINDOW_LOST_FOCUS events.</a:t>
            </a:r>
            <a:endParaRPr lang="en-US" sz="2600" b="1"/>
          </a:p>
          <a:p>
            <a:r>
              <a:rPr lang="en-US" sz="2600" b="1"/>
              <a:t>void windowGainedFocus(WindowEvent e)</a:t>
            </a:r>
            <a:endParaRPr lang="en-US" sz="2600"/>
          </a:p>
          <a:p>
            <a:pPr lvl="1"/>
            <a:r>
              <a:rPr lang="en-US" sz="2200"/>
              <a:t>Invoked when the Window is set to be the focused Window, which means that the Window, or one of its subcomponents, will receive keyboard events. </a:t>
            </a:r>
            <a:endParaRPr lang="en-US" sz="2200" b="1"/>
          </a:p>
          <a:p>
            <a:r>
              <a:rPr lang="en-US" sz="2600" b="1"/>
              <a:t>void windowLostFocus(WindowEvent e)</a:t>
            </a:r>
            <a:endParaRPr lang="en-US" sz="2600"/>
          </a:p>
          <a:p>
            <a:pPr lvl="1"/>
            <a:r>
              <a:rPr lang="en-US" sz="2200"/>
              <a:t>Invoked when the Window is no longer the focused Window, which means that keyboard events will no longer be delivered to the Window or any of its subcomponents.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76</a:t>
            </a:fld>
            <a:endParaRPr lang="en-IN"/>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0034" y="357166"/>
            <a:ext cx="8183880" cy="1051560"/>
          </a:xfrm>
        </p:spPr>
        <p:txBody>
          <a:bodyPr>
            <a:normAutofit/>
          </a:bodyPr>
          <a:lstStyle/>
          <a:p>
            <a:pPr algn="ctr"/>
            <a:r>
              <a:rPr lang="en-US" b="1" dirty="0" err="1">
                <a:latin typeface="Times New Roman" pitchFamily="18" charset="0"/>
                <a:cs typeface="Times New Roman" pitchFamily="18" charset="0"/>
              </a:rPr>
              <a:t>MouseEvent</a:t>
            </a:r>
            <a:r>
              <a:rPr lang="en-US" b="1" dirty="0">
                <a:latin typeface="Times New Roman" pitchFamily="18" charset="0"/>
                <a:cs typeface="Times New Roman" pitchFamily="18" charset="0"/>
              </a:rPr>
              <a:t> class</a:t>
            </a:r>
            <a:endParaRPr lang="en-US" b="1" dirty="0">
              <a:effectLst/>
              <a:latin typeface="Times New Roman" pitchFamily="18" charset="0"/>
              <a:cs typeface="Times New Roman" pitchFamily="18" charset="0"/>
            </a:endParaRPr>
          </a:p>
        </p:txBody>
      </p:sp>
      <p:sp>
        <p:nvSpPr>
          <p:cNvPr id="4" name="Rectangle 3"/>
          <p:cNvSpPr/>
          <p:nvPr/>
        </p:nvSpPr>
        <p:spPr>
          <a:xfrm>
            <a:off x="714348" y="1643050"/>
            <a:ext cx="8215370" cy="1815882"/>
          </a:xfrm>
          <a:prstGeom prst="rect">
            <a:avLst/>
          </a:prstGeom>
        </p:spPr>
        <p:txBody>
          <a:bodyPr wrap="square">
            <a:spAutoFit/>
          </a:bodyPr>
          <a:lstStyle/>
          <a:p>
            <a:pPr algn="just"/>
            <a:r>
              <a:rPr lang="en-IN" sz="2800" dirty="0"/>
              <a:t>This event indicates a mouse action occurred in a component. This low-level event is generated by a component object for Mouse Events and Mouse motion events.</a:t>
            </a:r>
          </a:p>
        </p:txBody>
      </p:sp>
      <p:sp>
        <p:nvSpPr>
          <p:cNvPr id="6" name="Slide Number Placeholder 5"/>
          <p:cNvSpPr>
            <a:spLocks noGrp="1"/>
          </p:cNvSpPr>
          <p:nvPr>
            <p:ph type="sldNum" sz="quarter" idx="12"/>
          </p:nvPr>
        </p:nvSpPr>
        <p:spPr/>
        <p:txBody>
          <a:bodyPr/>
          <a:lstStyle/>
          <a:p>
            <a:fld id="{CABF7EEA-85D2-497E-9C95-F3C1348C26C9}" type="slidenum">
              <a:rPr lang="en-IN" smtClean="0"/>
              <a:pPr/>
              <a:t>77</a:t>
            </a:fld>
            <a:endParaRPr lang="en-IN"/>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8596" y="214290"/>
            <a:ext cx="8715404" cy="6278642"/>
          </a:xfrm>
          <a:prstGeom prst="rect">
            <a:avLst/>
          </a:prstGeom>
        </p:spPr>
        <p:txBody>
          <a:bodyPr wrap="square">
            <a:spAutoFit/>
          </a:bodyPr>
          <a:lstStyle/>
          <a:p>
            <a:r>
              <a:rPr lang="en-IN" sz="2400" dirty="0"/>
              <a:t>Constants for </a:t>
            </a:r>
            <a:r>
              <a:rPr lang="en-IN" sz="2400" b="1" dirty="0" err="1"/>
              <a:t>java.awt.event.MouseEvent</a:t>
            </a:r>
            <a:r>
              <a:rPr lang="en-IN" sz="2400" dirty="0"/>
              <a:t> class:</a:t>
            </a:r>
          </a:p>
          <a:p>
            <a:endParaRPr lang="en-IN" sz="2400" dirty="0"/>
          </a:p>
          <a:p>
            <a:r>
              <a:rPr lang="en-IN" sz="2400" b="1" dirty="0"/>
              <a:t>static </a:t>
            </a:r>
            <a:r>
              <a:rPr lang="en-IN" sz="2400" b="1" dirty="0" err="1"/>
              <a:t>int</a:t>
            </a:r>
            <a:r>
              <a:rPr lang="en-IN" sz="2400" b="1" dirty="0"/>
              <a:t> BUTTON1 </a:t>
            </a:r>
            <a:r>
              <a:rPr lang="en-IN" sz="2400" dirty="0"/>
              <a:t>--Indicates mouse button #1; used by </a:t>
            </a:r>
            <a:r>
              <a:rPr lang="en-IN" sz="2400" dirty="0" err="1"/>
              <a:t>getButton</a:t>
            </a:r>
            <a:r>
              <a:rPr lang="en-IN" sz="2400" dirty="0"/>
              <a:t>()</a:t>
            </a:r>
          </a:p>
          <a:p>
            <a:endParaRPr lang="en-IN" sz="900" dirty="0"/>
          </a:p>
          <a:p>
            <a:r>
              <a:rPr lang="en-IN" sz="2400" b="1" dirty="0"/>
              <a:t>static </a:t>
            </a:r>
            <a:r>
              <a:rPr lang="en-IN" sz="2400" b="1" dirty="0" err="1"/>
              <a:t>int</a:t>
            </a:r>
            <a:r>
              <a:rPr lang="en-IN" sz="2400" b="1" dirty="0"/>
              <a:t> BUTTON2 </a:t>
            </a:r>
            <a:r>
              <a:rPr lang="en-IN" sz="2400" dirty="0"/>
              <a:t>--Indicates mouse button #2; used by </a:t>
            </a:r>
            <a:r>
              <a:rPr lang="en-IN" sz="2400" dirty="0" err="1"/>
              <a:t>getButton</a:t>
            </a:r>
            <a:r>
              <a:rPr lang="en-IN" sz="2400" dirty="0"/>
              <a:t>()</a:t>
            </a:r>
          </a:p>
          <a:p>
            <a:endParaRPr lang="en-IN" sz="900" dirty="0"/>
          </a:p>
          <a:p>
            <a:r>
              <a:rPr lang="en-IN" sz="2400" b="1" dirty="0"/>
              <a:t>static </a:t>
            </a:r>
            <a:r>
              <a:rPr lang="en-IN" sz="2400" b="1" dirty="0" err="1"/>
              <a:t>int</a:t>
            </a:r>
            <a:r>
              <a:rPr lang="en-IN" sz="2400" b="1" dirty="0"/>
              <a:t> BUTTON3 </a:t>
            </a:r>
            <a:r>
              <a:rPr lang="en-IN" sz="2400" dirty="0"/>
              <a:t>--Indicates mouse button #3; used by </a:t>
            </a:r>
            <a:r>
              <a:rPr lang="en-IN" sz="2400" dirty="0" err="1"/>
              <a:t>getButton</a:t>
            </a:r>
            <a:r>
              <a:rPr lang="en-IN" sz="2400" dirty="0"/>
              <a:t>()</a:t>
            </a:r>
          </a:p>
          <a:p>
            <a:endParaRPr lang="en-IN" sz="900" dirty="0"/>
          </a:p>
          <a:p>
            <a:r>
              <a:rPr lang="en-IN" sz="2400" b="1" dirty="0"/>
              <a:t>static </a:t>
            </a:r>
            <a:r>
              <a:rPr lang="en-IN" sz="2400" b="1" dirty="0" err="1"/>
              <a:t>int</a:t>
            </a:r>
            <a:r>
              <a:rPr lang="en-IN" sz="2400" b="1" dirty="0"/>
              <a:t> MOUSE_CLICKED </a:t>
            </a:r>
            <a:r>
              <a:rPr lang="en-IN" sz="2400" dirty="0"/>
              <a:t>--The "mouse clicked" event</a:t>
            </a:r>
          </a:p>
          <a:p>
            <a:endParaRPr lang="en-IN" sz="900" dirty="0"/>
          </a:p>
          <a:p>
            <a:r>
              <a:rPr lang="en-IN" sz="2400" b="1" dirty="0"/>
              <a:t>static </a:t>
            </a:r>
            <a:r>
              <a:rPr lang="en-IN" sz="2400" b="1" dirty="0" err="1"/>
              <a:t>int</a:t>
            </a:r>
            <a:r>
              <a:rPr lang="en-IN" sz="2400" b="1" dirty="0"/>
              <a:t> MOUSE_DRAGGED </a:t>
            </a:r>
            <a:r>
              <a:rPr lang="en-IN" sz="2400" dirty="0"/>
              <a:t>--The "mouse dragged" event</a:t>
            </a:r>
          </a:p>
          <a:p>
            <a:endParaRPr lang="en-IN" sz="900" dirty="0"/>
          </a:p>
          <a:p>
            <a:r>
              <a:rPr lang="en-IN" sz="2400" b="1" dirty="0"/>
              <a:t>static </a:t>
            </a:r>
            <a:r>
              <a:rPr lang="en-IN" sz="2400" b="1" dirty="0" err="1"/>
              <a:t>int</a:t>
            </a:r>
            <a:r>
              <a:rPr lang="en-IN" sz="2400" b="1" dirty="0"/>
              <a:t> MOUSE_ENTERED </a:t>
            </a:r>
            <a:r>
              <a:rPr lang="en-IN" sz="2400" dirty="0"/>
              <a:t>--The "mouse entered" event</a:t>
            </a:r>
          </a:p>
          <a:p>
            <a:endParaRPr lang="en-IN" sz="900" dirty="0"/>
          </a:p>
          <a:p>
            <a:r>
              <a:rPr lang="en-IN" sz="2400" b="1" dirty="0"/>
              <a:t>static </a:t>
            </a:r>
            <a:r>
              <a:rPr lang="en-IN" sz="2400" b="1" dirty="0" err="1"/>
              <a:t>int</a:t>
            </a:r>
            <a:r>
              <a:rPr lang="en-IN" sz="2400" b="1" dirty="0"/>
              <a:t> MOUSE_EXITED </a:t>
            </a:r>
            <a:r>
              <a:rPr lang="en-IN" sz="2400" dirty="0"/>
              <a:t>--The "mouse exited" event</a:t>
            </a:r>
          </a:p>
          <a:p>
            <a:endParaRPr lang="en-IN" sz="900" dirty="0"/>
          </a:p>
          <a:p>
            <a:r>
              <a:rPr lang="en-IN" sz="2400" b="1" dirty="0"/>
              <a:t>static </a:t>
            </a:r>
            <a:r>
              <a:rPr lang="en-IN" sz="2400" b="1" dirty="0" err="1"/>
              <a:t>int</a:t>
            </a:r>
            <a:r>
              <a:rPr lang="en-IN" sz="2400" b="1" dirty="0"/>
              <a:t> MOUSE_MOVED </a:t>
            </a:r>
            <a:r>
              <a:rPr lang="en-IN" sz="2400" dirty="0"/>
              <a:t>--The "mouse moved" event</a:t>
            </a:r>
          </a:p>
          <a:p>
            <a:endParaRPr lang="en-IN" sz="900" dirty="0"/>
          </a:p>
          <a:p>
            <a:r>
              <a:rPr lang="en-IN" sz="2400" b="1" dirty="0"/>
              <a:t>static </a:t>
            </a:r>
            <a:r>
              <a:rPr lang="en-IN" sz="2400" b="1" dirty="0" err="1"/>
              <a:t>int</a:t>
            </a:r>
            <a:r>
              <a:rPr lang="en-IN" sz="2400" b="1" dirty="0"/>
              <a:t> MOUSE_PRESSED </a:t>
            </a:r>
            <a:r>
              <a:rPr lang="en-IN" sz="2400" dirty="0"/>
              <a:t>-- The "mouse pressed" event</a:t>
            </a:r>
          </a:p>
          <a:p>
            <a:endParaRPr lang="en-IN" sz="900" dirty="0"/>
          </a:p>
          <a:p>
            <a:r>
              <a:rPr lang="en-IN" sz="2400" b="1" dirty="0"/>
              <a:t>static </a:t>
            </a:r>
            <a:r>
              <a:rPr lang="en-IN" sz="2400" b="1" dirty="0" err="1"/>
              <a:t>int</a:t>
            </a:r>
            <a:r>
              <a:rPr lang="en-IN" sz="2400" b="1" dirty="0"/>
              <a:t> MOUSE_RELEASED </a:t>
            </a:r>
            <a:r>
              <a:rPr lang="en-IN" sz="2400" dirty="0"/>
              <a:t>--The "mouse released" event</a:t>
            </a:r>
          </a:p>
          <a:p>
            <a:endParaRPr lang="en-IN" sz="900" dirty="0"/>
          </a:p>
          <a:p>
            <a:r>
              <a:rPr lang="en-IN" sz="2400" b="1" dirty="0"/>
              <a:t>static </a:t>
            </a:r>
            <a:r>
              <a:rPr lang="en-IN" sz="2400" b="1" dirty="0" err="1"/>
              <a:t>int</a:t>
            </a:r>
            <a:r>
              <a:rPr lang="en-IN" sz="2400" b="1" dirty="0"/>
              <a:t> MOUSE_WHEEL </a:t>
            </a:r>
            <a:r>
              <a:rPr lang="en-IN" sz="2400" dirty="0"/>
              <a:t>--The "mouse wheel" event</a:t>
            </a:r>
          </a:p>
        </p:txBody>
      </p:sp>
      <p:sp>
        <p:nvSpPr>
          <p:cNvPr id="5" name="Slide Number Placeholder 4"/>
          <p:cNvSpPr>
            <a:spLocks noGrp="1"/>
          </p:cNvSpPr>
          <p:nvPr>
            <p:ph type="sldNum" sz="quarter" idx="12"/>
          </p:nvPr>
        </p:nvSpPr>
        <p:spPr/>
        <p:txBody>
          <a:bodyPr/>
          <a:lstStyle/>
          <a:p>
            <a:fld id="{CABF7EEA-85D2-497E-9C95-F3C1348C26C9}" type="slidenum">
              <a:rPr lang="en-IN" smtClean="0"/>
              <a:pPr/>
              <a:t>78</a:t>
            </a:fld>
            <a:endParaRPr lang="en-IN"/>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1143000"/>
          </a:xfrm>
        </p:spPr>
        <p:txBody>
          <a:bodyPr/>
          <a:lstStyle/>
          <a:p>
            <a:r>
              <a:rPr lang="en-US" b="1" dirty="0"/>
              <a:t>Constructor</a:t>
            </a:r>
            <a:endParaRPr lang="en-IN" b="1" dirty="0"/>
          </a:p>
        </p:txBody>
      </p:sp>
      <p:sp>
        <p:nvSpPr>
          <p:cNvPr id="3" name="Content Placeholder 2"/>
          <p:cNvSpPr>
            <a:spLocks noGrp="1"/>
          </p:cNvSpPr>
          <p:nvPr>
            <p:ph idx="1"/>
          </p:nvPr>
        </p:nvSpPr>
        <p:spPr>
          <a:xfrm>
            <a:off x="357158" y="1357298"/>
            <a:ext cx="8501122" cy="5286412"/>
          </a:xfrm>
        </p:spPr>
        <p:txBody>
          <a:bodyPr>
            <a:normAutofit fontScale="92500" lnSpcReduction="20000"/>
          </a:bodyPr>
          <a:lstStyle/>
          <a:p>
            <a:r>
              <a:rPr lang="en-IN" b="1" dirty="0" err="1"/>
              <a:t>MouseEvent</a:t>
            </a:r>
            <a:r>
              <a:rPr lang="en-IN" b="1" dirty="0"/>
              <a:t>(Component source, </a:t>
            </a:r>
            <a:r>
              <a:rPr lang="en-IN" b="1" dirty="0" err="1"/>
              <a:t>int</a:t>
            </a:r>
            <a:r>
              <a:rPr lang="en-IN" b="1" dirty="0"/>
              <a:t> id, long when, </a:t>
            </a:r>
            <a:r>
              <a:rPr lang="en-IN" b="1" dirty="0" err="1"/>
              <a:t>int</a:t>
            </a:r>
            <a:r>
              <a:rPr lang="en-IN" b="1" dirty="0"/>
              <a:t> modifiers, </a:t>
            </a:r>
            <a:r>
              <a:rPr lang="en-IN" b="1" dirty="0" err="1"/>
              <a:t>int</a:t>
            </a:r>
            <a:r>
              <a:rPr lang="en-IN" b="1" dirty="0"/>
              <a:t> x, </a:t>
            </a:r>
            <a:r>
              <a:rPr lang="en-IN" b="1" dirty="0" err="1"/>
              <a:t>int</a:t>
            </a:r>
            <a:r>
              <a:rPr lang="en-IN" b="1" dirty="0"/>
              <a:t> y, </a:t>
            </a:r>
            <a:r>
              <a:rPr lang="en-IN" b="1" dirty="0" err="1"/>
              <a:t>int</a:t>
            </a:r>
            <a:r>
              <a:rPr lang="en-IN" b="1" dirty="0"/>
              <a:t> </a:t>
            </a:r>
            <a:r>
              <a:rPr lang="en-IN" b="1" dirty="0" err="1"/>
              <a:t>clickCount</a:t>
            </a:r>
            <a:r>
              <a:rPr lang="en-IN" b="1" dirty="0"/>
              <a:t>, </a:t>
            </a:r>
            <a:r>
              <a:rPr lang="en-IN" b="1" dirty="0" err="1"/>
              <a:t>boolean</a:t>
            </a:r>
            <a:r>
              <a:rPr lang="en-IN" b="1" dirty="0"/>
              <a:t> </a:t>
            </a:r>
            <a:r>
              <a:rPr lang="en-IN" b="1" dirty="0" err="1"/>
              <a:t>popupTrigger</a:t>
            </a:r>
            <a:r>
              <a:rPr lang="en-IN" b="1" dirty="0"/>
              <a:t>)</a:t>
            </a:r>
            <a:endParaRPr lang="en-IN" dirty="0"/>
          </a:p>
          <a:p>
            <a:pPr lvl="1"/>
            <a:r>
              <a:rPr lang="en-IN" dirty="0"/>
              <a:t>Constructs a </a:t>
            </a:r>
            <a:r>
              <a:rPr lang="en-IN" dirty="0" err="1"/>
              <a:t>MouseEvent</a:t>
            </a:r>
            <a:r>
              <a:rPr lang="en-IN" dirty="0"/>
              <a:t> object with the specified </a:t>
            </a:r>
          </a:p>
          <a:p>
            <a:pPr lvl="1">
              <a:buNone/>
            </a:pPr>
            <a:endParaRPr lang="en-IN" dirty="0"/>
          </a:p>
          <a:p>
            <a:pPr lvl="1">
              <a:buNone/>
            </a:pPr>
            <a:r>
              <a:rPr lang="en-IN" b="1" dirty="0"/>
              <a:t>source</a:t>
            </a:r>
            <a:r>
              <a:rPr lang="en-IN" dirty="0"/>
              <a:t>-  source component,</a:t>
            </a:r>
          </a:p>
          <a:p>
            <a:pPr lvl="1">
              <a:buNone/>
            </a:pPr>
            <a:r>
              <a:rPr lang="en-IN" b="1" dirty="0"/>
              <a:t>id</a:t>
            </a:r>
            <a:r>
              <a:rPr lang="en-IN" dirty="0"/>
              <a:t>- type of event,</a:t>
            </a:r>
          </a:p>
          <a:p>
            <a:pPr lvl="1">
              <a:buNone/>
            </a:pPr>
            <a:r>
              <a:rPr lang="en-US" b="1" dirty="0"/>
              <a:t>when</a:t>
            </a:r>
            <a:r>
              <a:rPr lang="en-US" dirty="0"/>
              <a:t>- system time at mouse event occurred</a:t>
            </a:r>
            <a:endParaRPr lang="en-IN" dirty="0"/>
          </a:p>
          <a:p>
            <a:pPr lvl="1">
              <a:buNone/>
            </a:pPr>
            <a:r>
              <a:rPr lang="en-IN" b="1" dirty="0"/>
              <a:t>modifiers</a:t>
            </a:r>
            <a:r>
              <a:rPr lang="en-IN" dirty="0"/>
              <a:t>-to know what modifiers were pressed after event was occurred,</a:t>
            </a:r>
          </a:p>
          <a:p>
            <a:pPr lvl="1">
              <a:buNone/>
            </a:pPr>
            <a:r>
              <a:rPr lang="en-IN" b="1" dirty="0"/>
              <a:t>x &amp; y</a:t>
            </a:r>
            <a:r>
              <a:rPr lang="en-IN" dirty="0"/>
              <a:t>- coordinates of the mouse , </a:t>
            </a:r>
          </a:p>
          <a:p>
            <a:pPr lvl="1">
              <a:buNone/>
            </a:pPr>
            <a:r>
              <a:rPr lang="en-IN" b="1" dirty="0" err="1"/>
              <a:t>clickCount</a:t>
            </a:r>
            <a:r>
              <a:rPr lang="en-IN" dirty="0"/>
              <a:t>- click count</a:t>
            </a:r>
          </a:p>
          <a:p>
            <a:pPr lvl="1">
              <a:buNone/>
            </a:pPr>
            <a:r>
              <a:rPr lang="en-IN" b="1" dirty="0" err="1"/>
              <a:t>popupTrigger</a:t>
            </a:r>
            <a:r>
              <a:rPr lang="en-IN" dirty="0"/>
              <a:t>- whether popup menu appeared</a:t>
            </a:r>
          </a:p>
          <a:p>
            <a:pPr>
              <a:buNone/>
            </a:pPr>
            <a:endParaRPr lang="en-IN" dirty="0"/>
          </a:p>
        </p:txBody>
      </p:sp>
      <p:sp>
        <p:nvSpPr>
          <p:cNvPr id="6" name="Slide Number Placeholder 5"/>
          <p:cNvSpPr>
            <a:spLocks noGrp="1"/>
          </p:cNvSpPr>
          <p:nvPr>
            <p:ph type="sldNum" sz="quarter" idx="12"/>
          </p:nvPr>
        </p:nvSpPr>
        <p:spPr/>
        <p:txBody>
          <a:bodyPr/>
          <a:lstStyle/>
          <a:p>
            <a:fld id="{CABF7EEA-85D2-497E-9C95-F3C1348C26C9}" type="slidenum">
              <a:rPr lang="en-IN" smtClean="0"/>
              <a:pPr/>
              <a:t>79</a:t>
            </a:fld>
            <a:endParaRPr lang="en-IN"/>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6"/>
          <p:cNvGraphicFramePr>
            <a:graphicFrameLocks noGrp="1"/>
          </p:cNvGraphicFramePr>
          <p:nvPr>
            <p:ph idx="1"/>
            <p:extLst>
              <p:ext uri="{D42A27DB-BD31-4B8C-83A1-F6EECF244321}">
                <p14:modId xmlns:p14="http://schemas.microsoft.com/office/powerpoint/2010/main" val="696577375"/>
              </p:ext>
            </p:extLst>
          </p:nvPr>
        </p:nvGraphicFramePr>
        <p:xfrm>
          <a:off x="467544" y="260648"/>
          <a:ext cx="8496944" cy="5989878"/>
        </p:xfrm>
        <a:graphic>
          <a:graphicData uri="http://schemas.openxmlformats.org/drawingml/2006/table">
            <a:tbl>
              <a:tblPr firstRow="1" bandRow="1">
                <a:tableStyleId>{5C22544A-7EE6-4342-B048-85BDC9FD1C3A}</a:tableStyleId>
              </a:tblPr>
              <a:tblGrid>
                <a:gridCol w="3178287">
                  <a:extLst>
                    <a:ext uri="{9D8B030D-6E8A-4147-A177-3AD203B41FA5}">
                      <a16:colId xmlns:a16="http://schemas.microsoft.com/office/drawing/2014/main" val="20000"/>
                    </a:ext>
                  </a:extLst>
                </a:gridCol>
                <a:gridCol w="5318657">
                  <a:extLst>
                    <a:ext uri="{9D8B030D-6E8A-4147-A177-3AD203B41FA5}">
                      <a16:colId xmlns:a16="http://schemas.microsoft.com/office/drawing/2014/main" val="20001"/>
                    </a:ext>
                  </a:extLst>
                </a:gridCol>
              </a:tblGrid>
              <a:tr h="650845">
                <a:tc>
                  <a:txBody>
                    <a:bodyPr/>
                    <a:lstStyle/>
                    <a:p>
                      <a:pPr algn="ctr"/>
                      <a:r>
                        <a:rPr lang="en-US" sz="2800" b="1" dirty="0">
                          <a:latin typeface="Times New Roman" pitchFamily="18" charset="0"/>
                          <a:cs typeface="Times New Roman" pitchFamily="18" charset="0"/>
                        </a:rPr>
                        <a:t>Method</a:t>
                      </a:r>
                    </a:p>
                  </a:txBody>
                  <a:tcPr/>
                </a:tc>
                <a:tc>
                  <a:txBody>
                    <a:bodyPr/>
                    <a:lstStyle/>
                    <a:p>
                      <a:pPr algn="ctr"/>
                      <a:r>
                        <a:rPr lang="en-US" sz="2800" b="1" dirty="0">
                          <a:latin typeface="Times New Roman" pitchFamily="18" charset="0"/>
                          <a:cs typeface="Times New Roman" pitchFamily="18" charset="0"/>
                        </a:rPr>
                        <a:t>Purpose</a:t>
                      </a:r>
                    </a:p>
                  </a:txBody>
                  <a:tcPr/>
                </a:tc>
                <a:extLst>
                  <a:ext uri="{0D108BD9-81ED-4DB2-BD59-A6C34878D82A}">
                    <a16:rowId xmlns:a16="http://schemas.microsoft.com/office/drawing/2014/main" val="10000"/>
                  </a:ext>
                </a:extLst>
              </a:tr>
              <a:tr h="1097835">
                <a:tc>
                  <a:txBody>
                    <a:bodyPr/>
                    <a:lstStyle/>
                    <a:p>
                      <a:pPr algn="ctr"/>
                      <a:endParaRPr lang="en-US" sz="2800" b="1" dirty="0">
                        <a:solidFill>
                          <a:srgbClr val="002060"/>
                        </a:solidFill>
                        <a:latin typeface="Times New Roman" pitchFamily="18" charset="0"/>
                        <a:cs typeface="Times New Roman" pitchFamily="18" charset="0"/>
                      </a:endParaRPr>
                    </a:p>
                    <a:p>
                      <a:pPr algn="ctr"/>
                      <a:r>
                        <a:rPr lang="en-US" sz="2800" dirty="0" err="1">
                          <a:solidFill>
                            <a:srgbClr val="002060"/>
                          </a:solidFill>
                          <a:latin typeface="Times New Roman" pitchFamily="18" charset="0"/>
                          <a:cs typeface="Times New Roman" pitchFamily="18" charset="0"/>
                        </a:rPr>
                        <a:t>int</a:t>
                      </a:r>
                      <a:r>
                        <a:rPr lang="en-US" sz="2800" dirty="0">
                          <a:solidFill>
                            <a:srgbClr val="002060"/>
                          </a:solidFill>
                          <a:latin typeface="Times New Roman" pitchFamily="18" charset="0"/>
                          <a:cs typeface="Times New Roman" pitchFamily="18" charset="0"/>
                        </a:rPr>
                        <a:t> getClickCount()</a:t>
                      </a:r>
                      <a:endParaRPr lang="en-US" sz="2800" b="1" dirty="0">
                        <a:solidFill>
                          <a:srgbClr val="002060"/>
                        </a:solidFill>
                        <a:latin typeface="Times New Roman" pitchFamily="18" charset="0"/>
                        <a:cs typeface="Times New Roman" pitchFamily="18" charset="0"/>
                      </a:endParaRPr>
                    </a:p>
                  </a:txBody>
                  <a:tcPr/>
                </a:tc>
                <a:tc>
                  <a:txBody>
                    <a:bodyPr/>
                    <a:lstStyle/>
                    <a:p>
                      <a:pPr algn="l"/>
                      <a:r>
                        <a:rPr lang="en-US" sz="2400" dirty="0">
                          <a:solidFill>
                            <a:srgbClr val="002060"/>
                          </a:solidFill>
                          <a:latin typeface="Times New Roman" pitchFamily="18" charset="0"/>
                          <a:cs typeface="Times New Roman" pitchFamily="18" charset="0"/>
                        </a:rPr>
                        <a:t>Returns the number of quick, consecutive clicks the user has made (including this event). For example, returns 2 for a double click.</a:t>
                      </a:r>
                    </a:p>
                  </a:txBody>
                  <a:tcPr/>
                </a:tc>
                <a:extLst>
                  <a:ext uri="{0D108BD9-81ED-4DB2-BD59-A6C34878D82A}">
                    <a16:rowId xmlns:a16="http://schemas.microsoft.com/office/drawing/2014/main" val="10001"/>
                  </a:ext>
                </a:extLst>
              </a:tr>
              <a:tr h="1097835">
                <a:tc>
                  <a:txBody>
                    <a:bodyPr/>
                    <a:lstStyle/>
                    <a:p>
                      <a:pPr algn="ctr"/>
                      <a:endParaRPr lang="en-US" sz="2800" b="1" dirty="0">
                        <a:solidFill>
                          <a:srgbClr val="002060"/>
                        </a:solidFill>
                        <a:latin typeface="Times New Roman" pitchFamily="18" charset="0"/>
                        <a:cs typeface="Times New Roman" pitchFamily="18" charset="0"/>
                      </a:endParaRPr>
                    </a:p>
                    <a:p>
                      <a:pPr algn="ctr"/>
                      <a:r>
                        <a:rPr lang="en-US" sz="2800" dirty="0" err="1">
                          <a:solidFill>
                            <a:srgbClr val="002060"/>
                          </a:solidFill>
                          <a:latin typeface="Times New Roman" pitchFamily="18" charset="0"/>
                          <a:cs typeface="Times New Roman" pitchFamily="18" charset="0"/>
                        </a:rPr>
                        <a:t>int</a:t>
                      </a:r>
                      <a:r>
                        <a:rPr lang="en-US" sz="2800" dirty="0">
                          <a:solidFill>
                            <a:srgbClr val="002060"/>
                          </a:solidFill>
                          <a:latin typeface="Times New Roman" pitchFamily="18" charset="0"/>
                          <a:cs typeface="Times New Roman" pitchFamily="18" charset="0"/>
                        </a:rPr>
                        <a:t> getButton()</a:t>
                      </a:r>
                      <a:endParaRPr lang="en-US" sz="2800" b="1" dirty="0">
                        <a:solidFill>
                          <a:srgbClr val="002060"/>
                        </a:solidFill>
                        <a:latin typeface="Times New Roman" pitchFamily="18" charset="0"/>
                        <a:cs typeface="Times New Roman" pitchFamily="18" charset="0"/>
                      </a:endParaRPr>
                    </a:p>
                  </a:txBody>
                  <a:tcPr/>
                </a:tc>
                <a:tc>
                  <a:txBody>
                    <a:bodyPr/>
                    <a:lstStyle/>
                    <a:p>
                      <a:pPr algn="l"/>
                      <a:r>
                        <a:rPr lang="en-US" sz="2400" dirty="0">
                          <a:solidFill>
                            <a:srgbClr val="002060"/>
                          </a:solidFill>
                          <a:latin typeface="Times New Roman" pitchFamily="18" charset="0"/>
                          <a:cs typeface="Times New Roman" pitchFamily="18" charset="0"/>
                        </a:rPr>
                        <a:t>Returns which mouse button, if any, has a changed state. One of the following constants is returned: </a:t>
                      </a:r>
                      <a:r>
                        <a:rPr lang="en-US" sz="2400" dirty="0" err="1">
                          <a:solidFill>
                            <a:srgbClr val="002060"/>
                          </a:solidFill>
                          <a:latin typeface="Times New Roman" pitchFamily="18" charset="0"/>
                          <a:cs typeface="Times New Roman" pitchFamily="18" charset="0"/>
                        </a:rPr>
                        <a:t>NOBUTTON</a:t>
                      </a:r>
                      <a:r>
                        <a:rPr lang="en-US" sz="2400" dirty="0">
                          <a:solidFill>
                            <a:srgbClr val="002060"/>
                          </a:solidFill>
                          <a:latin typeface="Times New Roman" pitchFamily="18" charset="0"/>
                          <a:cs typeface="Times New Roman" pitchFamily="18" charset="0"/>
                        </a:rPr>
                        <a:t>, BUTTON1, BUTTON2, or BUTTON3.</a:t>
                      </a:r>
                    </a:p>
                  </a:txBody>
                  <a:tcPr/>
                </a:tc>
                <a:extLst>
                  <a:ext uri="{0D108BD9-81ED-4DB2-BD59-A6C34878D82A}">
                    <a16:rowId xmlns:a16="http://schemas.microsoft.com/office/drawing/2014/main" val="10002"/>
                  </a:ext>
                </a:extLst>
              </a:tr>
              <a:tr h="1041353">
                <a:tc>
                  <a:txBody>
                    <a:bodyPr/>
                    <a:lstStyle/>
                    <a:p>
                      <a:pPr algn="ctr"/>
                      <a:r>
                        <a:rPr lang="en-US" sz="2800" dirty="0" err="1">
                          <a:solidFill>
                            <a:srgbClr val="002060"/>
                          </a:solidFill>
                          <a:latin typeface="Times New Roman" pitchFamily="18" charset="0"/>
                          <a:cs typeface="Times New Roman" pitchFamily="18" charset="0"/>
                        </a:rPr>
                        <a:t>int</a:t>
                      </a:r>
                      <a:r>
                        <a:rPr lang="en-US" sz="2800" dirty="0">
                          <a:solidFill>
                            <a:srgbClr val="002060"/>
                          </a:solidFill>
                          <a:latin typeface="Times New Roman" pitchFamily="18" charset="0"/>
                          <a:cs typeface="Times New Roman" pitchFamily="18" charset="0"/>
                        </a:rPr>
                        <a:t> getX()</a:t>
                      </a:r>
                      <a:br>
                        <a:rPr lang="en-US" sz="2800" dirty="0">
                          <a:solidFill>
                            <a:srgbClr val="002060"/>
                          </a:solidFill>
                          <a:latin typeface="Times New Roman" pitchFamily="18" charset="0"/>
                          <a:cs typeface="Times New Roman" pitchFamily="18" charset="0"/>
                        </a:rPr>
                      </a:br>
                      <a:r>
                        <a:rPr lang="en-US" sz="2800" dirty="0" err="1">
                          <a:solidFill>
                            <a:srgbClr val="002060"/>
                          </a:solidFill>
                          <a:latin typeface="Times New Roman" pitchFamily="18" charset="0"/>
                          <a:cs typeface="Times New Roman" pitchFamily="18" charset="0"/>
                        </a:rPr>
                        <a:t>int</a:t>
                      </a:r>
                      <a:r>
                        <a:rPr lang="en-US" sz="2800" dirty="0">
                          <a:solidFill>
                            <a:srgbClr val="002060"/>
                          </a:solidFill>
                          <a:latin typeface="Times New Roman" pitchFamily="18" charset="0"/>
                          <a:cs typeface="Times New Roman" pitchFamily="18" charset="0"/>
                        </a:rPr>
                        <a:t> getY()</a:t>
                      </a:r>
                      <a:endParaRPr lang="en-US" sz="2800" b="1" dirty="0">
                        <a:solidFill>
                          <a:srgbClr val="002060"/>
                        </a:solidFill>
                        <a:latin typeface="Times New Roman" pitchFamily="18" charset="0"/>
                        <a:cs typeface="Times New Roman" pitchFamily="18" charset="0"/>
                      </a:endParaRPr>
                    </a:p>
                  </a:txBody>
                  <a:tcPr/>
                </a:tc>
                <a:tc>
                  <a:txBody>
                    <a:bodyPr/>
                    <a:lstStyle/>
                    <a:p>
                      <a:pPr algn="l"/>
                      <a:r>
                        <a:rPr lang="en-US" sz="2400" dirty="0">
                          <a:solidFill>
                            <a:srgbClr val="002060"/>
                          </a:solidFill>
                          <a:latin typeface="Times New Roman" pitchFamily="18" charset="0"/>
                          <a:cs typeface="Times New Roman" pitchFamily="18" charset="0"/>
                        </a:rPr>
                        <a:t>Return the (</a:t>
                      </a:r>
                      <a:r>
                        <a:rPr lang="en-US" sz="2400" dirty="0" err="1">
                          <a:solidFill>
                            <a:srgbClr val="002060"/>
                          </a:solidFill>
                          <a:latin typeface="Times New Roman" pitchFamily="18" charset="0"/>
                          <a:cs typeface="Times New Roman" pitchFamily="18" charset="0"/>
                        </a:rPr>
                        <a:t>x,y</a:t>
                      </a:r>
                      <a:r>
                        <a:rPr lang="en-US" sz="2400" dirty="0">
                          <a:solidFill>
                            <a:srgbClr val="002060"/>
                          </a:solidFill>
                          <a:latin typeface="Times New Roman" pitchFamily="18" charset="0"/>
                          <a:cs typeface="Times New Roman" pitchFamily="18" charset="0"/>
                        </a:rPr>
                        <a:t>) position at which the event occurred, relative to the component that fired the event.</a:t>
                      </a:r>
                    </a:p>
                  </a:txBody>
                  <a:tcPr/>
                </a:tc>
                <a:extLst>
                  <a:ext uri="{0D108BD9-81ED-4DB2-BD59-A6C34878D82A}">
                    <a16:rowId xmlns:a16="http://schemas.microsoft.com/office/drawing/2014/main" val="10003"/>
                  </a:ext>
                </a:extLst>
              </a:tr>
              <a:tr h="1041353">
                <a:tc>
                  <a:txBody>
                    <a:bodyPr/>
                    <a:lstStyle/>
                    <a:p>
                      <a:pPr marL="0" algn="ctr" defTabSz="914400" rtl="0" eaLnBrk="1" latinLnBrk="0" hangingPunct="1"/>
                      <a:r>
                        <a:rPr lang="en-IN" sz="2800" kern="1200" dirty="0">
                          <a:solidFill>
                            <a:srgbClr val="002060"/>
                          </a:solidFill>
                          <a:latin typeface="Times New Roman" pitchFamily="18" charset="0"/>
                          <a:ea typeface="+mn-ea"/>
                          <a:cs typeface="Times New Roman" pitchFamily="18" charset="0"/>
                        </a:rPr>
                        <a:t>Point </a:t>
                      </a:r>
                      <a:r>
                        <a:rPr lang="en-IN" sz="2800" kern="1200" dirty="0" err="1">
                          <a:solidFill>
                            <a:srgbClr val="002060"/>
                          </a:solidFill>
                          <a:latin typeface="Times New Roman" pitchFamily="18" charset="0"/>
                          <a:ea typeface="+mn-ea"/>
                          <a:cs typeface="Times New Roman" pitchFamily="18" charset="0"/>
                        </a:rPr>
                        <a:t>getPoint</a:t>
                      </a:r>
                      <a:r>
                        <a:rPr lang="en-IN" sz="2800" kern="1200" dirty="0">
                          <a:solidFill>
                            <a:srgbClr val="002060"/>
                          </a:solidFill>
                          <a:latin typeface="Times New Roman" pitchFamily="18" charset="0"/>
                          <a:ea typeface="+mn-ea"/>
                          <a:cs typeface="Times New Roman" pitchFamily="18" charset="0"/>
                        </a:rPr>
                        <a:t>()</a:t>
                      </a:r>
                      <a:endParaRPr lang="en-US" sz="2800" kern="1200" dirty="0">
                        <a:solidFill>
                          <a:srgbClr val="002060"/>
                        </a:solidFill>
                        <a:latin typeface="Times New Roman" pitchFamily="18" charset="0"/>
                        <a:ea typeface="+mn-ea"/>
                        <a:cs typeface="Times New Roman" pitchFamily="18" charset="0"/>
                      </a:endParaRPr>
                    </a:p>
                  </a:txBody>
                  <a:tcPr/>
                </a:tc>
                <a:tc>
                  <a:txBody>
                    <a:bodyPr/>
                    <a:lstStyle/>
                    <a:p>
                      <a:pPr algn="l"/>
                      <a:r>
                        <a:rPr lang="en-IN" sz="2400" kern="1200" dirty="0">
                          <a:solidFill>
                            <a:srgbClr val="002060"/>
                          </a:solidFill>
                          <a:latin typeface="Times New Roman" pitchFamily="18" charset="0"/>
                          <a:ea typeface="+mn-ea"/>
                          <a:cs typeface="Times New Roman" pitchFamily="18" charset="0"/>
                        </a:rPr>
                        <a:t>Returns the </a:t>
                      </a:r>
                      <a:r>
                        <a:rPr lang="en-IN" sz="2400" kern="1200" dirty="0" err="1">
                          <a:solidFill>
                            <a:srgbClr val="002060"/>
                          </a:solidFill>
                          <a:latin typeface="Times New Roman" pitchFamily="18" charset="0"/>
                          <a:ea typeface="+mn-ea"/>
                          <a:cs typeface="Times New Roman" pitchFamily="18" charset="0"/>
                        </a:rPr>
                        <a:t>x,y</a:t>
                      </a:r>
                      <a:r>
                        <a:rPr lang="en-IN" sz="2400" kern="1200" dirty="0">
                          <a:solidFill>
                            <a:srgbClr val="002060"/>
                          </a:solidFill>
                          <a:latin typeface="Times New Roman" pitchFamily="18" charset="0"/>
                          <a:ea typeface="+mn-ea"/>
                          <a:cs typeface="Times New Roman" pitchFamily="18" charset="0"/>
                        </a:rPr>
                        <a:t> position of the event </a:t>
                      </a:r>
                      <a:r>
                        <a:rPr lang="en-IN" sz="2400" kern="1200" dirty="0" err="1">
                          <a:solidFill>
                            <a:srgbClr val="002060"/>
                          </a:solidFill>
                          <a:latin typeface="Times New Roman" pitchFamily="18" charset="0"/>
                          <a:ea typeface="+mn-ea"/>
                          <a:cs typeface="Times New Roman" pitchFamily="18" charset="0"/>
                        </a:rPr>
                        <a:t>rlative</a:t>
                      </a:r>
                      <a:r>
                        <a:rPr lang="en-IN" sz="2400" kern="1200" dirty="0">
                          <a:solidFill>
                            <a:srgbClr val="002060"/>
                          </a:solidFill>
                          <a:latin typeface="Times New Roman" pitchFamily="18" charset="0"/>
                          <a:ea typeface="+mn-ea"/>
                          <a:cs typeface="Times New Roman" pitchFamily="18" charset="0"/>
                        </a:rPr>
                        <a:t> to the source component.</a:t>
                      </a:r>
                      <a:endParaRPr lang="en-US" sz="2400" kern="1200" dirty="0">
                        <a:solidFill>
                          <a:srgbClr val="002060"/>
                        </a:solidFill>
                        <a:latin typeface="Times New Roman" pitchFamily="18" charset="0"/>
                        <a:ea typeface="+mn-ea"/>
                        <a:cs typeface="Times New Roman" pitchFamily="18" charset="0"/>
                      </a:endParaRPr>
                    </a:p>
                  </a:txBody>
                  <a:tcPr/>
                </a:tc>
                <a:extLst>
                  <a:ext uri="{0D108BD9-81ED-4DB2-BD59-A6C34878D82A}">
                    <a16:rowId xmlns:a16="http://schemas.microsoft.com/office/drawing/2014/main" val="10004"/>
                  </a:ext>
                </a:extLst>
              </a:tr>
            </a:tbl>
          </a:graphicData>
        </a:graphic>
      </p:graphicFrame>
      <p:sp>
        <p:nvSpPr>
          <p:cNvPr id="5" name="Slide Number Placeholder 4"/>
          <p:cNvSpPr>
            <a:spLocks noGrp="1"/>
          </p:cNvSpPr>
          <p:nvPr>
            <p:ph type="sldNum" sz="quarter" idx="12"/>
          </p:nvPr>
        </p:nvSpPr>
        <p:spPr/>
        <p:txBody>
          <a:bodyPr/>
          <a:lstStyle/>
          <a:p>
            <a:fld id="{CABF7EEA-85D2-497E-9C95-F3C1348C26C9}" type="slidenum">
              <a:rPr lang="en-IN" smtClean="0"/>
              <a:pPr/>
              <a:t>80</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strVal val="#ppt_w*0.05"/>
                                          </p:val>
                                        </p:tav>
                                        <p:tav tm="100000">
                                          <p:val>
                                            <p:strVal val="#ppt_w"/>
                                          </p:val>
                                        </p:tav>
                                      </p:tavLst>
                                    </p:anim>
                                    <p:anim calcmode="lin" valueType="num">
                                      <p:cBhvr>
                                        <p:cTn id="8" dur="500" fill="hold"/>
                                        <p:tgtEl>
                                          <p:spTgt spid="4"/>
                                        </p:tgtEl>
                                        <p:attrNameLst>
                                          <p:attrName>ppt_h</p:attrName>
                                        </p:attrNameLst>
                                      </p:cBhvr>
                                      <p:tavLst>
                                        <p:tav tm="0">
                                          <p:val>
                                            <p:strVal val="#ppt_h"/>
                                          </p:val>
                                        </p:tav>
                                        <p:tav tm="100000">
                                          <p:val>
                                            <p:strVal val="#ppt_h"/>
                                          </p:val>
                                        </p:tav>
                                      </p:tavLst>
                                    </p:anim>
                                    <p:anim calcmode="lin" valueType="num">
                                      <p:cBhvr>
                                        <p:cTn id="9" dur="500" fill="hold"/>
                                        <p:tgtEl>
                                          <p:spTgt spid="4"/>
                                        </p:tgtEl>
                                        <p:attrNameLst>
                                          <p:attrName>ppt_x</p:attrName>
                                        </p:attrNameLst>
                                      </p:cBhvr>
                                      <p:tavLst>
                                        <p:tav tm="0">
                                          <p:val>
                                            <p:strVal val="#ppt_x-.2"/>
                                          </p:val>
                                        </p:tav>
                                        <p:tav tm="100000">
                                          <p:val>
                                            <p:strVal val="#ppt_x"/>
                                          </p:val>
                                        </p:tav>
                                      </p:tavLst>
                                    </p:anim>
                                    <p:anim calcmode="lin" valueType="num">
                                      <p:cBhvr>
                                        <p:cTn id="10" dur="500" fill="hold"/>
                                        <p:tgtEl>
                                          <p:spTgt spid="4"/>
                                        </p:tgtEl>
                                        <p:attrNameLst>
                                          <p:attrName>ppt_y</p:attrName>
                                        </p:attrNameLst>
                                      </p:cBhvr>
                                      <p:tavLst>
                                        <p:tav tm="0">
                                          <p:val>
                                            <p:strVal val="#ppt_y"/>
                                          </p:val>
                                        </p:tav>
                                        <p:tav tm="100000">
                                          <p:val>
                                            <p:strVal val="#ppt_y"/>
                                          </p:val>
                                        </p:tav>
                                      </p:tavLst>
                                    </p:anim>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2920" y="0"/>
            <a:ext cx="8183880" cy="1051560"/>
          </a:xfrm>
        </p:spPr>
        <p:txBody>
          <a:bodyPr/>
          <a:lstStyle/>
          <a:p>
            <a:pPr algn="ctr"/>
            <a:r>
              <a:rPr lang="en-US" b="1" dirty="0" err="1">
                <a:effectLst/>
                <a:latin typeface="Times New Roman" pitchFamily="18" charset="0"/>
                <a:cs typeface="Times New Roman" pitchFamily="18" charset="0"/>
              </a:rPr>
              <a:t>MouseListener</a:t>
            </a:r>
            <a:r>
              <a:rPr lang="en-US" b="1" dirty="0">
                <a:effectLst/>
                <a:latin typeface="Times New Roman" pitchFamily="18" charset="0"/>
                <a:cs typeface="Times New Roman" pitchFamily="18" charset="0"/>
              </a:rPr>
              <a:t> Interface</a:t>
            </a:r>
          </a:p>
        </p:txBody>
      </p:sp>
      <p:sp>
        <p:nvSpPr>
          <p:cNvPr id="2" name="Content Placeholder 1"/>
          <p:cNvSpPr>
            <a:spLocks noGrp="1"/>
          </p:cNvSpPr>
          <p:nvPr>
            <p:ph idx="1"/>
          </p:nvPr>
        </p:nvSpPr>
        <p:spPr>
          <a:xfrm>
            <a:off x="457200" y="990600"/>
            <a:ext cx="8382000" cy="5257800"/>
          </a:xfrm>
        </p:spPr>
        <p:txBody>
          <a:bodyPr>
            <a:normAutofit/>
          </a:bodyPr>
          <a:lstStyle/>
          <a:p>
            <a:endParaRPr lang="en-US" sz="2800" dirty="0">
              <a:solidFill>
                <a:srgbClr val="002060"/>
              </a:solidFill>
              <a:latin typeface="Times New Roman" pitchFamily="18" charset="0"/>
              <a:cs typeface="Times New Roman" pitchFamily="18" charset="0"/>
            </a:endParaRPr>
          </a:p>
          <a:p>
            <a:r>
              <a:rPr lang="en-US" sz="2800" dirty="0">
                <a:solidFill>
                  <a:srgbClr val="002060"/>
                </a:solidFill>
                <a:latin typeface="Times New Roman" pitchFamily="18" charset="0"/>
                <a:cs typeface="Times New Roman" pitchFamily="18" charset="0"/>
              </a:rPr>
              <a:t>Mouse events notify when the user uses the mouse (or similar input device) to interact with a component. </a:t>
            </a:r>
          </a:p>
          <a:p>
            <a:pPr>
              <a:buNone/>
            </a:pPr>
            <a:endParaRPr lang="en-US" sz="2800" dirty="0">
              <a:solidFill>
                <a:srgbClr val="002060"/>
              </a:solidFill>
              <a:latin typeface="Times New Roman" pitchFamily="18" charset="0"/>
              <a:cs typeface="Times New Roman" pitchFamily="18" charset="0"/>
            </a:endParaRPr>
          </a:p>
          <a:p>
            <a:r>
              <a:rPr lang="en-US" sz="2800" dirty="0">
                <a:solidFill>
                  <a:srgbClr val="002060"/>
                </a:solidFill>
                <a:latin typeface="Times New Roman" pitchFamily="18" charset="0"/>
                <a:cs typeface="Times New Roman" pitchFamily="18" charset="0"/>
              </a:rPr>
              <a:t>Mouse events occur when the cursor enters or exits a component's onscreen area and when the user presses or releases one of the mouse buttons.</a:t>
            </a:r>
          </a:p>
          <a:p>
            <a:endParaRPr lang="en-US" sz="2800" dirty="0">
              <a:solidFill>
                <a:srgbClr val="002060"/>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CABF7EEA-85D2-497E-9C95-F3C1348C26C9}" type="slidenum">
              <a:rPr lang="en-IN" smtClean="0"/>
              <a:pPr/>
              <a:t>81</a:t>
            </a:fld>
            <a:endParaRPr lang="en-IN"/>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2920" y="0"/>
            <a:ext cx="8183880" cy="1051560"/>
          </a:xfrm>
        </p:spPr>
        <p:txBody>
          <a:bodyPr>
            <a:normAutofit/>
          </a:bodyPr>
          <a:lstStyle/>
          <a:p>
            <a:pPr algn="ctr"/>
            <a:r>
              <a:rPr lang="en-US" sz="3600" b="1" dirty="0">
                <a:effectLst/>
                <a:latin typeface="Times New Roman" pitchFamily="18" charset="0"/>
                <a:cs typeface="Times New Roman" pitchFamily="18" charset="0"/>
              </a:rPr>
              <a:t>Methods of </a:t>
            </a:r>
            <a:r>
              <a:rPr lang="en-US" sz="3600" b="1" dirty="0" err="1">
                <a:latin typeface="Times New Roman" pitchFamily="18" charset="0"/>
                <a:cs typeface="Times New Roman" pitchFamily="18" charset="0"/>
              </a:rPr>
              <a:t>Mouse</a:t>
            </a:r>
            <a:r>
              <a:rPr lang="en-US" sz="3600" b="1" dirty="0" err="1">
                <a:effectLst/>
                <a:latin typeface="Times New Roman" pitchFamily="18" charset="0"/>
                <a:cs typeface="Times New Roman" pitchFamily="18" charset="0"/>
              </a:rPr>
              <a:t>Listener</a:t>
            </a:r>
            <a:r>
              <a:rPr lang="en-US" sz="3600" b="1" dirty="0">
                <a:effectLst/>
                <a:latin typeface="Times New Roman" pitchFamily="18" charset="0"/>
                <a:cs typeface="Times New Roman" pitchFamily="18" charset="0"/>
              </a:rPr>
              <a:t> Interface</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899913755"/>
              </p:ext>
            </p:extLst>
          </p:nvPr>
        </p:nvGraphicFramePr>
        <p:xfrm>
          <a:off x="179512" y="914400"/>
          <a:ext cx="8856984" cy="5273040"/>
        </p:xfrm>
        <a:graphic>
          <a:graphicData uri="http://schemas.openxmlformats.org/drawingml/2006/table">
            <a:tbl>
              <a:tblPr firstRow="1" bandRow="1">
                <a:tableStyleId>{5C22544A-7EE6-4342-B048-85BDC9FD1C3A}</a:tableStyleId>
              </a:tblPr>
              <a:tblGrid>
                <a:gridCol w="3984090">
                  <a:extLst>
                    <a:ext uri="{9D8B030D-6E8A-4147-A177-3AD203B41FA5}">
                      <a16:colId xmlns:a16="http://schemas.microsoft.com/office/drawing/2014/main" val="20000"/>
                    </a:ext>
                  </a:extLst>
                </a:gridCol>
                <a:gridCol w="4872894">
                  <a:extLst>
                    <a:ext uri="{9D8B030D-6E8A-4147-A177-3AD203B41FA5}">
                      <a16:colId xmlns:a16="http://schemas.microsoft.com/office/drawing/2014/main" val="20001"/>
                    </a:ext>
                  </a:extLst>
                </a:gridCol>
              </a:tblGrid>
              <a:tr h="370840">
                <a:tc>
                  <a:txBody>
                    <a:bodyPr/>
                    <a:lstStyle/>
                    <a:p>
                      <a:pPr algn="ctr"/>
                      <a:r>
                        <a:rPr lang="en-US" sz="2200" dirty="0">
                          <a:solidFill>
                            <a:schemeClr val="bg1"/>
                          </a:solidFill>
                          <a:latin typeface="Times New Roman" pitchFamily="18" charset="0"/>
                          <a:cs typeface="Times New Roman" pitchFamily="18" charset="0"/>
                        </a:rPr>
                        <a:t>Method</a:t>
                      </a:r>
                    </a:p>
                  </a:txBody>
                  <a:tcPr/>
                </a:tc>
                <a:tc>
                  <a:txBody>
                    <a:bodyPr/>
                    <a:lstStyle/>
                    <a:p>
                      <a:pPr algn="ctr"/>
                      <a:r>
                        <a:rPr lang="en-US" sz="2200" dirty="0">
                          <a:solidFill>
                            <a:schemeClr val="bg1"/>
                          </a:solidFill>
                          <a:latin typeface="Times New Roman" pitchFamily="18" charset="0"/>
                          <a:cs typeface="Times New Roman" pitchFamily="18" charset="0"/>
                        </a:rPr>
                        <a:t>Purpose</a:t>
                      </a:r>
                    </a:p>
                  </a:txBody>
                  <a:tcPr/>
                </a:tc>
                <a:extLst>
                  <a:ext uri="{0D108BD9-81ED-4DB2-BD59-A6C34878D82A}">
                    <a16:rowId xmlns:a16="http://schemas.microsoft.com/office/drawing/2014/main" val="10000"/>
                  </a:ext>
                </a:extLst>
              </a:tr>
              <a:tr h="370840">
                <a:tc>
                  <a:txBody>
                    <a:bodyPr/>
                    <a:lstStyle/>
                    <a:p>
                      <a:pPr algn="ctr"/>
                      <a:r>
                        <a:rPr lang="en-US" sz="2400" kern="1200" dirty="0">
                          <a:solidFill>
                            <a:srgbClr val="002060"/>
                          </a:solidFill>
                          <a:latin typeface="Times New Roman" pitchFamily="18" charset="0"/>
                          <a:ea typeface="+mn-ea"/>
                          <a:cs typeface="Times New Roman" pitchFamily="18" charset="0"/>
                        </a:rPr>
                        <a:t>mouseClicked(</a:t>
                      </a:r>
                      <a:r>
                        <a:rPr lang="en-US" sz="2400" kern="1200" dirty="0" err="1">
                          <a:solidFill>
                            <a:srgbClr val="002060"/>
                          </a:solidFill>
                          <a:latin typeface="Times New Roman" pitchFamily="18" charset="0"/>
                          <a:ea typeface="+mn-ea"/>
                          <a:cs typeface="Times New Roman" pitchFamily="18" charset="0"/>
                        </a:rPr>
                        <a:t>MouseEvent</a:t>
                      </a:r>
                      <a:r>
                        <a:rPr lang="en-US" sz="2400" kern="1200" dirty="0">
                          <a:solidFill>
                            <a:srgbClr val="002060"/>
                          </a:solidFill>
                          <a:latin typeface="Times New Roman" pitchFamily="18" charset="0"/>
                          <a:ea typeface="+mn-ea"/>
                          <a:cs typeface="Times New Roman" pitchFamily="18" charset="0"/>
                        </a:rPr>
                        <a:t>)</a:t>
                      </a:r>
                    </a:p>
                  </a:txBody>
                  <a:tcPr/>
                </a:tc>
                <a:tc>
                  <a:txBody>
                    <a:bodyPr/>
                    <a:lstStyle/>
                    <a:p>
                      <a:r>
                        <a:rPr lang="en-US" sz="2400" dirty="0">
                          <a:solidFill>
                            <a:srgbClr val="002060"/>
                          </a:solidFill>
                          <a:latin typeface="Times New Roman" pitchFamily="18" charset="0"/>
                          <a:cs typeface="Times New Roman" pitchFamily="18" charset="0"/>
                        </a:rPr>
                        <a:t>Called just after the user clicks the listened-to component.</a:t>
                      </a:r>
                    </a:p>
                  </a:txBody>
                  <a:tcPr/>
                </a:tc>
                <a:extLst>
                  <a:ext uri="{0D108BD9-81ED-4DB2-BD59-A6C34878D82A}">
                    <a16:rowId xmlns:a16="http://schemas.microsoft.com/office/drawing/2014/main" val="10001"/>
                  </a:ext>
                </a:extLst>
              </a:tr>
              <a:tr h="370840">
                <a:tc>
                  <a:txBody>
                    <a:bodyPr/>
                    <a:lstStyle/>
                    <a:p>
                      <a:pPr algn="ctr"/>
                      <a:r>
                        <a:rPr lang="en-US" sz="2400" kern="1200" dirty="0">
                          <a:solidFill>
                            <a:srgbClr val="002060"/>
                          </a:solidFill>
                          <a:latin typeface="Times New Roman" pitchFamily="18" charset="0"/>
                          <a:ea typeface="+mn-ea"/>
                          <a:cs typeface="Times New Roman" pitchFamily="18" charset="0"/>
                        </a:rPr>
                        <a:t>mouseEntered(</a:t>
                      </a:r>
                      <a:r>
                        <a:rPr lang="en-US" sz="2400" kern="1200" dirty="0" err="1">
                          <a:solidFill>
                            <a:srgbClr val="002060"/>
                          </a:solidFill>
                          <a:latin typeface="Times New Roman" pitchFamily="18" charset="0"/>
                          <a:ea typeface="+mn-ea"/>
                          <a:cs typeface="Times New Roman" pitchFamily="18" charset="0"/>
                        </a:rPr>
                        <a:t>MouseEvent</a:t>
                      </a:r>
                      <a:r>
                        <a:rPr lang="en-US" sz="2400" kern="1200" dirty="0">
                          <a:solidFill>
                            <a:srgbClr val="002060"/>
                          </a:solidFill>
                          <a:latin typeface="Times New Roman" pitchFamily="18" charset="0"/>
                          <a:ea typeface="+mn-ea"/>
                          <a:cs typeface="Times New Roman" pitchFamily="18" charset="0"/>
                        </a:rPr>
                        <a:t>)</a:t>
                      </a:r>
                    </a:p>
                  </a:txBody>
                  <a:tcPr/>
                </a:tc>
                <a:tc>
                  <a:txBody>
                    <a:bodyPr/>
                    <a:lstStyle/>
                    <a:p>
                      <a:r>
                        <a:rPr lang="en-US" sz="2400" dirty="0">
                          <a:solidFill>
                            <a:srgbClr val="002060"/>
                          </a:solidFill>
                          <a:latin typeface="Times New Roman" pitchFamily="18" charset="0"/>
                          <a:cs typeface="Times New Roman" pitchFamily="18" charset="0"/>
                        </a:rPr>
                        <a:t>Called just after the cursor enters the bounds of the listened-to component.</a:t>
                      </a:r>
                    </a:p>
                  </a:txBody>
                  <a:tcPr/>
                </a:tc>
                <a:extLst>
                  <a:ext uri="{0D108BD9-81ED-4DB2-BD59-A6C34878D82A}">
                    <a16:rowId xmlns:a16="http://schemas.microsoft.com/office/drawing/2014/main" val="10002"/>
                  </a:ext>
                </a:extLst>
              </a:tr>
              <a:tr h="370840">
                <a:tc>
                  <a:txBody>
                    <a:bodyPr/>
                    <a:lstStyle/>
                    <a:p>
                      <a:pPr algn="ctr"/>
                      <a:r>
                        <a:rPr lang="en-US" sz="2400" kern="1200" dirty="0" err="1">
                          <a:solidFill>
                            <a:srgbClr val="002060"/>
                          </a:solidFill>
                          <a:latin typeface="Times New Roman" pitchFamily="18" charset="0"/>
                          <a:ea typeface="+mn-ea"/>
                          <a:cs typeface="Times New Roman" pitchFamily="18" charset="0"/>
                        </a:rPr>
                        <a:t>mouseExited</a:t>
                      </a:r>
                      <a:r>
                        <a:rPr lang="en-US" sz="2400" kern="1200" dirty="0">
                          <a:solidFill>
                            <a:srgbClr val="002060"/>
                          </a:solidFill>
                          <a:latin typeface="Times New Roman" pitchFamily="18" charset="0"/>
                          <a:ea typeface="+mn-ea"/>
                          <a:cs typeface="Times New Roman" pitchFamily="18" charset="0"/>
                        </a:rPr>
                        <a:t>(</a:t>
                      </a:r>
                      <a:r>
                        <a:rPr lang="en-US" sz="2400" kern="1200" dirty="0" err="1">
                          <a:solidFill>
                            <a:srgbClr val="002060"/>
                          </a:solidFill>
                          <a:latin typeface="Times New Roman" pitchFamily="18" charset="0"/>
                          <a:ea typeface="+mn-ea"/>
                          <a:cs typeface="Times New Roman" pitchFamily="18" charset="0"/>
                        </a:rPr>
                        <a:t>MouseEvent</a:t>
                      </a:r>
                      <a:r>
                        <a:rPr lang="en-US" sz="2400" kern="1200" dirty="0">
                          <a:solidFill>
                            <a:srgbClr val="002060"/>
                          </a:solidFill>
                          <a:latin typeface="Times New Roman" pitchFamily="18" charset="0"/>
                          <a:ea typeface="+mn-ea"/>
                          <a:cs typeface="Times New Roman" pitchFamily="18" charset="0"/>
                        </a:rPr>
                        <a:t>)</a:t>
                      </a:r>
                    </a:p>
                  </a:txBody>
                  <a:tcPr/>
                </a:tc>
                <a:tc>
                  <a:txBody>
                    <a:bodyPr/>
                    <a:lstStyle/>
                    <a:p>
                      <a:r>
                        <a:rPr lang="en-US" sz="2400" dirty="0">
                          <a:solidFill>
                            <a:srgbClr val="002060"/>
                          </a:solidFill>
                          <a:latin typeface="Times New Roman" pitchFamily="18" charset="0"/>
                          <a:cs typeface="Times New Roman" pitchFamily="18" charset="0"/>
                        </a:rPr>
                        <a:t>Called just after the cursor exits the bounds of the listened-to component.</a:t>
                      </a:r>
                    </a:p>
                  </a:txBody>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kern="1200" dirty="0" err="1">
                          <a:solidFill>
                            <a:srgbClr val="002060"/>
                          </a:solidFill>
                          <a:latin typeface="Times New Roman" pitchFamily="18" charset="0"/>
                          <a:ea typeface="+mn-ea"/>
                          <a:cs typeface="Times New Roman" pitchFamily="18" charset="0"/>
                        </a:rPr>
                        <a:t>mousePressed</a:t>
                      </a:r>
                      <a:r>
                        <a:rPr lang="en-US" sz="2400" kern="1200" dirty="0">
                          <a:solidFill>
                            <a:srgbClr val="002060"/>
                          </a:solidFill>
                          <a:latin typeface="Times New Roman" pitchFamily="18" charset="0"/>
                          <a:ea typeface="+mn-ea"/>
                          <a:cs typeface="Times New Roman" pitchFamily="18" charset="0"/>
                        </a:rPr>
                        <a:t>(</a:t>
                      </a:r>
                      <a:r>
                        <a:rPr lang="en-US" sz="2400" kern="1200" dirty="0" err="1">
                          <a:solidFill>
                            <a:srgbClr val="002060"/>
                          </a:solidFill>
                          <a:latin typeface="Times New Roman" pitchFamily="18" charset="0"/>
                          <a:ea typeface="+mn-ea"/>
                          <a:cs typeface="Times New Roman" pitchFamily="18" charset="0"/>
                        </a:rPr>
                        <a:t>MouseEvent</a:t>
                      </a:r>
                      <a:r>
                        <a:rPr lang="en-US" sz="2400" kern="1200" dirty="0">
                          <a:solidFill>
                            <a:srgbClr val="002060"/>
                          </a:solidFill>
                          <a:latin typeface="Times New Roman" pitchFamily="18" charset="0"/>
                          <a:ea typeface="+mn-ea"/>
                          <a:cs typeface="Times New Roman" pitchFamily="18" charset="0"/>
                        </a:rPr>
                        <a:t>)</a:t>
                      </a:r>
                    </a:p>
                    <a:p>
                      <a:pPr algn="ctr"/>
                      <a:endParaRPr lang="en-US" sz="2400" kern="1200" dirty="0">
                        <a:solidFill>
                          <a:srgbClr val="002060"/>
                        </a:solidFill>
                        <a:latin typeface="Times New Roman" pitchFamily="18" charset="0"/>
                        <a:ea typeface="+mn-ea"/>
                        <a:cs typeface="Times New Roman" pitchFamily="18" charset="0"/>
                      </a:endParaRPr>
                    </a:p>
                  </a:txBody>
                  <a:tcPr/>
                </a:tc>
                <a:tc>
                  <a:txBody>
                    <a:bodyPr/>
                    <a:lstStyle/>
                    <a:p>
                      <a:r>
                        <a:rPr lang="en-US" sz="2400" dirty="0">
                          <a:solidFill>
                            <a:srgbClr val="002060"/>
                          </a:solidFill>
                          <a:latin typeface="Times New Roman" pitchFamily="18" charset="0"/>
                          <a:cs typeface="Times New Roman" pitchFamily="18" charset="0"/>
                        </a:rPr>
                        <a:t>Called just after the user presses a mouse button while the cursor is over the listened-to component.</a:t>
                      </a:r>
                    </a:p>
                  </a:txBody>
                  <a:tcPr/>
                </a:tc>
                <a:extLst>
                  <a:ext uri="{0D108BD9-81ED-4DB2-BD59-A6C34878D82A}">
                    <a16:rowId xmlns:a16="http://schemas.microsoft.com/office/drawing/2014/main" val="10004"/>
                  </a:ext>
                </a:extLst>
              </a:tr>
              <a:tr h="370840">
                <a:tc>
                  <a:txBody>
                    <a:bodyPr/>
                    <a:lstStyle/>
                    <a:p>
                      <a:pPr algn="ctr"/>
                      <a:r>
                        <a:rPr lang="en-US" sz="2400" kern="1200" dirty="0" err="1">
                          <a:solidFill>
                            <a:srgbClr val="002060"/>
                          </a:solidFill>
                          <a:latin typeface="Times New Roman" pitchFamily="18" charset="0"/>
                          <a:ea typeface="+mn-ea"/>
                          <a:cs typeface="Times New Roman" pitchFamily="18" charset="0"/>
                        </a:rPr>
                        <a:t>mouseReleased</a:t>
                      </a:r>
                      <a:r>
                        <a:rPr lang="en-US" sz="2400" kern="1200" dirty="0">
                          <a:solidFill>
                            <a:srgbClr val="002060"/>
                          </a:solidFill>
                          <a:latin typeface="Times New Roman" pitchFamily="18" charset="0"/>
                          <a:ea typeface="+mn-ea"/>
                          <a:cs typeface="Times New Roman" pitchFamily="18" charset="0"/>
                        </a:rPr>
                        <a:t>(</a:t>
                      </a:r>
                      <a:r>
                        <a:rPr lang="en-US" sz="2400" kern="1200" dirty="0" err="1">
                          <a:solidFill>
                            <a:srgbClr val="002060"/>
                          </a:solidFill>
                          <a:latin typeface="Times New Roman" pitchFamily="18" charset="0"/>
                          <a:ea typeface="+mn-ea"/>
                          <a:cs typeface="Times New Roman" pitchFamily="18" charset="0"/>
                        </a:rPr>
                        <a:t>MouseEvent</a:t>
                      </a:r>
                      <a:r>
                        <a:rPr lang="en-US" sz="2400" kern="1200" dirty="0">
                          <a:solidFill>
                            <a:srgbClr val="002060"/>
                          </a:solidFill>
                          <a:latin typeface="Times New Roman" pitchFamily="18" charset="0"/>
                          <a:ea typeface="+mn-ea"/>
                          <a:cs typeface="Times New Roman" pitchFamily="18" charset="0"/>
                        </a:rPr>
                        <a:t>)</a:t>
                      </a:r>
                    </a:p>
                  </a:txBody>
                  <a:tcPr/>
                </a:tc>
                <a:tc>
                  <a:txBody>
                    <a:bodyPr/>
                    <a:lstStyle/>
                    <a:p>
                      <a:r>
                        <a:rPr lang="en-US" sz="2400" dirty="0">
                          <a:solidFill>
                            <a:srgbClr val="002060"/>
                          </a:solidFill>
                          <a:latin typeface="Times New Roman" pitchFamily="18" charset="0"/>
                          <a:cs typeface="Times New Roman" pitchFamily="18" charset="0"/>
                        </a:rPr>
                        <a:t>Called just after the user releases a mouse button after a mouse press over the listened-to component.</a:t>
                      </a:r>
                    </a:p>
                  </a:txBody>
                  <a:tcPr/>
                </a:tc>
                <a:extLst>
                  <a:ext uri="{0D108BD9-81ED-4DB2-BD59-A6C34878D82A}">
                    <a16:rowId xmlns:a16="http://schemas.microsoft.com/office/drawing/2014/main" val="10005"/>
                  </a:ext>
                </a:extLst>
              </a:tr>
            </a:tbl>
          </a:graphicData>
        </a:graphic>
      </p:graphicFrame>
      <p:sp>
        <p:nvSpPr>
          <p:cNvPr id="5" name="Slide Number Placeholder 4"/>
          <p:cNvSpPr>
            <a:spLocks noGrp="1"/>
          </p:cNvSpPr>
          <p:nvPr>
            <p:ph type="sldNum" sz="quarter" idx="12"/>
          </p:nvPr>
        </p:nvSpPr>
        <p:spPr/>
        <p:txBody>
          <a:bodyPr/>
          <a:lstStyle/>
          <a:p>
            <a:fld id="{CABF7EEA-85D2-497E-9C95-F3C1348C26C9}" type="slidenum">
              <a:rPr lang="en-IN" smtClean="0"/>
              <a:pPr/>
              <a:t>82</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from="(-#ppt_w/2)" to="(#ppt_x)" calcmode="lin" valueType="num">
                                      <p:cBhvr>
                                        <p:cTn id="7" dur="600" fill="hold">
                                          <p:stCondLst>
                                            <p:cond delay="0"/>
                                          </p:stCondLst>
                                        </p:cTn>
                                        <p:tgtEl>
                                          <p:spTgt spid="8"/>
                                        </p:tgtEl>
                                        <p:attrNameLst>
                                          <p:attrName>ppt_x</p:attrName>
                                        </p:attrNameLst>
                                      </p:cBhvr>
                                    </p:anim>
                                    <p:anim from="0" to="-1.0" calcmode="lin" valueType="num">
                                      <p:cBhvr>
                                        <p:cTn id="8" dur="200" decel="50000" autoRev="1" fill="hold">
                                          <p:stCondLst>
                                            <p:cond delay="600"/>
                                          </p:stCondLst>
                                        </p:cTn>
                                        <p:tgtEl>
                                          <p:spTgt spid="8"/>
                                        </p:tgtEl>
                                        <p:attrNameLst>
                                          <p:attrName>xshear</p:attrName>
                                        </p:attrNameLst>
                                      </p:cBhvr>
                                    </p:anim>
                                    <p:animScale>
                                      <p:cBhvr>
                                        <p:cTn id="9" dur="200" decel="100000" autoRev="1" fill="hold">
                                          <p:stCondLst>
                                            <p:cond delay="600"/>
                                          </p:stCondLst>
                                        </p:cTn>
                                        <p:tgtEl>
                                          <p:spTgt spid="8"/>
                                        </p:tgtEl>
                                      </p:cBhvr>
                                      <p:from x="100000" y="100000"/>
                                      <p:to x="80000" y="100000"/>
                                    </p:animScale>
                                    <p:anim by="(#ppt_h/3+#ppt_w*0.1)" calcmode="lin" valueType="num">
                                      <p:cBhvr additive="sum">
                                        <p:cTn id="10" dur="200" decel="100000" autoRev="1" fill="hold">
                                          <p:stCondLst>
                                            <p:cond delay="600"/>
                                          </p:stCondLst>
                                        </p:cTn>
                                        <p:tgtEl>
                                          <p:spTgt spid="8"/>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2920" y="0"/>
            <a:ext cx="8183880" cy="1051560"/>
          </a:xfrm>
        </p:spPr>
        <p:txBody>
          <a:bodyPr>
            <a:normAutofit/>
          </a:bodyPr>
          <a:lstStyle/>
          <a:p>
            <a:pPr algn="ctr"/>
            <a:r>
              <a:rPr lang="en-US" sz="3600" b="1" dirty="0" err="1">
                <a:effectLst/>
                <a:latin typeface="Times New Roman" pitchFamily="18" charset="0"/>
                <a:cs typeface="Times New Roman" pitchFamily="18" charset="0"/>
              </a:rPr>
              <a:t>MouseMotionListener</a:t>
            </a:r>
            <a:r>
              <a:rPr lang="en-US" sz="3600" b="1" dirty="0">
                <a:effectLst/>
                <a:latin typeface="Times New Roman" pitchFamily="18" charset="0"/>
                <a:cs typeface="Times New Roman" pitchFamily="18" charset="0"/>
              </a:rPr>
              <a:t> Interface</a:t>
            </a:r>
          </a:p>
        </p:txBody>
      </p:sp>
      <p:sp>
        <p:nvSpPr>
          <p:cNvPr id="2" name="Content Placeholder 1"/>
          <p:cNvSpPr>
            <a:spLocks noGrp="1"/>
          </p:cNvSpPr>
          <p:nvPr>
            <p:ph idx="1"/>
          </p:nvPr>
        </p:nvSpPr>
        <p:spPr>
          <a:xfrm>
            <a:off x="457200" y="990600"/>
            <a:ext cx="8382000" cy="5257800"/>
          </a:xfrm>
        </p:spPr>
        <p:txBody>
          <a:bodyPr>
            <a:normAutofit/>
          </a:bodyPr>
          <a:lstStyle/>
          <a:p>
            <a:r>
              <a:rPr lang="en-US" sz="2200" dirty="0">
                <a:solidFill>
                  <a:srgbClr val="002060"/>
                </a:solidFill>
                <a:latin typeface="Times New Roman" pitchFamily="18" charset="0"/>
                <a:cs typeface="Times New Roman" pitchFamily="18" charset="0"/>
              </a:rPr>
              <a:t>Mouse-motion events notify when the user uses the mouse (or a similar input device) to move the onscreen cursor.</a:t>
            </a:r>
          </a:p>
          <a:p>
            <a:endParaRPr lang="en-US" sz="2200" dirty="0">
              <a:solidFill>
                <a:srgbClr val="002060"/>
              </a:solidFill>
              <a:latin typeface="Times New Roman" pitchFamily="18" charset="0"/>
              <a:cs typeface="Times New Roman" pitchFamily="18" charset="0"/>
            </a:endParaRPr>
          </a:p>
          <a:p>
            <a:r>
              <a:rPr lang="en-US" sz="2200" dirty="0">
                <a:solidFill>
                  <a:srgbClr val="002060"/>
                </a:solidFill>
                <a:latin typeface="Times New Roman" pitchFamily="18" charset="0"/>
                <a:cs typeface="Times New Roman" pitchFamily="18" charset="0"/>
              </a:rPr>
              <a:t>If an application requires the detection of both mouse events and mouse-motion events, use the MouseInputAdapter class. </a:t>
            </a:r>
          </a:p>
          <a:p>
            <a:endParaRPr lang="en-US" sz="2200" dirty="0">
              <a:solidFill>
                <a:srgbClr val="002060"/>
              </a:solidFill>
              <a:latin typeface="Times New Roman" pitchFamily="18" charset="0"/>
              <a:cs typeface="Times New Roman" pitchFamily="18" charset="0"/>
            </a:endParaRPr>
          </a:p>
          <a:p>
            <a:r>
              <a:rPr lang="en-US" sz="2200" dirty="0">
                <a:solidFill>
                  <a:srgbClr val="002060"/>
                </a:solidFill>
                <a:latin typeface="Times New Roman" pitchFamily="18" charset="0"/>
                <a:cs typeface="Times New Roman" pitchFamily="18" charset="0"/>
              </a:rPr>
              <a:t>It implements the MouseInputListener a convenient interface that implements both the </a:t>
            </a:r>
            <a:r>
              <a:rPr lang="en-US" sz="2200" dirty="0" err="1">
                <a:solidFill>
                  <a:srgbClr val="002060"/>
                </a:solidFill>
                <a:latin typeface="Times New Roman" pitchFamily="18" charset="0"/>
                <a:cs typeface="Times New Roman" pitchFamily="18" charset="0"/>
              </a:rPr>
              <a:t>MouseListener</a:t>
            </a:r>
            <a:r>
              <a:rPr lang="en-US" sz="2200" dirty="0">
                <a:solidFill>
                  <a:srgbClr val="002060"/>
                </a:solidFill>
                <a:latin typeface="Times New Roman" pitchFamily="18" charset="0"/>
                <a:cs typeface="Times New Roman" pitchFamily="18" charset="0"/>
              </a:rPr>
              <a:t> and </a:t>
            </a:r>
            <a:r>
              <a:rPr lang="en-US" sz="2200" dirty="0" err="1">
                <a:solidFill>
                  <a:srgbClr val="002060"/>
                </a:solidFill>
                <a:latin typeface="Times New Roman" pitchFamily="18" charset="0"/>
                <a:cs typeface="Times New Roman" pitchFamily="18" charset="0"/>
              </a:rPr>
              <a:t>MouseMotionListener</a:t>
            </a:r>
            <a:r>
              <a:rPr lang="en-US" sz="2200" dirty="0">
                <a:solidFill>
                  <a:srgbClr val="002060"/>
                </a:solidFill>
                <a:latin typeface="Times New Roman" pitchFamily="18" charset="0"/>
                <a:cs typeface="Times New Roman" pitchFamily="18" charset="0"/>
              </a:rPr>
              <a:t> interfaces.</a:t>
            </a:r>
          </a:p>
        </p:txBody>
      </p:sp>
      <p:sp>
        <p:nvSpPr>
          <p:cNvPr id="6" name="Slide Number Placeholder 5"/>
          <p:cNvSpPr>
            <a:spLocks noGrp="1"/>
          </p:cNvSpPr>
          <p:nvPr>
            <p:ph type="sldNum" sz="quarter" idx="12"/>
          </p:nvPr>
        </p:nvSpPr>
        <p:spPr/>
        <p:txBody>
          <a:bodyPr/>
          <a:lstStyle/>
          <a:p>
            <a:fld id="{CABF7EEA-85D2-497E-9C95-F3C1348C26C9}" type="slidenum">
              <a:rPr lang="en-IN" smtClean="0"/>
              <a:pPr/>
              <a:t>83</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down)">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down)">
                                      <p:cBhvr>
                                        <p:cTn id="1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2920" y="0"/>
            <a:ext cx="8183880" cy="1051560"/>
          </a:xfrm>
        </p:spPr>
        <p:txBody>
          <a:bodyPr>
            <a:normAutofit/>
          </a:bodyPr>
          <a:lstStyle/>
          <a:p>
            <a:pPr algn="ctr"/>
            <a:r>
              <a:rPr lang="en-US" sz="2800" b="1" dirty="0">
                <a:latin typeface="Times New Roman" pitchFamily="18" charset="0"/>
                <a:cs typeface="Times New Roman" pitchFamily="18" charset="0"/>
              </a:rPr>
              <a:t>Methods of </a:t>
            </a:r>
            <a:r>
              <a:rPr lang="en-US" sz="2800" b="1" dirty="0" err="1">
                <a:latin typeface="Times New Roman" pitchFamily="18" charset="0"/>
                <a:cs typeface="Times New Roman" pitchFamily="18" charset="0"/>
              </a:rPr>
              <a:t>MouseMotionListener</a:t>
            </a:r>
            <a:r>
              <a:rPr lang="en-US" sz="2800" b="1" dirty="0">
                <a:latin typeface="Times New Roman" pitchFamily="18" charset="0"/>
                <a:cs typeface="Times New Roman" pitchFamily="18" charset="0"/>
              </a:rPr>
              <a:t> Interface</a:t>
            </a:r>
            <a:endParaRPr lang="en-US" sz="2800" b="1" dirty="0">
              <a:effectLst/>
              <a:latin typeface="Times New Roman" pitchFamily="18" charset="0"/>
              <a:cs typeface="Times New Roman"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894063540"/>
              </p:ext>
            </p:extLst>
          </p:nvPr>
        </p:nvGraphicFramePr>
        <p:xfrm>
          <a:off x="457200" y="1219200"/>
          <a:ext cx="8382000" cy="3992880"/>
        </p:xfrm>
        <a:graphic>
          <a:graphicData uri="http://schemas.openxmlformats.org/drawingml/2006/table">
            <a:tbl>
              <a:tblPr firstRow="1" bandRow="1">
                <a:tableStyleId>{5C22544A-7EE6-4342-B048-85BDC9FD1C3A}</a:tableStyleId>
              </a:tblPr>
              <a:tblGrid>
                <a:gridCol w="3178696">
                  <a:extLst>
                    <a:ext uri="{9D8B030D-6E8A-4147-A177-3AD203B41FA5}">
                      <a16:colId xmlns:a16="http://schemas.microsoft.com/office/drawing/2014/main" val="20000"/>
                    </a:ext>
                  </a:extLst>
                </a:gridCol>
                <a:gridCol w="5203304">
                  <a:extLst>
                    <a:ext uri="{9D8B030D-6E8A-4147-A177-3AD203B41FA5}">
                      <a16:colId xmlns:a16="http://schemas.microsoft.com/office/drawing/2014/main" val="20001"/>
                    </a:ext>
                  </a:extLst>
                </a:gridCol>
              </a:tblGrid>
              <a:tr h="762000">
                <a:tc>
                  <a:txBody>
                    <a:bodyPr/>
                    <a:lstStyle/>
                    <a:p>
                      <a:pPr algn="ctr"/>
                      <a:r>
                        <a:rPr lang="en-US" sz="2200" b="1" dirty="0">
                          <a:latin typeface="Times New Roman" pitchFamily="18" charset="0"/>
                          <a:cs typeface="Times New Roman" pitchFamily="18" charset="0"/>
                        </a:rPr>
                        <a:t>Method</a:t>
                      </a:r>
                    </a:p>
                  </a:txBody>
                  <a:tcPr/>
                </a:tc>
                <a:tc>
                  <a:txBody>
                    <a:bodyPr/>
                    <a:lstStyle/>
                    <a:p>
                      <a:pPr algn="ctr"/>
                      <a:r>
                        <a:rPr lang="en-US" sz="2200" b="1" dirty="0">
                          <a:latin typeface="Times New Roman" pitchFamily="18" charset="0"/>
                          <a:cs typeface="Times New Roman" pitchFamily="18" charset="0"/>
                        </a:rPr>
                        <a:t>Purpose</a:t>
                      </a:r>
                    </a:p>
                  </a:txBody>
                  <a:tcPr/>
                </a:tc>
                <a:extLst>
                  <a:ext uri="{0D108BD9-81ED-4DB2-BD59-A6C34878D82A}">
                    <a16:rowId xmlns:a16="http://schemas.microsoft.com/office/drawing/2014/main" val="10000"/>
                  </a:ext>
                </a:extLst>
              </a:tr>
              <a:tr h="1219200">
                <a:tc>
                  <a:txBody>
                    <a:bodyPr/>
                    <a:lstStyle/>
                    <a:p>
                      <a:pPr algn="ctr"/>
                      <a:endParaRPr lang="en-US" sz="2000" b="1" dirty="0">
                        <a:solidFill>
                          <a:srgbClr val="002060"/>
                        </a:solidFill>
                        <a:latin typeface="Times New Roman" pitchFamily="18" charset="0"/>
                        <a:cs typeface="Times New Roman" pitchFamily="18" charset="0"/>
                      </a:endParaRPr>
                    </a:p>
                    <a:p>
                      <a:pPr algn="ctr"/>
                      <a:r>
                        <a:rPr lang="en-US" sz="2000" dirty="0" err="1">
                          <a:solidFill>
                            <a:srgbClr val="002060"/>
                          </a:solidFill>
                          <a:latin typeface="Times New Roman" pitchFamily="18" charset="0"/>
                          <a:cs typeface="Times New Roman" pitchFamily="18" charset="0"/>
                        </a:rPr>
                        <a:t>mouseDragged</a:t>
                      </a:r>
                      <a:r>
                        <a:rPr lang="en-US" sz="2000" dirty="0">
                          <a:solidFill>
                            <a:srgbClr val="002060"/>
                          </a:solidFill>
                          <a:latin typeface="Times New Roman" pitchFamily="18" charset="0"/>
                          <a:cs typeface="Times New Roman" pitchFamily="18" charset="0"/>
                        </a:rPr>
                        <a:t>(</a:t>
                      </a:r>
                      <a:r>
                        <a:rPr lang="en-US" sz="2000" dirty="0" err="1">
                          <a:solidFill>
                            <a:srgbClr val="002060"/>
                          </a:solidFill>
                          <a:latin typeface="Times New Roman" pitchFamily="18" charset="0"/>
                          <a:cs typeface="Times New Roman" pitchFamily="18" charset="0"/>
                        </a:rPr>
                        <a:t>MouseEvent</a:t>
                      </a:r>
                      <a:r>
                        <a:rPr lang="en-US" sz="2000" dirty="0">
                          <a:solidFill>
                            <a:srgbClr val="002060"/>
                          </a:solidFill>
                          <a:latin typeface="Times New Roman" pitchFamily="18" charset="0"/>
                          <a:cs typeface="Times New Roman" pitchFamily="18" charset="0"/>
                        </a:rPr>
                        <a:t>)</a:t>
                      </a:r>
                      <a:endParaRPr lang="en-US" sz="2000" b="1" dirty="0">
                        <a:solidFill>
                          <a:srgbClr val="002060"/>
                        </a:solidFill>
                        <a:latin typeface="Times New Roman" pitchFamily="18" charset="0"/>
                        <a:cs typeface="Times New Roman" pitchFamily="18" charset="0"/>
                      </a:endParaRPr>
                    </a:p>
                  </a:txBody>
                  <a:tcPr/>
                </a:tc>
                <a:tc>
                  <a:txBody>
                    <a:bodyPr/>
                    <a:lstStyle/>
                    <a:p>
                      <a:pPr algn="l"/>
                      <a:r>
                        <a:rPr lang="en-US" sz="2000" dirty="0">
                          <a:solidFill>
                            <a:srgbClr val="002060"/>
                          </a:solidFill>
                          <a:latin typeface="Times New Roman" pitchFamily="18" charset="0"/>
                          <a:cs typeface="Times New Roman" pitchFamily="18" charset="0"/>
                        </a:rPr>
                        <a:t>Called in response to the user moving the mouse while holding a mouse button down. This event is fired by the component that fired the most recent mouse-pressed event, even if the cursor is no longer over that component.</a:t>
                      </a:r>
                    </a:p>
                    <a:p>
                      <a:pPr algn="l"/>
                      <a:endParaRPr lang="en-US" sz="2000" dirty="0">
                        <a:solidFill>
                          <a:srgbClr val="002060"/>
                        </a:solidFill>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1219200">
                <a:tc>
                  <a:txBody>
                    <a:bodyPr/>
                    <a:lstStyle/>
                    <a:p>
                      <a:pPr algn="ctr"/>
                      <a:endParaRPr lang="en-US" sz="2000" b="1" dirty="0">
                        <a:solidFill>
                          <a:srgbClr val="002060"/>
                        </a:solidFill>
                        <a:latin typeface="Times New Roman" pitchFamily="18" charset="0"/>
                        <a:cs typeface="Times New Roman" pitchFamily="18" charset="0"/>
                      </a:endParaRPr>
                    </a:p>
                    <a:p>
                      <a:pPr algn="ctr"/>
                      <a:endParaRPr lang="en-US" sz="2000" b="1" dirty="0">
                        <a:solidFill>
                          <a:srgbClr val="002060"/>
                        </a:solidFill>
                        <a:latin typeface="Times New Roman" pitchFamily="18" charset="0"/>
                        <a:cs typeface="Times New Roman" pitchFamily="18" charset="0"/>
                      </a:endParaRPr>
                    </a:p>
                    <a:p>
                      <a:pPr algn="ctr"/>
                      <a:r>
                        <a:rPr lang="en-US" sz="2000" dirty="0">
                          <a:solidFill>
                            <a:srgbClr val="002060"/>
                          </a:solidFill>
                          <a:latin typeface="Times New Roman" pitchFamily="18" charset="0"/>
                          <a:cs typeface="Times New Roman" pitchFamily="18" charset="0"/>
                        </a:rPr>
                        <a:t>mouseMoved(</a:t>
                      </a:r>
                      <a:r>
                        <a:rPr lang="en-US" sz="2000" dirty="0" err="1">
                          <a:solidFill>
                            <a:srgbClr val="002060"/>
                          </a:solidFill>
                          <a:latin typeface="Times New Roman" pitchFamily="18" charset="0"/>
                          <a:cs typeface="Times New Roman" pitchFamily="18" charset="0"/>
                        </a:rPr>
                        <a:t>MouseEvent</a:t>
                      </a:r>
                      <a:r>
                        <a:rPr lang="en-US" sz="2000" dirty="0">
                          <a:solidFill>
                            <a:srgbClr val="002060"/>
                          </a:solidFill>
                          <a:latin typeface="Times New Roman" pitchFamily="18" charset="0"/>
                          <a:cs typeface="Times New Roman" pitchFamily="18" charset="0"/>
                        </a:rPr>
                        <a:t>)</a:t>
                      </a:r>
                      <a:endParaRPr lang="en-US" sz="2000" b="1" dirty="0">
                        <a:solidFill>
                          <a:srgbClr val="002060"/>
                        </a:solidFill>
                        <a:latin typeface="Times New Roman" pitchFamily="18" charset="0"/>
                        <a:cs typeface="Times New Roman" pitchFamily="18" charset="0"/>
                      </a:endParaRPr>
                    </a:p>
                  </a:txBody>
                  <a:tcPr/>
                </a:tc>
                <a:tc>
                  <a:txBody>
                    <a:bodyPr/>
                    <a:lstStyle/>
                    <a:p>
                      <a:pPr algn="l"/>
                      <a:r>
                        <a:rPr lang="en-US" sz="2000" dirty="0">
                          <a:solidFill>
                            <a:srgbClr val="002060"/>
                          </a:solidFill>
                          <a:latin typeface="Times New Roman" pitchFamily="18" charset="0"/>
                          <a:cs typeface="Times New Roman" pitchFamily="18" charset="0"/>
                        </a:rPr>
                        <a:t>Called in response to the user moving the mouse with no mouse buttons pressed. This event is fired by the component that's currently under the cursor.</a:t>
                      </a:r>
                    </a:p>
                  </a:txBody>
                  <a:tcPr/>
                </a:tc>
                <a:extLst>
                  <a:ext uri="{0D108BD9-81ED-4DB2-BD59-A6C34878D82A}">
                    <a16:rowId xmlns:a16="http://schemas.microsoft.com/office/drawing/2014/main" val="10002"/>
                  </a:ext>
                </a:extLst>
              </a:tr>
            </a:tbl>
          </a:graphicData>
        </a:graphic>
      </p:graphicFrame>
      <p:sp>
        <p:nvSpPr>
          <p:cNvPr id="5" name="Slide Number Placeholder 4"/>
          <p:cNvSpPr>
            <a:spLocks noGrp="1"/>
          </p:cNvSpPr>
          <p:nvPr>
            <p:ph type="sldNum" sz="quarter" idx="12"/>
          </p:nvPr>
        </p:nvSpPr>
        <p:spPr/>
        <p:txBody>
          <a:bodyPr/>
          <a:lstStyle/>
          <a:p>
            <a:fld id="{CABF7EEA-85D2-497E-9C95-F3C1348C26C9}" type="slidenum">
              <a:rPr lang="en-IN" smtClean="0"/>
              <a:pPr/>
              <a:t>84</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85786" y="225581"/>
            <a:ext cx="8072494" cy="5632311"/>
          </a:xfrm>
          <a:prstGeom prst="rect">
            <a:avLst/>
          </a:prstGeom>
        </p:spPr>
        <p:txBody>
          <a:bodyPr wrap="square">
            <a:spAutoFit/>
          </a:bodyPr>
          <a:lstStyle/>
          <a:p>
            <a:r>
              <a:rPr lang="en-IN" sz="2000" dirty="0"/>
              <a:t>import java.awt.*;</a:t>
            </a:r>
          </a:p>
          <a:p>
            <a:r>
              <a:rPr lang="en-IN" sz="2000" dirty="0"/>
              <a:t>import java.awt.event.*;</a:t>
            </a:r>
          </a:p>
          <a:p>
            <a:r>
              <a:rPr lang="en-IN" sz="2000" dirty="0"/>
              <a:t>import </a:t>
            </a:r>
            <a:r>
              <a:rPr lang="en-IN" sz="2000" dirty="0" err="1"/>
              <a:t>javax.swing</a:t>
            </a:r>
            <a:r>
              <a:rPr lang="en-IN" sz="2000" dirty="0"/>
              <a:t>.*;</a:t>
            </a:r>
          </a:p>
          <a:p>
            <a:endParaRPr lang="en-IN" sz="2000" dirty="0"/>
          </a:p>
          <a:p>
            <a:r>
              <a:rPr lang="en-IN" sz="2000" dirty="0"/>
              <a:t>public class </a:t>
            </a:r>
            <a:r>
              <a:rPr lang="en-IN" sz="2000" dirty="0" err="1"/>
              <a:t>MouseEventDemo</a:t>
            </a:r>
            <a:r>
              <a:rPr lang="en-IN" sz="2000" dirty="0"/>
              <a:t> extends </a:t>
            </a:r>
            <a:r>
              <a:rPr lang="en-IN" sz="2000" dirty="0" err="1"/>
              <a:t>JApplet</a:t>
            </a:r>
            <a:r>
              <a:rPr lang="en-IN" sz="2000" dirty="0"/>
              <a:t> implements </a:t>
            </a:r>
            <a:r>
              <a:rPr lang="en-IN" sz="2000" dirty="0" err="1"/>
              <a:t>MouseListener</a:t>
            </a:r>
            <a:endParaRPr lang="en-IN" sz="2000" dirty="0"/>
          </a:p>
          <a:p>
            <a:r>
              <a:rPr lang="en-IN" sz="2000" dirty="0"/>
              <a:t>{</a:t>
            </a:r>
          </a:p>
          <a:p>
            <a:r>
              <a:rPr lang="en-IN" sz="2000" dirty="0"/>
              <a:t>    private </a:t>
            </a:r>
            <a:r>
              <a:rPr lang="en-IN" sz="2000" dirty="0" err="1"/>
              <a:t>int</a:t>
            </a:r>
            <a:r>
              <a:rPr lang="en-IN" sz="2000" dirty="0"/>
              <a:t> x;              // x coordinate of mouse event</a:t>
            </a:r>
          </a:p>
          <a:p>
            <a:r>
              <a:rPr lang="en-IN" sz="2000" dirty="0"/>
              <a:t>    private </a:t>
            </a:r>
            <a:r>
              <a:rPr lang="en-IN" sz="2000" dirty="0" err="1"/>
              <a:t>int</a:t>
            </a:r>
            <a:r>
              <a:rPr lang="en-IN" sz="2000" dirty="0"/>
              <a:t> y;              // y coordinate of mouse event</a:t>
            </a:r>
          </a:p>
          <a:p>
            <a:r>
              <a:rPr lang="en-IN" sz="2000" dirty="0"/>
              <a:t>    private String event;       // description of mouse event </a:t>
            </a:r>
          </a:p>
          <a:p>
            <a:endParaRPr lang="en-IN" sz="2000" dirty="0"/>
          </a:p>
          <a:p>
            <a:r>
              <a:rPr lang="en-IN" sz="2000" dirty="0"/>
              <a:t>    public void init()                                // set up GUI         </a:t>
            </a:r>
          </a:p>
          <a:p>
            <a:r>
              <a:rPr lang="en-IN" sz="2000" dirty="0"/>
              <a:t>    {</a:t>
            </a:r>
          </a:p>
          <a:p>
            <a:r>
              <a:rPr lang="en-IN" sz="2000" dirty="0"/>
              <a:t>        </a:t>
            </a:r>
            <a:r>
              <a:rPr lang="en-IN" sz="2000" dirty="0" err="1"/>
              <a:t>setLayout</a:t>
            </a:r>
            <a:r>
              <a:rPr lang="en-IN" sz="2000" dirty="0"/>
              <a:t>(new </a:t>
            </a:r>
            <a:r>
              <a:rPr lang="en-IN" sz="2000" dirty="0" err="1"/>
              <a:t>FlowLayout</a:t>
            </a:r>
            <a:r>
              <a:rPr lang="en-IN" sz="2000" dirty="0"/>
              <a:t>()); </a:t>
            </a:r>
          </a:p>
          <a:p>
            <a:r>
              <a:rPr lang="en-IN" sz="2000" dirty="0"/>
              <a:t>   </a:t>
            </a:r>
          </a:p>
          <a:p>
            <a:r>
              <a:rPr lang="en-IN" sz="2000" dirty="0"/>
              <a:t>        </a:t>
            </a:r>
            <a:r>
              <a:rPr lang="en-IN" sz="2000" dirty="0" err="1"/>
              <a:t>addMouseListener</a:t>
            </a:r>
            <a:r>
              <a:rPr lang="en-IN" sz="2000" dirty="0"/>
              <a:t>(this);                      // listen for mouse events</a:t>
            </a:r>
          </a:p>
          <a:p>
            <a:endParaRPr lang="en-IN" sz="2000" dirty="0"/>
          </a:p>
          <a:p>
            <a:r>
              <a:rPr lang="en-IN" sz="2000" dirty="0"/>
              <a:t>        x = -1;                                      // set x negative for no initial message</a:t>
            </a:r>
          </a:p>
          <a:p>
            <a:r>
              <a:rPr lang="en-IN" sz="2000" dirty="0"/>
              <a:t>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85</a:t>
            </a:fld>
            <a:endParaRPr lang="en-IN"/>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2910" y="-5393"/>
            <a:ext cx="8286808" cy="6863417"/>
          </a:xfrm>
          <a:prstGeom prst="rect">
            <a:avLst/>
          </a:prstGeom>
        </p:spPr>
        <p:txBody>
          <a:bodyPr wrap="square">
            <a:spAutoFit/>
          </a:bodyPr>
          <a:lstStyle/>
          <a:p>
            <a:r>
              <a:rPr lang="en-IN" sz="2000" dirty="0"/>
              <a:t> public void paint(Graphics g)                    // draw message to screen                      </a:t>
            </a:r>
          </a:p>
          <a:p>
            <a:r>
              <a:rPr lang="en-IN" sz="2000" dirty="0"/>
              <a:t>    {</a:t>
            </a:r>
          </a:p>
          <a:p>
            <a:r>
              <a:rPr lang="en-IN" sz="2000" dirty="0"/>
              <a:t>       </a:t>
            </a:r>
            <a:r>
              <a:rPr lang="en-IN" sz="2000" dirty="0" err="1"/>
              <a:t>super.paint</a:t>
            </a:r>
            <a:r>
              <a:rPr lang="en-IN" sz="2000" dirty="0"/>
              <a:t>(g);</a:t>
            </a:r>
          </a:p>
          <a:p>
            <a:endParaRPr lang="en-IN" sz="2000" dirty="0"/>
          </a:p>
          <a:p>
            <a:r>
              <a:rPr lang="en-IN" sz="2000" dirty="0"/>
              <a:t>       </a:t>
            </a:r>
            <a:r>
              <a:rPr lang="en-IN" sz="2000" dirty="0" err="1"/>
              <a:t>g.drawRect</a:t>
            </a:r>
            <a:r>
              <a:rPr lang="en-IN" sz="2000" dirty="0"/>
              <a:t>(0, 0, </a:t>
            </a:r>
            <a:r>
              <a:rPr lang="en-IN" sz="2000" dirty="0" err="1"/>
              <a:t>getWidth</a:t>
            </a:r>
            <a:r>
              <a:rPr lang="en-IN" sz="2000" dirty="0"/>
              <a:t>(), </a:t>
            </a:r>
            <a:r>
              <a:rPr lang="en-IN" sz="2000" dirty="0" err="1"/>
              <a:t>getHeight</a:t>
            </a:r>
            <a:r>
              <a:rPr lang="en-IN" sz="2000" dirty="0"/>
              <a:t>());   // show bounds of applet</a:t>
            </a:r>
          </a:p>
          <a:p>
            <a:endParaRPr lang="en-IN" sz="2000" dirty="0"/>
          </a:p>
          <a:p>
            <a:r>
              <a:rPr lang="en-IN" sz="2000" dirty="0"/>
              <a:t>       if(x != - 1)                                 // display event during repainting only </a:t>
            </a:r>
          </a:p>
          <a:p>
            <a:r>
              <a:rPr lang="en-IN" sz="2000" dirty="0"/>
              <a:t>       {</a:t>
            </a:r>
          </a:p>
          <a:p>
            <a:r>
              <a:rPr lang="en-IN" sz="2000" dirty="0"/>
              <a:t>          </a:t>
            </a:r>
            <a:r>
              <a:rPr lang="en-IN" sz="2000" dirty="0" err="1"/>
              <a:t>g.drawString</a:t>
            </a:r>
            <a:r>
              <a:rPr lang="en-IN" sz="2000" dirty="0"/>
              <a:t>("Mouse event " + event + </a:t>
            </a:r>
          </a:p>
          <a:p>
            <a:r>
              <a:rPr lang="en-IN" sz="2000" dirty="0"/>
              <a:t>                       " at (" + x + ", " + y + ")", </a:t>
            </a:r>
          </a:p>
          <a:p>
            <a:r>
              <a:rPr lang="en-IN" sz="2000" dirty="0"/>
              <a:t>                       10, 50);</a:t>
            </a:r>
          </a:p>
          <a:p>
            <a:r>
              <a:rPr lang="en-IN" sz="2000" dirty="0"/>
              <a:t>       }</a:t>
            </a:r>
          </a:p>
          <a:p>
            <a:r>
              <a:rPr lang="en-IN" sz="2000" dirty="0"/>
              <a:t>    }</a:t>
            </a:r>
          </a:p>
          <a:p>
            <a:endParaRPr lang="en-IN" sz="2000" dirty="0"/>
          </a:p>
          <a:p>
            <a:r>
              <a:rPr lang="en-IN" sz="2000" dirty="0"/>
              <a:t>public void </a:t>
            </a:r>
            <a:r>
              <a:rPr lang="en-IN" sz="2000" dirty="0" err="1"/>
              <a:t>mousePressed</a:t>
            </a:r>
            <a:r>
              <a:rPr lang="en-IN" sz="2000" dirty="0"/>
              <a:t>(</a:t>
            </a:r>
            <a:r>
              <a:rPr lang="en-IN" sz="2000" dirty="0" err="1"/>
              <a:t>MouseEvent</a:t>
            </a:r>
            <a:r>
              <a:rPr lang="en-IN" sz="2000" dirty="0"/>
              <a:t> e)          // save coordinates of presses</a:t>
            </a:r>
          </a:p>
          <a:p>
            <a:r>
              <a:rPr lang="en-IN" sz="2000" dirty="0"/>
              <a:t>    {</a:t>
            </a:r>
          </a:p>
          <a:p>
            <a:r>
              <a:rPr lang="en-IN" sz="2000" dirty="0"/>
              <a:t>       x = </a:t>
            </a:r>
            <a:r>
              <a:rPr lang="en-IN" sz="2000" dirty="0" err="1"/>
              <a:t>e.getX</a:t>
            </a:r>
            <a:r>
              <a:rPr lang="en-IN" sz="2000" dirty="0"/>
              <a:t>();</a:t>
            </a:r>
          </a:p>
          <a:p>
            <a:r>
              <a:rPr lang="en-IN" sz="2000" dirty="0"/>
              <a:t>       y = </a:t>
            </a:r>
            <a:r>
              <a:rPr lang="en-IN" sz="2000" dirty="0" err="1"/>
              <a:t>e.getY</a:t>
            </a:r>
            <a:r>
              <a:rPr lang="en-IN" sz="2000" dirty="0"/>
              <a:t>();</a:t>
            </a:r>
          </a:p>
          <a:p>
            <a:r>
              <a:rPr lang="en-IN" sz="2000" dirty="0"/>
              <a:t>       event = "press"; </a:t>
            </a:r>
          </a:p>
          <a:p>
            <a:endParaRPr lang="en-IN" sz="2000" dirty="0"/>
          </a:p>
          <a:p>
            <a:r>
              <a:rPr lang="en-IN" sz="2000" dirty="0"/>
              <a:t>       repaint();</a:t>
            </a:r>
          </a:p>
          <a:p>
            <a:r>
              <a:rPr lang="en-IN" sz="2000" dirty="0"/>
              <a:t>    }</a:t>
            </a:r>
          </a:p>
        </p:txBody>
      </p:sp>
      <p:sp>
        <p:nvSpPr>
          <p:cNvPr id="5" name="Slide Number Placeholder 4"/>
          <p:cNvSpPr>
            <a:spLocks noGrp="1"/>
          </p:cNvSpPr>
          <p:nvPr>
            <p:ph type="sldNum" sz="quarter" idx="12"/>
          </p:nvPr>
        </p:nvSpPr>
        <p:spPr/>
        <p:txBody>
          <a:bodyPr/>
          <a:lstStyle/>
          <a:p>
            <a:fld id="{CABF7EEA-85D2-497E-9C95-F3C1348C26C9}" type="slidenum">
              <a:rPr lang="en-IN" smtClean="0"/>
              <a:pPr/>
              <a:t>86</a:t>
            </a:fld>
            <a:endParaRPr lang="en-IN"/>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348" y="342198"/>
            <a:ext cx="8286808" cy="5601533"/>
          </a:xfrm>
          <a:prstGeom prst="rect">
            <a:avLst/>
          </a:prstGeom>
        </p:spPr>
        <p:txBody>
          <a:bodyPr wrap="square">
            <a:spAutoFit/>
          </a:bodyPr>
          <a:lstStyle/>
          <a:p>
            <a:r>
              <a:rPr lang="en-IN" sz="2000" dirty="0"/>
              <a:t>public void </a:t>
            </a:r>
            <a:r>
              <a:rPr lang="en-IN" sz="2000" dirty="0" err="1"/>
              <a:t>mouseClicked</a:t>
            </a:r>
            <a:r>
              <a:rPr lang="en-IN" sz="2000" dirty="0"/>
              <a:t>(</a:t>
            </a:r>
            <a:r>
              <a:rPr lang="en-IN" sz="2000" dirty="0" err="1"/>
              <a:t>MouseEvent</a:t>
            </a:r>
            <a:r>
              <a:rPr lang="en-IN" sz="2000" dirty="0"/>
              <a:t> e)          // save coordinates of clicks</a:t>
            </a:r>
          </a:p>
          <a:p>
            <a:r>
              <a:rPr lang="en-IN" sz="2000" dirty="0"/>
              <a:t>    {</a:t>
            </a:r>
          </a:p>
          <a:p>
            <a:r>
              <a:rPr lang="en-IN" sz="2000" dirty="0"/>
              <a:t>       x = </a:t>
            </a:r>
            <a:r>
              <a:rPr lang="en-IN" sz="2000" dirty="0" err="1"/>
              <a:t>e.getX</a:t>
            </a:r>
            <a:r>
              <a:rPr lang="en-IN" sz="2000" dirty="0"/>
              <a:t>();</a:t>
            </a:r>
          </a:p>
          <a:p>
            <a:r>
              <a:rPr lang="en-IN" sz="2000" dirty="0"/>
              <a:t>       y = </a:t>
            </a:r>
            <a:r>
              <a:rPr lang="en-IN" sz="2000" dirty="0" err="1"/>
              <a:t>e.getY</a:t>
            </a:r>
            <a:r>
              <a:rPr lang="en-IN" sz="2000" dirty="0"/>
              <a:t>();</a:t>
            </a:r>
          </a:p>
          <a:p>
            <a:r>
              <a:rPr lang="en-IN" sz="2000" dirty="0"/>
              <a:t>       event = "click"; </a:t>
            </a:r>
          </a:p>
          <a:p>
            <a:endParaRPr lang="en-IN" sz="2000" dirty="0"/>
          </a:p>
          <a:p>
            <a:r>
              <a:rPr lang="en-IN" sz="2000" dirty="0"/>
              <a:t>       repaint();</a:t>
            </a:r>
          </a:p>
          <a:p>
            <a:r>
              <a:rPr lang="en-IN" sz="2000" dirty="0"/>
              <a:t>    }</a:t>
            </a:r>
          </a:p>
          <a:p>
            <a:endParaRPr lang="en-IN" sz="2000" dirty="0"/>
          </a:p>
          <a:p>
            <a:r>
              <a:rPr lang="en-IN" sz="2000" dirty="0"/>
              <a:t> public void </a:t>
            </a:r>
            <a:r>
              <a:rPr lang="en-IN" sz="2000" dirty="0" err="1"/>
              <a:t>mouseReleased</a:t>
            </a:r>
            <a:r>
              <a:rPr lang="en-IN" sz="2000" dirty="0"/>
              <a:t>(</a:t>
            </a:r>
            <a:r>
              <a:rPr lang="en-IN" sz="2000" dirty="0" err="1"/>
              <a:t>MouseEvent</a:t>
            </a:r>
            <a:r>
              <a:rPr lang="en-IN" sz="2000" dirty="0"/>
              <a:t> e)          // save coordinates of releases</a:t>
            </a:r>
          </a:p>
          <a:p>
            <a:r>
              <a:rPr lang="en-IN" sz="2000" dirty="0"/>
              <a:t>    {</a:t>
            </a:r>
          </a:p>
          <a:p>
            <a:r>
              <a:rPr lang="en-IN" sz="2000" dirty="0"/>
              <a:t>       x = </a:t>
            </a:r>
            <a:r>
              <a:rPr lang="en-IN" sz="2000" dirty="0" err="1"/>
              <a:t>e.getX</a:t>
            </a:r>
            <a:r>
              <a:rPr lang="en-IN" sz="2000" dirty="0"/>
              <a:t>();</a:t>
            </a:r>
          </a:p>
          <a:p>
            <a:r>
              <a:rPr lang="en-IN" sz="2000" dirty="0"/>
              <a:t>       y = </a:t>
            </a:r>
            <a:r>
              <a:rPr lang="en-IN" sz="2000" dirty="0" err="1"/>
              <a:t>e.getY</a:t>
            </a:r>
            <a:r>
              <a:rPr lang="en-IN" sz="2000" dirty="0"/>
              <a:t>();</a:t>
            </a:r>
          </a:p>
          <a:p>
            <a:r>
              <a:rPr lang="en-IN" sz="2000" dirty="0"/>
              <a:t>       event = "release"; </a:t>
            </a:r>
          </a:p>
          <a:p>
            <a:endParaRPr lang="en-IN" sz="2000" dirty="0"/>
          </a:p>
          <a:p>
            <a:r>
              <a:rPr lang="en-IN" sz="2000" dirty="0"/>
              <a:t>       repaint();</a:t>
            </a:r>
          </a:p>
          <a:p>
            <a:r>
              <a:rPr lang="en-IN" sz="2000" dirty="0"/>
              <a:t>    }</a:t>
            </a:r>
          </a:p>
        </p:txBody>
      </p:sp>
      <p:sp>
        <p:nvSpPr>
          <p:cNvPr id="5" name="Slide Number Placeholder 4"/>
          <p:cNvSpPr>
            <a:spLocks noGrp="1"/>
          </p:cNvSpPr>
          <p:nvPr>
            <p:ph type="sldNum" sz="quarter" idx="12"/>
          </p:nvPr>
        </p:nvSpPr>
        <p:spPr/>
        <p:txBody>
          <a:bodyPr/>
          <a:lstStyle/>
          <a:p>
            <a:fld id="{CABF7EEA-85D2-497E-9C95-F3C1348C26C9}" type="slidenum">
              <a:rPr lang="en-IN" smtClean="0"/>
              <a:pPr/>
              <a:t>87</a:t>
            </a:fld>
            <a:endParaRPr lang="en-IN"/>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142852"/>
            <a:ext cx="8715404" cy="6524863"/>
          </a:xfrm>
          <a:prstGeom prst="rect">
            <a:avLst/>
          </a:prstGeom>
        </p:spPr>
        <p:txBody>
          <a:bodyPr wrap="square">
            <a:spAutoFit/>
          </a:bodyPr>
          <a:lstStyle/>
          <a:p>
            <a:r>
              <a:rPr lang="en-IN" sz="2000" dirty="0"/>
              <a:t> public void </a:t>
            </a:r>
            <a:r>
              <a:rPr lang="en-IN" sz="2000" dirty="0" err="1"/>
              <a:t>mouseEntered</a:t>
            </a:r>
            <a:r>
              <a:rPr lang="en-IN" sz="2000" dirty="0"/>
              <a:t>(</a:t>
            </a:r>
            <a:r>
              <a:rPr lang="en-IN" sz="2000" dirty="0" err="1"/>
              <a:t>MouseEvent</a:t>
            </a:r>
            <a:r>
              <a:rPr lang="en-IN" sz="2000" dirty="0"/>
              <a:t> e)     // save coordinates when mouse enters applet</a:t>
            </a:r>
          </a:p>
          <a:p>
            <a:r>
              <a:rPr lang="en-IN" sz="2000" dirty="0"/>
              <a:t>    {</a:t>
            </a:r>
          </a:p>
          <a:p>
            <a:r>
              <a:rPr lang="en-IN" sz="2000" dirty="0"/>
              <a:t>       x = </a:t>
            </a:r>
            <a:r>
              <a:rPr lang="en-IN" sz="2000" dirty="0" err="1"/>
              <a:t>e.getX</a:t>
            </a:r>
            <a:r>
              <a:rPr lang="en-IN" sz="2000" dirty="0"/>
              <a:t>();</a:t>
            </a:r>
          </a:p>
          <a:p>
            <a:r>
              <a:rPr lang="en-IN" sz="2000" dirty="0"/>
              <a:t>       y = </a:t>
            </a:r>
            <a:r>
              <a:rPr lang="en-IN" sz="2000" dirty="0" err="1"/>
              <a:t>e.getY</a:t>
            </a:r>
            <a:r>
              <a:rPr lang="en-IN" sz="2000" dirty="0"/>
              <a:t>();</a:t>
            </a:r>
          </a:p>
          <a:p>
            <a:r>
              <a:rPr lang="en-IN" sz="2000" dirty="0"/>
              <a:t>       event = "enter"; </a:t>
            </a:r>
          </a:p>
          <a:p>
            <a:endParaRPr lang="en-IN" sz="2000" dirty="0"/>
          </a:p>
          <a:p>
            <a:r>
              <a:rPr lang="en-IN" sz="2000" dirty="0"/>
              <a:t>       repaint();</a:t>
            </a:r>
          </a:p>
          <a:p>
            <a:r>
              <a:rPr lang="en-IN" sz="2000" dirty="0"/>
              <a:t>    }</a:t>
            </a:r>
          </a:p>
          <a:p>
            <a:endParaRPr lang="en-IN" sz="2000" dirty="0"/>
          </a:p>
          <a:p>
            <a:r>
              <a:rPr lang="en-IN" sz="2000" dirty="0"/>
              <a:t>    public void </a:t>
            </a:r>
            <a:r>
              <a:rPr lang="en-IN" sz="2000" dirty="0" err="1"/>
              <a:t>mouseExited</a:t>
            </a:r>
            <a:r>
              <a:rPr lang="en-IN" sz="2000" dirty="0"/>
              <a:t>(</a:t>
            </a:r>
            <a:r>
              <a:rPr lang="en-IN" sz="2000" dirty="0" err="1"/>
              <a:t>MouseEvent</a:t>
            </a:r>
            <a:r>
              <a:rPr lang="en-IN" sz="2000" dirty="0"/>
              <a:t> e)     // save coordinates when mouse leaves applet</a:t>
            </a:r>
          </a:p>
          <a:p>
            <a:r>
              <a:rPr lang="en-IN" sz="2000" dirty="0"/>
              <a:t>    {</a:t>
            </a:r>
          </a:p>
          <a:p>
            <a:r>
              <a:rPr lang="en-IN" sz="2000" dirty="0"/>
              <a:t>       x = </a:t>
            </a:r>
            <a:r>
              <a:rPr lang="en-IN" sz="2000" dirty="0" err="1"/>
              <a:t>e.getX</a:t>
            </a:r>
            <a:r>
              <a:rPr lang="en-IN" sz="2000" dirty="0"/>
              <a:t>();</a:t>
            </a:r>
          </a:p>
          <a:p>
            <a:r>
              <a:rPr lang="en-IN" sz="2000" dirty="0"/>
              <a:t>       y = </a:t>
            </a:r>
            <a:r>
              <a:rPr lang="en-IN" sz="2000" dirty="0" err="1"/>
              <a:t>e.getY</a:t>
            </a:r>
            <a:r>
              <a:rPr lang="en-IN" sz="2000" dirty="0"/>
              <a:t>();</a:t>
            </a:r>
          </a:p>
          <a:p>
            <a:r>
              <a:rPr lang="en-IN" sz="2000" dirty="0"/>
              <a:t>       event = "exit"; </a:t>
            </a:r>
          </a:p>
          <a:p>
            <a:endParaRPr lang="en-IN" sz="2000" dirty="0"/>
          </a:p>
          <a:p>
            <a:r>
              <a:rPr lang="en-IN" sz="2000" dirty="0"/>
              <a:t>       repaint();</a:t>
            </a:r>
          </a:p>
          <a:p>
            <a:r>
              <a:rPr lang="en-IN" sz="2000" dirty="0"/>
              <a:t>    }</a:t>
            </a:r>
          </a:p>
          <a:p>
            <a:r>
              <a:rPr lang="en-IN" sz="2000" dirty="0"/>
              <a:t>}</a:t>
            </a:r>
          </a:p>
          <a:p>
            <a:r>
              <a:rPr lang="en-IN" sz="2000" dirty="0"/>
              <a:t>/*&lt;applet code=</a:t>
            </a:r>
            <a:r>
              <a:rPr lang="en-IN" sz="2000" dirty="0" err="1"/>
              <a:t>MouseEventDemo</a:t>
            </a:r>
            <a:r>
              <a:rPr lang="en-IN" sz="2000" dirty="0"/>
              <a:t> height=300 width=300&gt;&lt;/applet&gt;*/</a:t>
            </a:r>
          </a:p>
        </p:txBody>
      </p:sp>
      <p:sp>
        <p:nvSpPr>
          <p:cNvPr id="5" name="Slide Number Placeholder 4"/>
          <p:cNvSpPr>
            <a:spLocks noGrp="1"/>
          </p:cNvSpPr>
          <p:nvPr>
            <p:ph type="sldNum" sz="quarter" idx="12"/>
          </p:nvPr>
        </p:nvSpPr>
        <p:spPr/>
        <p:txBody>
          <a:bodyPr/>
          <a:lstStyle/>
          <a:p>
            <a:fld id="{CABF7EEA-85D2-497E-9C95-F3C1348C26C9}" type="slidenum">
              <a:rPr lang="en-IN" smtClean="0"/>
              <a:pPr/>
              <a:t>88</a:t>
            </a:fld>
            <a:endParaRPr lang="en-IN"/>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634082"/>
          </a:xfrm>
        </p:spPr>
        <p:txBody>
          <a:bodyPr>
            <a:normAutofit fontScale="90000"/>
          </a:bodyPr>
          <a:lstStyle/>
          <a:p>
            <a:r>
              <a:rPr lang="en-GB" b="1" dirty="0" err="1"/>
              <a:t>AdjustmentEvent</a:t>
            </a:r>
            <a:endParaRPr lang="en-GB" dirty="0"/>
          </a:p>
        </p:txBody>
      </p:sp>
      <p:sp>
        <p:nvSpPr>
          <p:cNvPr id="4" name="Content Placeholder 3"/>
          <p:cNvSpPr>
            <a:spLocks noGrp="1"/>
          </p:cNvSpPr>
          <p:nvPr>
            <p:ph idx="1"/>
          </p:nvPr>
        </p:nvSpPr>
        <p:spPr>
          <a:xfrm>
            <a:off x="228600" y="925656"/>
            <a:ext cx="8807896" cy="5795820"/>
          </a:xfrm>
        </p:spPr>
        <p:txBody>
          <a:bodyPr>
            <a:noAutofit/>
          </a:bodyPr>
          <a:lstStyle/>
          <a:p>
            <a:r>
              <a:rPr lang="en-GB" sz="2400" dirty="0">
                <a:latin typeface="Cambria" panose="02040503050406030204" pitchFamily="18" charset="0"/>
                <a:ea typeface="Cambria" panose="02040503050406030204" pitchFamily="18" charset="0"/>
              </a:rPr>
              <a:t>An </a:t>
            </a:r>
            <a:r>
              <a:rPr lang="en-GB" sz="2400" dirty="0" err="1">
                <a:latin typeface="Cambria" panose="02040503050406030204" pitchFamily="18" charset="0"/>
                <a:ea typeface="Cambria" panose="02040503050406030204" pitchFamily="18" charset="0"/>
              </a:rPr>
              <a:t>AdjustmentEvent</a:t>
            </a:r>
            <a:r>
              <a:rPr lang="en-GB" sz="2400" dirty="0">
                <a:latin typeface="Cambria" panose="02040503050406030204" pitchFamily="18" charset="0"/>
                <a:ea typeface="Cambria" panose="02040503050406030204" pitchFamily="18" charset="0"/>
              </a:rPr>
              <a:t> is generated by a scroll bar. There are five types of adjustment events.</a:t>
            </a:r>
          </a:p>
          <a:p>
            <a:r>
              <a:rPr lang="en-GB" sz="2400" dirty="0">
                <a:latin typeface="Cambria" panose="02040503050406030204" pitchFamily="18" charset="0"/>
                <a:ea typeface="Cambria" panose="02040503050406030204" pitchFamily="18" charset="0"/>
              </a:rPr>
              <a:t>The </a:t>
            </a:r>
            <a:r>
              <a:rPr lang="en-GB" sz="2400" dirty="0" err="1">
                <a:latin typeface="Cambria" panose="02040503050406030204" pitchFamily="18" charset="0"/>
                <a:ea typeface="Cambria" panose="02040503050406030204" pitchFamily="18" charset="0"/>
              </a:rPr>
              <a:t>AdjustmentEvent</a:t>
            </a:r>
            <a:r>
              <a:rPr lang="en-GB" sz="2400" dirty="0">
                <a:latin typeface="Cambria" panose="02040503050406030204" pitchFamily="18" charset="0"/>
                <a:ea typeface="Cambria" panose="02040503050406030204" pitchFamily="18" charset="0"/>
              </a:rPr>
              <a:t> class defines integer constants that can be used to identify them. </a:t>
            </a:r>
          </a:p>
          <a:p>
            <a:r>
              <a:rPr lang="en-GB" sz="2400" dirty="0">
                <a:latin typeface="Cambria" panose="02040503050406030204" pitchFamily="18" charset="0"/>
                <a:ea typeface="Cambria" panose="02040503050406030204" pitchFamily="18" charset="0"/>
              </a:rPr>
              <a:t>BLOCK_DECREMENT </a:t>
            </a:r>
          </a:p>
          <a:p>
            <a:pPr lvl="1"/>
            <a:r>
              <a:rPr lang="en-GB" sz="2000" dirty="0">
                <a:latin typeface="Cambria" panose="02040503050406030204" pitchFamily="18" charset="0"/>
                <a:ea typeface="Cambria" panose="02040503050406030204" pitchFamily="18" charset="0"/>
              </a:rPr>
              <a:t>The user clicked inside the scroll bar to decrease its value.</a:t>
            </a:r>
          </a:p>
          <a:p>
            <a:r>
              <a:rPr lang="en-GB" sz="2400" dirty="0">
                <a:latin typeface="Cambria" panose="02040503050406030204" pitchFamily="18" charset="0"/>
                <a:ea typeface="Cambria" panose="02040503050406030204" pitchFamily="18" charset="0"/>
              </a:rPr>
              <a:t>BLOCK_INCREMENT</a:t>
            </a:r>
          </a:p>
          <a:p>
            <a:pPr lvl="1"/>
            <a:r>
              <a:rPr lang="en-GB" sz="2000" dirty="0">
                <a:latin typeface="Cambria" panose="02040503050406030204" pitchFamily="18" charset="0"/>
                <a:ea typeface="Cambria" panose="02040503050406030204" pitchFamily="18" charset="0"/>
              </a:rPr>
              <a:t>The user clicked inside the scroll bar to increase its value.</a:t>
            </a:r>
          </a:p>
          <a:p>
            <a:r>
              <a:rPr lang="en-GB" sz="2400" dirty="0">
                <a:latin typeface="Cambria" panose="02040503050406030204" pitchFamily="18" charset="0"/>
                <a:ea typeface="Cambria" panose="02040503050406030204" pitchFamily="18" charset="0"/>
              </a:rPr>
              <a:t>TRACK</a:t>
            </a:r>
          </a:p>
          <a:p>
            <a:pPr lvl="1"/>
            <a:r>
              <a:rPr lang="en-GB" sz="2000" dirty="0">
                <a:latin typeface="Cambria" panose="02040503050406030204" pitchFamily="18" charset="0"/>
                <a:ea typeface="Cambria" panose="02040503050406030204" pitchFamily="18" charset="0"/>
              </a:rPr>
              <a:t>The slider was dragged.</a:t>
            </a:r>
          </a:p>
          <a:p>
            <a:r>
              <a:rPr lang="en-GB" sz="2400" dirty="0">
                <a:latin typeface="Cambria" panose="02040503050406030204" pitchFamily="18" charset="0"/>
                <a:ea typeface="Cambria" panose="02040503050406030204" pitchFamily="18" charset="0"/>
              </a:rPr>
              <a:t>UNIT_DECREMENT </a:t>
            </a:r>
          </a:p>
          <a:p>
            <a:pPr lvl="1"/>
            <a:r>
              <a:rPr lang="en-GB" sz="2000" dirty="0">
                <a:latin typeface="Cambria" panose="02040503050406030204" pitchFamily="18" charset="0"/>
                <a:ea typeface="Cambria" panose="02040503050406030204" pitchFamily="18" charset="0"/>
              </a:rPr>
              <a:t>The button at the end of the scroll bar was clicked to decrease its value.</a:t>
            </a:r>
          </a:p>
          <a:p>
            <a:r>
              <a:rPr lang="en-GB" sz="2400" dirty="0">
                <a:latin typeface="Cambria" panose="02040503050406030204" pitchFamily="18" charset="0"/>
                <a:ea typeface="Cambria" panose="02040503050406030204" pitchFamily="18" charset="0"/>
              </a:rPr>
              <a:t>UNIT_INCREMENT</a:t>
            </a:r>
          </a:p>
          <a:p>
            <a:pPr lvl="1"/>
            <a:r>
              <a:rPr lang="en-GB" sz="2000" dirty="0">
                <a:latin typeface="Cambria" panose="02040503050406030204" pitchFamily="18" charset="0"/>
                <a:ea typeface="Cambria" panose="02040503050406030204" pitchFamily="18" charset="0"/>
              </a:rPr>
              <a:t>The button at the end of the scroll bar was clicked to increase its value.</a:t>
            </a:r>
          </a:p>
        </p:txBody>
      </p:sp>
      <p:sp>
        <p:nvSpPr>
          <p:cNvPr id="2" name="Slide Number Placeholder 1"/>
          <p:cNvSpPr>
            <a:spLocks noGrp="1"/>
          </p:cNvSpPr>
          <p:nvPr>
            <p:ph type="sldNum" sz="quarter" idx="12"/>
          </p:nvPr>
        </p:nvSpPr>
        <p:spPr/>
        <p:txBody>
          <a:bodyPr/>
          <a:lstStyle/>
          <a:p>
            <a:fld id="{CABF7EEA-85D2-497E-9C95-F3C1348C26C9}" type="slidenum">
              <a:rPr lang="en-IN" smtClean="0"/>
              <a:pPr/>
              <a:t>89</a:t>
            </a:fld>
            <a:endParaRPr lang="en-IN"/>
          </a:p>
        </p:txBody>
      </p:sp>
    </p:spTree>
    <p:extLst>
      <p:ext uri="{BB962C8B-B14F-4D97-AF65-F5344CB8AC3E}">
        <p14:creationId xmlns:p14="http://schemas.microsoft.com/office/powerpoint/2010/main" val="178460475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457200" y="1196752"/>
            <a:ext cx="8229600" cy="4929411"/>
          </a:xfrm>
        </p:spPr>
        <p:txBody>
          <a:bodyPr>
            <a:normAutofit fontScale="85000" lnSpcReduction="10000"/>
          </a:bodyPr>
          <a:lstStyle/>
          <a:p>
            <a:r>
              <a:rPr lang="en-GB" dirty="0">
                <a:latin typeface="Cambria" panose="02040503050406030204" pitchFamily="18" charset="0"/>
                <a:ea typeface="Cambria" panose="02040503050406030204" pitchFamily="18" charset="0"/>
              </a:rPr>
              <a:t>The type of the adjustment event may be obtained by the </a:t>
            </a:r>
            <a:r>
              <a:rPr lang="en-GB" dirty="0" err="1">
                <a:latin typeface="Cambria" panose="02040503050406030204" pitchFamily="18" charset="0"/>
                <a:ea typeface="Cambria" panose="02040503050406030204" pitchFamily="18" charset="0"/>
              </a:rPr>
              <a:t>getAdjustmentType</a:t>
            </a:r>
            <a:r>
              <a:rPr lang="en-GB" dirty="0">
                <a:latin typeface="Cambria" panose="02040503050406030204" pitchFamily="18" charset="0"/>
                <a:ea typeface="Cambria" panose="02040503050406030204" pitchFamily="18" charset="0"/>
              </a:rPr>
              <a:t>( ) method. It returns one of the constants defined by </a:t>
            </a:r>
            <a:r>
              <a:rPr lang="en-GB" dirty="0" err="1">
                <a:latin typeface="Cambria" panose="02040503050406030204" pitchFamily="18" charset="0"/>
                <a:ea typeface="Cambria" panose="02040503050406030204" pitchFamily="18" charset="0"/>
              </a:rPr>
              <a:t>AdjustmentEvent</a:t>
            </a:r>
            <a:r>
              <a:rPr lang="en-GB" dirty="0">
                <a:latin typeface="Cambria" panose="02040503050406030204" pitchFamily="18" charset="0"/>
                <a:ea typeface="Cambria" panose="02040503050406030204" pitchFamily="18" charset="0"/>
              </a:rPr>
              <a:t>. </a:t>
            </a:r>
          </a:p>
          <a:p>
            <a:r>
              <a:rPr lang="en-GB" dirty="0">
                <a:latin typeface="Cambria" panose="02040503050406030204" pitchFamily="18" charset="0"/>
                <a:ea typeface="Cambria" panose="02040503050406030204" pitchFamily="18" charset="0"/>
              </a:rPr>
              <a:t>The general form is shown here:</a:t>
            </a:r>
          </a:p>
          <a:p>
            <a:pPr lvl="1"/>
            <a:r>
              <a:rPr lang="en-GB" sz="3300" b="1" dirty="0" err="1">
                <a:latin typeface="Cambria" panose="02040503050406030204" pitchFamily="18" charset="0"/>
                <a:ea typeface="Cambria" panose="02040503050406030204" pitchFamily="18" charset="0"/>
              </a:rPr>
              <a:t>int</a:t>
            </a:r>
            <a:r>
              <a:rPr lang="en-GB" sz="3300" b="1" dirty="0">
                <a:latin typeface="Cambria" panose="02040503050406030204" pitchFamily="18" charset="0"/>
                <a:ea typeface="Cambria" panose="02040503050406030204" pitchFamily="18" charset="0"/>
              </a:rPr>
              <a:t> </a:t>
            </a:r>
            <a:r>
              <a:rPr lang="en-GB" sz="3300" b="1" dirty="0" err="1">
                <a:latin typeface="Cambria" panose="02040503050406030204" pitchFamily="18" charset="0"/>
                <a:ea typeface="Cambria" panose="02040503050406030204" pitchFamily="18" charset="0"/>
              </a:rPr>
              <a:t>getAdjustmentType</a:t>
            </a:r>
            <a:r>
              <a:rPr lang="en-GB" sz="3300" b="1" dirty="0">
                <a:latin typeface="Cambria" panose="02040503050406030204" pitchFamily="18" charset="0"/>
                <a:ea typeface="Cambria" panose="02040503050406030204" pitchFamily="18" charset="0"/>
              </a:rPr>
              <a:t>( )</a:t>
            </a:r>
          </a:p>
          <a:p>
            <a:r>
              <a:rPr lang="en-GB" dirty="0">
                <a:latin typeface="Cambria" panose="02040503050406030204" pitchFamily="18" charset="0"/>
                <a:ea typeface="Cambria" panose="02040503050406030204" pitchFamily="18" charset="0"/>
              </a:rPr>
              <a:t>The amount of the adjustment can be obtained from the </a:t>
            </a:r>
            <a:r>
              <a:rPr lang="en-GB" dirty="0" err="1">
                <a:latin typeface="Cambria" panose="02040503050406030204" pitchFamily="18" charset="0"/>
                <a:ea typeface="Cambria" panose="02040503050406030204" pitchFamily="18" charset="0"/>
              </a:rPr>
              <a:t>getValue</a:t>
            </a:r>
            <a:r>
              <a:rPr lang="en-GB" dirty="0">
                <a:latin typeface="Cambria" panose="02040503050406030204" pitchFamily="18" charset="0"/>
                <a:ea typeface="Cambria" panose="02040503050406030204" pitchFamily="18" charset="0"/>
              </a:rPr>
              <a:t>( ) method, shown here:</a:t>
            </a:r>
          </a:p>
          <a:p>
            <a:pPr lvl="1"/>
            <a:r>
              <a:rPr lang="en-GB" sz="3300" b="1" dirty="0" err="1">
                <a:latin typeface="Cambria" panose="02040503050406030204" pitchFamily="18" charset="0"/>
                <a:ea typeface="Cambria" panose="02040503050406030204" pitchFamily="18" charset="0"/>
              </a:rPr>
              <a:t>int</a:t>
            </a:r>
            <a:r>
              <a:rPr lang="en-GB" sz="3300" b="1" dirty="0">
                <a:latin typeface="Cambria" panose="02040503050406030204" pitchFamily="18" charset="0"/>
                <a:ea typeface="Cambria" panose="02040503050406030204" pitchFamily="18" charset="0"/>
              </a:rPr>
              <a:t> </a:t>
            </a:r>
            <a:r>
              <a:rPr lang="en-GB" sz="3300" b="1" dirty="0" err="1">
                <a:latin typeface="Cambria" panose="02040503050406030204" pitchFamily="18" charset="0"/>
                <a:ea typeface="Cambria" panose="02040503050406030204" pitchFamily="18" charset="0"/>
              </a:rPr>
              <a:t>getValue</a:t>
            </a:r>
            <a:r>
              <a:rPr lang="en-GB" sz="3300" b="1" dirty="0">
                <a:latin typeface="Cambria" panose="02040503050406030204" pitchFamily="18" charset="0"/>
                <a:ea typeface="Cambria" panose="02040503050406030204" pitchFamily="18" charset="0"/>
              </a:rPr>
              <a:t>( )	</a:t>
            </a:r>
          </a:p>
          <a:p>
            <a:r>
              <a:rPr lang="en-GB" dirty="0">
                <a:latin typeface="Cambria" panose="02040503050406030204" pitchFamily="18" charset="0"/>
                <a:ea typeface="Cambria" panose="02040503050406030204" pitchFamily="18" charset="0"/>
              </a:rPr>
              <a:t>For example, when a scroll bar is manipulated, this method returns the value represented by that change.</a:t>
            </a:r>
          </a:p>
        </p:txBody>
      </p:sp>
      <p:sp>
        <p:nvSpPr>
          <p:cNvPr id="4" name="Slide Number Placeholder 3"/>
          <p:cNvSpPr>
            <a:spLocks noGrp="1"/>
          </p:cNvSpPr>
          <p:nvPr>
            <p:ph type="sldNum" sz="quarter" idx="12"/>
          </p:nvPr>
        </p:nvSpPr>
        <p:spPr/>
        <p:txBody>
          <a:bodyPr/>
          <a:lstStyle/>
          <a:p>
            <a:fld id="{CABF7EEA-85D2-497E-9C95-F3C1348C26C9}" type="slidenum">
              <a:rPr lang="en-IN" smtClean="0"/>
              <a:pPr/>
              <a:t>90</a:t>
            </a:fld>
            <a:endParaRPr lang="en-IN"/>
          </a:p>
        </p:txBody>
      </p:sp>
    </p:spTree>
    <p:extLst>
      <p:ext uri="{BB962C8B-B14F-4D97-AF65-F5344CB8AC3E}">
        <p14:creationId xmlns:p14="http://schemas.microsoft.com/office/powerpoint/2010/main" val="145678942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err="1"/>
              <a:t>AdjustmentListener</a:t>
            </a:r>
            <a:r>
              <a:rPr lang="en-GB" b="1" dirty="0"/>
              <a:t> Interface</a:t>
            </a:r>
            <a:endParaRPr lang="en-GB" dirty="0"/>
          </a:p>
        </p:txBody>
      </p:sp>
      <p:sp>
        <p:nvSpPr>
          <p:cNvPr id="3" name="Content Placeholder 2"/>
          <p:cNvSpPr>
            <a:spLocks noGrp="1"/>
          </p:cNvSpPr>
          <p:nvPr>
            <p:ph idx="1"/>
          </p:nvPr>
        </p:nvSpPr>
        <p:spPr>
          <a:xfrm>
            <a:off x="251520" y="1600200"/>
            <a:ext cx="8712968" cy="4525963"/>
          </a:xfrm>
        </p:spPr>
        <p:txBody>
          <a:bodyPr/>
          <a:lstStyle/>
          <a:p>
            <a:r>
              <a:rPr lang="en-GB" dirty="0"/>
              <a:t>This interface defines the </a:t>
            </a:r>
            <a:r>
              <a:rPr lang="en-GB" dirty="0" err="1"/>
              <a:t>adjustmentValueChanged</a:t>
            </a:r>
            <a:r>
              <a:rPr lang="en-GB" dirty="0"/>
              <a:t>( ) method that is invoked when an adjustment event occurs. </a:t>
            </a:r>
          </a:p>
          <a:p>
            <a:r>
              <a:rPr lang="en-GB" dirty="0"/>
              <a:t>Its general form is shown here:</a:t>
            </a:r>
          </a:p>
          <a:p>
            <a:r>
              <a:rPr lang="en-GB" sz="2800" b="1" dirty="0"/>
              <a:t>void </a:t>
            </a:r>
            <a:r>
              <a:rPr lang="en-GB" sz="2800" b="1" dirty="0" err="1"/>
              <a:t>adjustmentValueChanged</a:t>
            </a:r>
            <a:r>
              <a:rPr lang="en-GB" sz="2800" b="1" dirty="0"/>
              <a:t>(</a:t>
            </a:r>
            <a:r>
              <a:rPr lang="en-GB" sz="2800" b="1" dirty="0" err="1"/>
              <a:t>AdjustmentEvent</a:t>
            </a:r>
            <a:r>
              <a:rPr lang="en-GB" sz="2800" b="1" dirty="0"/>
              <a:t> </a:t>
            </a:r>
            <a:r>
              <a:rPr lang="en-GB" sz="2800" b="1" dirty="0" err="1"/>
              <a:t>ae</a:t>
            </a:r>
            <a:r>
              <a:rPr lang="en-GB" sz="2800" b="1" dirty="0"/>
              <a:t>)</a:t>
            </a:r>
          </a:p>
        </p:txBody>
      </p:sp>
      <p:sp>
        <p:nvSpPr>
          <p:cNvPr id="4" name="Slide Number Placeholder 3"/>
          <p:cNvSpPr>
            <a:spLocks noGrp="1"/>
          </p:cNvSpPr>
          <p:nvPr>
            <p:ph type="sldNum" sz="quarter" idx="12"/>
          </p:nvPr>
        </p:nvSpPr>
        <p:spPr/>
        <p:txBody>
          <a:bodyPr/>
          <a:lstStyle/>
          <a:p>
            <a:fld id="{CABF7EEA-85D2-497E-9C95-F3C1348C26C9}" type="slidenum">
              <a:rPr lang="en-IN" smtClean="0"/>
              <a:pPr/>
              <a:t>91</a:t>
            </a:fld>
            <a:endParaRPr lang="en-IN"/>
          </a:p>
        </p:txBody>
      </p:sp>
    </p:spTree>
    <p:extLst>
      <p:ext uri="{BB962C8B-B14F-4D97-AF65-F5344CB8AC3E}">
        <p14:creationId xmlns:p14="http://schemas.microsoft.com/office/powerpoint/2010/main" val="407219941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1"/>
            <a:ext cx="8229600" cy="5429288"/>
          </a:xfrm>
        </p:spPr>
        <p:txBody>
          <a:bodyPr>
            <a:normAutofit/>
          </a:bodyPr>
          <a:lstStyle/>
          <a:p>
            <a:pPr algn="ctr">
              <a:buNone/>
            </a:pPr>
            <a:endParaRPr lang="en-US" sz="4800" b="1" dirty="0">
              <a:solidFill>
                <a:srgbClr val="7030A0"/>
              </a:solidFill>
            </a:endParaRPr>
          </a:p>
          <a:p>
            <a:pPr algn="ctr">
              <a:buNone/>
            </a:pPr>
            <a:endParaRPr lang="en-US" sz="4800" b="1" dirty="0">
              <a:solidFill>
                <a:srgbClr val="7030A0"/>
              </a:solidFill>
            </a:endParaRPr>
          </a:p>
          <a:p>
            <a:pPr algn="ctr">
              <a:buNone/>
            </a:pPr>
            <a:r>
              <a:rPr lang="en-US" sz="5400" b="1" dirty="0">
                <a:solidFill>
                  <a:srgbClr val="7030A0"/>
                </a:solidFill>
              </a:rPr>
              <a:t>Summary of Event Classes &amp; Listeners</a:t>
            </a:r>
            <a:endParaRPr lang="en-IN" sz="5400" b="1" dirty="0">
              <a:solidFill>
                <a:srgbClr val="7030A0"/>
              </a:solidFill>
            </a:endParaRPr>
          </a:p>
        </p:txBody>
      </p:sp>
      <p:sp>
        <p:nvSpPr>
          <p:cNvPr id="5" name="Slide Number Placeholder 4"/>
          <p:cNvSpPr>
            <a:spLocks noGrp="1"/>
          </p:cNvSpPr>
          <p:nvPr>
            <p:ph type="sldNum" sz="quarter" idx="12"/>
          </p:nvPr>
        </p:nvSpPr>
        <p:spPr/>
        <p:txBody>
          <a:bodyPr/>
          <a:lstStyle/>
          <a:p>
            <a:fld id="{CABF7EEA-85D2-497E-9C95-F3C1348C26C9}" type="slidenum">
              <a:rPr lang="en-IN" smtClean="0"/>
              <a:pPr/>
              <a:t>92</a:t>
            </a:fld>
            <a:endParaRPr lang="en-IN"/>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4" name="Picture 4" descr="3"/>
          <p:cNvPicPr>
            <a:picLocks noChangeAspect="1" noChangeArrowheads="1"/>
          </p:cNvPicPr>
          <p:nvPr/>
        </p:nvPicPr>
        <p:blipFill>
          <a:blip r:embed="rId2"/>
          <a:srcRect/>
          <a:stretch>
            <a:fillRect/>
          </a:stretch>
        </p:blipFill>
        <p:spPr bwMode="auto">
          <a:xfrm>
            <a:off x="0" y="228600"/>
            <a:ext cx="9144000" cy="6629400"/>
          </a:xfrm>
          <a:prstGeom prst="rect">
            <a:avLst/>
          </a:prstGeom>
          <a:noFill/>
        </p:spPr>
      </p:pic>
      <p:sp>
        <p:nvSpPr>
          <p:cNvPr id="4" name="Slide Number Placeholder 3"/>
          <p:cNvSpPr>
            <a:spLocks noGrp="1"/>
          </p:cNvSpPr>
          <p:nvPr>
            <p:ph type="sldNum" sz="quarter" idx="12"/>
          </p:nvPr>
        </p:nvSpPr>
        <p:spPr/>
        <p:txBody>
          <a:bodyPr/>
          <a:lstStyle/>
          <a:p>
            <a:fld id="{CABF7EEA-85D2-497E-9C95-F3C1348C26C9}" type="slidenum">
              <a:rPr lang="en-IN" smtClean="0"/>
              <a:pPr/>
              <a:t>93</a:t>
            </a:fld>
            <a:endParaRPr lang="en-IN"/>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8" name="Picture 4" descr="4"/>
          <p:cNvPicPr>
            <a:picLocks noChangeAspect="1" noChangeArrowheads="1"/>
          </p:cNvPicPr>
          <p:nvPr/>
        </p:nvPicPr>
        <p:blipFill>
          <a:blip r:embed="rId2"/>
          <a:srcRect/>
          <a:stretch>
            <a:fillRect/>
          </a:stretch>
        </p:blipFill>
        <p:spPr bwMode="auto">
          <a:xfrm>
            <a:off x="0" y="0"/>
            <a:ext cx="9144000" cy="6858000"/>
          </a:xfrm>
          <a:prstGeom prst="rect">
            <a:avLst/>
          </a:prstGeom>
          <a:noFill/>
        </p:spPr>
      </p:pic>
      <p:sp>
        <p:nvSpPr>
          <p:cNvPr id="4" name="Slide Number Placeholder 3"/>
          <p:cNvSpPr>
            <a:spLocks noGrp="1"/>
          </p:cNvSpPr>
          <p:nvPr>
            <p:ph type="sldNum" sz="quarter" idx="12"/>
          </p:nvPr>
        </p:nvSpPr>
        <p:spPr/>
        <p:txBody>
          <a:bodyPr/>
          <a:lstStyle/>
          <a:p>
            <a:fld id="{CABF7EEA-85D2-497E-9C95-F3C1348C26C9}" type="slidenum">
              <a:rPr lang="en-IN" smtClean="0"/>
              <a:pPr/>
              <a:t>94</a:t>
            </a:fld>
            <a:endParaRPr lang="en-IN"/>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Picture 4" descr="5"/>
          <p:cNvPicPr>
            <a:picLocks noChangeAspect="1" noChangeArrowheads="1"/>
          </p:cNvPicPr>
          <p:nvPr/>
        </p:nvPicPr>
        <p:blipFill>
          <a:blip r:embed="rId2"/>
          <a:srcRect/>
          <a:stretch>
            <a:fillRect/>
          </a:stretch>
        </p:blipFill>
        <p:spPr bwMode="auto">
          <a:xfrm>
            <a:off x="0" y="0"/>
            <a:ext cx="9144000" cy="6858000"/>
          </a:xfrm>
          <a:prstGeom prst="rect">
            <a:avLst/>
          </a:prstGeom>
          <a:noFill/>
        </p:spPr>
      </p:pic>
      <p:sp>
        <p:nvSpPr>
          <p:cNvPr id="4" name="Slide Number Placeholder 3"/>
          <p:cNvSpPr>
            <a:spLocks noGrp="1"/>
          </p:cNvSpPr>
          <p:nvPr>
            <p:ph type="sldNum" sz="quarter" idx="12"/>
          </p:nvPr>
        </p:nvSpPr>
        <p:spPr/>
        <p:txBody>
          <a:bodyPr/>
          <a:lstStyle/>
          <a:p>
            <a:fld id="{CABF7EEA-85D2-497E-9C95-F3C1348C26C9}" type="slidenum">
              <a:rPr lang="en-IN" smtClean="0"/>
              <a:pPr/>
              <a:t>95</a:t>
            </a:fld>
            <a:endParaRPr lang="en-IN"/>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6"/>
          <p:cNvPicPr>
            <a:picLocks noChangeAspect="1" noChangeArrowheads="1"/>
          </p:cNvPicPr>
          <p:nvPr/>
        </p:nvPicPr>
        <p:blipFill>
          <a:blip r:embed="rId2"/>
          <a:srcRect/>
          <a:stretch>
            <a:fillRect/>
          </a:stretch>
        </p:blipFill>
        <p:spPr bwMode="auto">
          <a:xfrm>
            <a:off x="0" y="0"/>
            <a:ext cx="8991600" cy="6858000"/>
          </a:xfrm>
          <a:prstGeom prst="rect">
            <a:avLst/>
          </a:prstGeom>
          <a:noFill/>
        </p:spPr>
      </p:pic>
      <p:sp>
        <p:nvSpPr>
          <p:cNvPr id="4" name="Slide Number Placeholder 3"/>
          <p:cNvSpPr>
            <a:spLocks noGrp="1"/>
          </p:cNvSpPr>
          <p:nvPr>
            <p:ph type="sldNum" sz="quarter" idx="12"/>
          </p:nvPr>
        </p:nvSpPr>
        <p:spPr/>
        <p:txBody>
          <a:bodyPr/>
          <a:lstStyle/>
          <a:p>
            <a:fld id="{CABF7EEA-85D2-497E-9C95-F3C1348C26C9}" type="slidenum">
              <a:rPr lang="en-IN" smtClean="0"/>
              <a:pPr/>
              <a:t>96</a:t>
            </a:fld>
            <a:endParaRPr lang="en-IN"/>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Adapter Classes</a:t>
            </a:r>
          </a:p>
        </p:txBody>
      </p:sp>
      <p:sp>
        <p:nvSpPr>
          <p:cNvPr id="3" name="Content Placeholder 2"/>
          <p:cNvSpPr>
            <a:spLocks noGrp="1"/>
          </p:cNvSpPr>
          <p:nvPr>
            <p:ph idx="1"/>
          </p:nvPr>
        </p:nvSpPr>
        <p:spPr/>
        <p:txBody>
          <a:bodyPr>
            <a:normAutofit fontScale="62500" lnSpcReduction="20000"/>
          </a:bodyPr>
          <a:lstStyle/>
          <a:p>
            <a:r>
              <a:rPr lang="en-GB" dirty="0"/>
              <a:t>Java provides a special feature, called an adapter class that can simplify</a:t>
            </a:r>
          </a:p>
          <a:p>
            <a:r>
              <a:rPr lang="en-GB" dirty="0"/>
              <a:t>the creation of event handlers in certain situations. An adapter class provides</a:t>
            </a:r>
          </a:p>
          <a:p>
            <a:r>
              <a:rPr lang="en-GB" dirty="0"/>
              <a:t>an empty implementation of all methods in an event listener interface. Adapter</a:t>
            </a:r>
          </a:p>
          <a:p>
            <a:r>
              <a:rPr lang="en-GB" dirty="0"/>
              <a:t>classes are useful when we want to receive and process only some of the</a:t>
            </a:r>
          </a:p>
          <a:p>
            <a:r>
              <a:rPr lang="en-GB" dirty="0"/>
              <a:t>events that are handled by a particular event listener interface. We can define a</a:t>
            </a:r>
          </a:p>
          <a:p>
            <a:r>
              <a:rPr lang="en-GB" dirty="0"/>
              <a:t>new class to act as an event listener by extending one of the adapter classes</a:t>
            </a:r>
          </a:p>
          <a:p>
            <a:r>
              <a:rPr lang="en-GB" dirty="0"/>
              <a:t>and implementing only those events in which we are interested. For example,</a:t>
            </a:r>
          </a:p>
          <a:p>
            <a:r>
              <a:rPr lang="en-GB" dirty="0"/>
              <a:t>the </a:t>
            </a:r>
            <a:r>
              <a:rPr lang="en-GB" dirty="0" err="1"/>
              <a:t>MouseMotionAdapter</a:t>
            </a:r>
            <a:r>
              <a:rPr lang="en-GB" dirty="0"/>
              <a:t> class has two methods, </a:t>
            </a:r>
            <a:r>
              <a:rPr lang="en-GB" dirty="0" err="1"/>
              <a:t>mouseDragged</a:t>
            </a:r>
            <a:r>
              <a:rPr lang="en-GB" dirty="0"/>
              <a:t>( ) and</a:t>
            </a:r>
          </a:p>
          <a:p>
            <a:r>
              <a:rPr lang="en-GB" dirty="0" err="1"/>
              <a:t>mouseMoved</a:t>
            </a:r>
            <a:r>
              <a:rPr lang="en-GB" dirty="0"/>
              <a:t>( ).</a:t>
            </a:r>
          </a:p>
        </p:txBody>
      </p:sp>
      <p:sp>
        <p:nvSpPr>
          <p:cNvPr id="4" name="Slide Number Placeholder 3"/>
          <p:cNvSpPr>
            <a:spLocks noGrp="1"/>
          </p:cNvSpPr>
          <p:nvPr>
            <p:ph type="sldNum" sz="quarter" idx="12"/>
          </p:nvPr>
        </p:nvSpPr>
        <p:spPr/>
        <p:txBody>
          <a:bodyPr/>
          <a:lstStyle/>
          <a:p>
            <a:fld id="{CABF7EEA-85D2-497E-9C95-F3C1348C26C9}" type="slidenum">
              <a:rPr lang="en-IN" smtClean="0"/>
              <a:pPr/>
              <a:t>97</a:t>
            </a:fld>
            <a:endParaRPr lang="en-IN"/>
          </a:p>
        </p:txBody>
      </p:sp>
    </p:spTree>
    <p:extLst>
      <p:ext uri="{BB962C8B-B14F-4D97-AF65-F5344CB8AC3E}">
        <p14:creationId xmlns:p14="http://schemas.microsoft.com/office/powerpoint/2010/main" val="7578584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5245</TotalTime>
  <Words>6946</Words>
  <Application>Microsoft Office PowerPoint</Application>
  <PresentationFormat>On-screen Show (4:3)</PresentationFormat>
  <Paragraphs>974</Paragraphs>
  <Slides>97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97</vt:i4>
      </vt:variant>
    </vt:vector>
  </HeadingPairs>
  <TitlesOfParts>
    <vt:vector size="104" baseType="lpstr">
      <vt:lpstr>Arial</vt:lpstr>
      <vt:lpstr>Calibri</vt:lpstr>
      <vt:lpstr>Cambria</vt:lpstr>
      <vt:lpstr>Times New Roman</vt:lpstr>
      <vt:lpstr>Verdana</vt:lpstr>
      <vt:lpstr>Wingdings</vt:lpstr>
      <vt:lpstr>Office Theme</vt:lpstr>
      <vt:lpstr>Event Handling </vt:lpstr>
      <vt:lpstr>javax</vt:lpstr>
      <vt:lpstr>Why is Swing Called Swing?</vt:lpstr>
      <vt:lpstr>Event Handling</vt:lpstr>
      <vt:lpstr>PowerPoint Presentation</vt:lpstr>
      <vt:lpstr>Delegation Event Model</vt:lpstr>
      <vt:lpstr>Delegation Event Model</vt:lpstr>
      <vt:lpstr>PowerPoint Presentation</vt:lpstr>
      <vt:lpstr>PowerPoint Presentation</vt:lpstr>
      <vt:lpstr>Components of Event Handling</vt:lpstr>
      <vt:lpstr>Event</vt:lpstr>
      <vt:lpstr>Event Sources</vt:lpstr>
      <vt:lpstr>PowerPoint Presentation</vt:lpstr>
      <vt:lpstr>PowerPoint Presentation</vt:lpstr>
      <vt:lpstr>Event Listeners</vt:lpstr>
      <vt:lpstr>Event Listeners</vt:lpstr>
      <vt:lpstr>PowerPoint Presentation</vt:lpstr>
      <vt:lpstr>PowerPoint Presentation</vt:lpstr>
      <vt:lpstr>Event Classes</vt:lpstr>
      <vt:lpstr>Event Classes</vt:lpstr>
      <vt:lpstr>PowerPoint Presentation</vt:lpstr>
      <vt:lpstr>PowerPoint Presentation</vt:lpstr>
      <vt:lpstr>PowerPoint Presentation</vt:lpstr>
      <vt:lpstr>ActionEvent</vt:lpstr>
      <vt:lpstr>Constructor-1</vt:lpstr>
      <vt:lpstr>Constructor-2</vt:lpstr>
      <vt:lpstr>Methods</vt:lpstr>
      <vt:lpstr>ActionListener Interface</vt:lpstr>
      <vt:lpstr>PowerPoint Presentation</vt:lpstr>
      <vt:lpstr>PowerPoint Presentation</vt:lpstr>
      <vt:lpstr>PowerPoint Presentation</vt:lpstr>
      <vt:lpstr>ComponentEvent class</vt:lpstr>
      <vt:lpstr>PowerPoint Presentation</vt:lpstr>
      <vt:lpstr>ComponentLIstener interface </vt:lpstr>
      <vt:lpstr>PowerPoint Presentation</vt:lpstr>
      <vt:lpstr>PowerPoint Presentation</vt:lpstr>
      <vt:lpstr>PowerPoint Presentation</vt:lpstr>
      <vt:lpstr>ContainerEvent class </vt:lpstr>
      <vt:lpstr>PowerPoint Presentation</vt:lpstr>
      <vt:lpstr>PowerPoint Presentation</vt:lpstr>
      <vt:lpstr>ContainerListener interface</vt:lpstr>
      <vt:lpstr>PowerPoint Presentation</vt:lpstr>
      <vt:lpstr>PowerPoint Presentation</vt:lpstr>
      <vt:lpstr>PowerPoint Presentation</vt:lpstr>
      <vt:lpstr>PowerPoint Presentation</vt:lpstr>
      <vt:lpstr>FocusEvent class </vt:lpstr>
      <vt:lpstr>Constructors</vt:lpstr>
      <vt:lpstr>PowerPoint Presentation</vt:lpstr>
      <vt:lpstr>Methods</vt:lpstr>
      <vt:lpstr>FocusListener interface </vt:lpstr>
      <vt:lpstr>PowerPoint Presentation</vt:lpstr>
      <vt:lpstr>PowerPoint Presentation</vt:lpstr>
      <vt:lpstr>PowerPoint Presentation</vt:lpstr>
      <vt:lpstr>ItemEvent class </vt:lpstr>
      <vt:lpstr>PowerPoint Presentation</vt:lpstr>
      <vt:lpstr>Methods of ItemEvent Class</vt:lpstr>
      <vt:lpstr>ItemListener interface </vt:lpstr>
      <vt:lpstr>PowerPoint Presentation</vt:lpstr>
      <vt:lpstr>PowerPoint Presentation</vt:lpstr>
      <vt:lpstr>PowerPoint Presentation</vt:lpstr>
      <vt:lpstr>KeyEvent class </vt:lpstr>
      <vt:lpstr>PowerPoint Presentation</vt:lpstr>
      <vt:lpstr>Methods of KeyEvent class</vt:lpstr>
      <vt:lpstr>KeyListener Interface</vt:lpstr>
      <vt:lpstr>PowerPoint Presentation</vt:lpstr>
      <vt:lpstr>Methods of KeyListener Interface</vt:lpstr>
      <vt:lpstr>PowerPoint Presentation</vt:lpstr>
      <vt:lpstr>PowerPoint Presentation</vt:lpstr>
      <vt:lpstr>TextEvent class </vt:lpstr>
      <vt:lpstr>TextListener interface </vt:lpstr>
      <vt:lpstr>WindowEvent class </vt:lpstr>
      <vt:lpstr>int constants </vt:lpstr>
      <vt:lpstr>Constructors</vt:lpstr>
      <vt:lpstr>PowerPoint Presentation</vt:lpstr>
      <vt:lpstr>WindowListener interface </vt:lpstr>
      <vt:lpstr>WindowFocusListener interface</vt:lpstr>
      <vt:lpstr>MouseEvent class</vt:lpstr>
      <vt:lpstr>PowerPoint Presentation</vt:lpstr>
      <vt:lpstr>Constructor</vt:lpstr>
      <vt:lpstr>PowerPoint Presentation</vt:lpstr>
      <vt:lpstr>MouseListener Interface</vt:lpstr>
      <vt:lpstr>Methods of MouseListener Interface</vt:lpstr>
      <vt:lpstr>MouseMotionListener Interface</vt:lpstr>
      <vt:lpstr>Methods of MouseMotionListener Interface</vt:lpstr>
      <vt:lpstr>PowerPoint Presentation</vt:lpstr>
      <vt:lpstr>PowerPoint Presentation</vt:lpstr>
      <vt:lpstr>PowerPoint Presentation</vt:lpstr>
      <vt:lpstr>PowerPoint Presentation</vt:lpstr>
      <vt:lpstr>AdjustmentEvent</vt:lpstr>
      <vt:lpstr>PowerPoint Presentation</vt:lpstr>
      <vt:lpstr>AdjustmentListener Interface</vt:lpstr>
      <vt:lpstr>PowerPoint Presentation</vt:lpstr>
      <vt:lpstr>PowerPoint Presentation</vt:lpstr>
      <vt:lpstr>PowerPoint Presentation</vt:lpstr>
      <vt:lpstr>PowerPoint Presentation</vt:lpstr>
      <vt:lpstr>PowerPoint Presentation</vt:lpstr>
      <vt:lpstr>Adapter Classes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Handling</dc:title>
  <dc:creator>Prag</dc:creator>
  <cp:lastModifiedBy>Itsme_tanu 23</cp:lastModifiedBy>
  <cp:revision>97</cp:revision>
  <dcterms:created xsi:type="dcterms:W3CDTF">2016-01-18T03:57:12Z</dcterms:created>
  <dcterms:modified xsi:type="dcterms:W3CDTF">2023-09-23T08:35:46Z</dcterms:modified>
</cp:coreProperties>
</file>