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4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97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6" r:id="rId87"/>
    <p:sldId id="347" r:id="rId88"/>
    <p:sldId id="348" r:id="rId89"/>
    <p:sldId id="349" r:id="rId90"/>
    <p:sldId id="350" r:id="rId91"/>
    <p:sldId id="351" r:id="rId92"/>
    <p:sldId id="352" r:id="rId9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66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27E72A-CC0A-4FF1-9285-F27AF6C5A959}" type="datetimeFigureOut">
              <a:rPr lang="en-GB" smtClean="0"/>
              <a:t>22/09/2019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41D8D-A0E9-4D9A-AC6C-8A139E4EEF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7004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441D8D-A0E9-4D9A-AC6C-8A139E4EEFC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7786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90512" y="2546413"/>
            <a:ext cx="438150" cy="474980"/>
          </a:xfrm>
          <a:custGeom>
            <a:avLst/>
            <a:gdLst/>
            <a:ahLst/>
            <a:cxnLst/>
            <a:rect l="l" t="t" r="r" b="b"/>
            <a:pathLst>
              <a:path w="438150" h="474980">
                <a:moveTo>
                  <a:pt x="0" y="474662"/>
                </a:moveTo>
                <a:lnTo>
                  <a:pt x="437667" y="474662"/>
                </a:lnTo>
                <a:lnTo>
                  <a:pt x="437667" y="0"/>
                </a:lnTo>
                <a:lnTo>
                  <a:pt x="0" y="0"/>
                </a:lnTo>
                <a:lnTo>
                  <a:pt x="0" y="474662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673468" y="2546413"/>
            <a:ext cx="328244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414337" y="2968688"/>
            <a:ext cx="422275" cy="474980"/>
          </a:xfrm>
          <a:custGeom>
            <a:avLst/>
            <a:gdLst/>
            <a:ahLst/>
            <a:cxnLst/>
            <a:rect l="l" t="t" r="r" b="b"/>
            <a:pathLst>
              <a:path w="422275" h="474979">
                <a:moveTo>
                  <a:pt x="0" y="474662"/>
                </a:moveTo>
                <a:lnTo>
                  <a:pt x="421817" y="474662"/>
                </a:lnTo>
                <a:lnTo>
                  <a:pt x="421817" y="0"/>
                </a:lnTo>
                <a:lnTo>
                  <a:pt x="0" y="0"/>
                </a:lnTo>
                <a:lnTo>
                  <a:pt x="0" y="474662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783437" y="2968688"/>
            <a:ext cx="369100" cy="4746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0" y="2895600"/>
            <a:ext cx="560387" cy="4222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650875" y="24384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29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315912" y="3260788"/>
            <a:ext cx="8693150" cy="5556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9644" y="2240407"/>
            <a:ext cx="700471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85213" y="3820134"/>
            <a:ext cx="4973573" cy="1684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Mr. </a:t>
            </a:r>
            <a:r>
              <a:rPr spc="-5" dirty="0"/>
              <a:t>Nilesh </a:t>
            </a:r>
            <a:r>
              <a:rPr spc="-10" dirty="0"/>
              <a:t>Vishwasrao</a:t>
            </a:r>
            <a:r>
              <a:rPr spc="5" dirty="0"/>
              <a:t> </a:t>
            </a:r>
            <a:r>
              <a:rPr spc="-15" dirty="0"/>
              <a:t>Patil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F5FFD5-476C-4034-BF77-1AF7F7F8765B}" type="datetime1">
              <a:rPr lang="en-US" smtClean="0"/>
              <a:t>9/22/2019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17512" y="1098613"/>
            <a:ext cx="438150" cy="474980"/>
          </a:xfrm>
          <a:custGeom>
            <a:avLst/>
            <a:gdLst/>
            <a:ahLst/>
            <a:cxnLst/>
            <a:rect l="l" t="t" r="r" b="b"/>
            <a:pathLst>
              <a:path w="438150" h="474980">
                <a:moveTo>
                  <a:pt x="0" y="474662"/>
                </a:moveTo>
                <a:lnTo>
                  <a:pt x="438150" y="474662"/>
                </a:lnTo>
                <a:lnTo>
                  <a:pt x="438150" y="0"/>
                </a:lnTo>
                <a:lnTo>
                  <a:pt x="0" y="0"/>
                </a:lnTo>
                <a:lnTo>
                  <a:pt x="0" y="474662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00100" y="1098613"/>
            <a:ext cx="328612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541337" y="1520888"/>
            <a:ext cx="422275" cy="474980"/>
          </a:xfrm>
          <a:custGeom>
            <a:avLst/>
            <a:gdLst/>
            <a:ahLst/>
            <a:cxnLst/>
            <a:rect l="l" t="t" r="r" b="b"/>
            <a:pathLst>
              <a:path w="422275" h="474980">
                <a:moveTo>
                  <a:pt x="0" y="474662"/>
                </a:moveTo>
                <a:lnTo>
                  <a:pt x="422275" y="474662"/>
                </a:lnTo>
                <a:lnTo>
                  <a:pt x="422275" y="0"/>
                </a:lnTo>
                <a:lnTo>
                  <a:pt x="0" y="0"/>
                </a:lnTo>
                <a:lnTo>
                  <a:pt x="0" y="474662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99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Mr. </a:t>
            </a:r>
            <a:r>
              <a:rPr spc="-5" dirty="0"/>
              <a:t>Nilesh </a:t>
            </a:r>
            <a:r>
              <a:rPr spc="-10" dirty="0"/>
              <a:t>Vishwasrao</a:t>
            </a:r>
            <a:r>
              <a:rPr spc="5" dirty="0"/>
              <a:t> </a:t>
            </a:r>
            <a:r>
              <a:rPr spc="-15" dirty="0"/>
              <a:t>Patil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546E7-0BA3-48CC-9296-B998BC6417AA}" type="datetime1">
              <a:rPr lang="en-US" smtClean="0"/>
              <a:t>9/22/2019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17512" y="1098613"/>
            <a:ext cx="438150" cy="474980"/>
          </a:xfrm>
          <a:custGeom>
            <a:avLst/>
            <a:gdLst/>
            <a:ahLst/>
            <a:cxnLst/>
            <a:rect l="l" t="t" r="r" b="b"/>
            <a:pathLst>
              <a:path w="438150" h="474980">
                <a:moveTo>
                  <a:pt x="0" y="474662"/>
                </a:moveTo>
                <a:lnTo>
                  <a:pt x="438150" y="474662"/>
                </a:lnTo>
                <a:lnTo>
                  <a:pt x="438150" y="0"/>
                </a:lnTo>
                <a:lnTo>
                  <a:pt x="0" y="0"/>
                </a:lnTo>
                <a:lnTo>
                  <a:pt x="0" y="474662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00100" y="1098613"/>
            <a:ext cx="328612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541337" y="1520888"/>
            <a:ext cx="422275" cy="474980"/>
          </a:xfrm>
          <a:custGeom>
            <a:avLst/>
            <a:gdLst/>
            <a:ahLst/>
            <a:cxnLst/>
            <a:rect l="l" t="t" r="r" b="b"/>
            <a:pathLst>
              <a:path w="422275" h="474980">
                <a:moveTo>
                  <a:pt x="0" y="474662"/>
                </a:moveTo>
                <a:lnTo>
                  <a:pt x="422275" y="474662"/>
                </a:lnTo>
                <a:lnTo>
                  <a:pt x="422275" y="0"/>
                </a:lnTo>
                <a:lnTo>
                  <a:pt x="0" y="0"/>
                </a:lnTo>
                <a:lnTo>
                  <a:pt x="0" y="474662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99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224653" y="1963487"/>
            <a:ext cx="3515995" cy="3825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Mr. </a:t>
            </a:r>
            <a:r>
              <a:rPr spc="-5" dirty="0"/>
              <a:t>Nilesh </a:t>
            </a:r>
            <a:r>
              <a:rPr spc="-10" dirty="0"/>
              <a:t>Vishwasrao</a:t>
            </a:r>
            <a:r>
              <a:rPr spc="5" dirty="0"/>
              <a:t> </a:t>
            </a:r>
            <a:r>
              <a:rPr spc="-15" dirty="0"/>
              <a:t>Patil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503C5-C43A-471C-9A30-3C54E7530A72}" type="datetime1">
              <a:rPr lang="en-US" smtClean="0"/>
              <a:t>9/22/2019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17512" y="1098613"/>
            <a:ext cx="438150" cy="474980"/>
          </a:xfrm>
          <a:custGeom>
            <a:avLst/>
            <a:gdLst/>
            <a:ahLst/>
            <a:cxnLst/>
            <a:rect l="l" t="t" r="r" b="b"/>
            <a:pathLst>
              <a:path w="438150" h="474980">
                <a:moveTo>
                  <a:pt x="0" y="474662"/>
                </a:moveTo>
                <a:lnTo>
                  <a:pt x="438150" y="474662"/>
                </a:lnTo>
                <a:lnTo>
                  <a:pt x="438150" y="0"/>
                </a:lnTo>
                <a:lnTo>
                  <a:pt x="0" y="0"/>
                </a:lnTo>
                <a:lnTo>
                  <a:pt x="0" y="474662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00100" y="1098613"/>
            <a:ext cx="328612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541337" y="1520888"/>
            <a:ext cx="422275" cy="474980"/>
          </a:xfrm>
          <a:custGeom>
            <a:avLst/>
            <a:gdLst/>
            <a:ahLst/>
            <a:cxnLst/>
            <a:rect l="l" t="t" r="r" b="b"/>
            <a:pathLst>
              <a:path w="422275" h="474980">
                <a:moveTo>
                  <a:pt x="0" y="474662"/>
                </a:moveTo>
                <a:lnTo>
                  <a:pt x="422275" y="474662"/>
                </a:lnTo>
                <a:lnTo>
                  <a:pt x="422275" y="0"/>
                </a:lnTo>
                <a:lnTo>
                  <a:pt x="0" y="0"/>
                </a:lnTo>
                <a:lnTo>
                  <a:pt x="0" y="474662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99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Mr. </a:t>
            </a:r>
            <a:r>
              <a:rPr spc="-5" dirty="0"/>
              <a:t>Nilesh </a:t>
            </a:r>
            <a:r>
              <a:rPr spc="-10" dirty="0"/>
              <a:t>Vishwasrao</a:t>
            </a:r>
            <a:r>
              <a:rPr spc="5" dirty="0"/>
              <a:t> </a:t>
            </a:r>
            <a:r>
              <a:rPr spc="-15" dirty="0"/>
              <a:t>Patil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F168D7-AD35-4D16-AB14-E2C20B86C4EC}" type="datetime1">
              <a:rPr lang="en-US" smtClean="0"/>
              <a:t>9/22/2019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Mr. </a:t>
            </a:r>
            <a:r>
              <a:rPr spc="-5" dirty="0"/>
              <a:t>Nilesh </a:t>
            </a:r>
            <a:r>
              <a:rPr spc="-10" dirty="0"/>
              <a:t>Vishwasrao</a:t>
            </a:r>
            <a:r>
              <a:rPr spc="5" dirty="0"/>
              <a:t> </a:t>
            </a:r>
            <a:r>
              <a:rPr spc="-15" dirty="0"/>
              <a:t>Patil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6D941-6EBE-447E-B851-213529EE07E4}" type="datetime1">
              <a:rPr lang="en-US" smtClean="0"/>
              <a:t>9/22/2019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417512" y="1098613"/>
            <a:ext cx="438150" cy="474980"/>
          </a:xfrm>
          <a:custGeom>
            <a:avLst/>
            <a:gdLst/>
            <a:ahLst/>
            <a:cxnLst/>
            <a:rect l="l" t="t" r="r" b="b"/>
            <a:pathLst>
              <a:path w="438150" h="474980">
                <a:moveTo>
                  <a:pt x="0" y="474662"/>
                </a:moveTo>
                <a:lnTo>
                  <a:pt x="438150" y="474662"/>
                </a:lnTo>
                <a:lnTo>
                  <a:pt x="438150" y="0"/>
                </a:lnTo>
                <a:lnTo>
                  <a:pt x="0" y="0"/>
                </a:lnTo>
                <a:lnTo>
                  <a:pt x="0" y="474662"/>
                </a:lnTo>
                <a:close/>
              </a:path>
            </a:pathLst>
          </a:custGeom>
          <a:solidFill>
            <a:srgbClr val="FFC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00100" y="1098613"/>
            <a:ext cx="328612" cy="4746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9969" y="1028826"/>
            <a:ext cx="315087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99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867" y="1711061"/>
            <a:ext cx="8616315" cy="4392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749802" y="6509628"/>
            <a:ext cx="2099310" cy="240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Mr. </a:t>
            </a:r>
            <a:r>
              <a:rPr spc="-5" dirty="0"/>
              <a:t>Nilesh </a:t>
            </a:r>
            <a:r>
              <a:rPr spc="-10" dirty="0"/>
              <a:t>Vishwasrao</a:t>
            </a:r>
            <a:r>
              <a:rPr spc="5" dirty="0"/>
              <a:t> </a:t>
            </a:r>
            <a:r>
              <a:rPr spc="-15" dirty="0"/>
              <a:t>Patil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4E5B6C-46DA-442A-B20E-162C34C0AB79}" type="datetime1">
              <a:rPr lang="en-US" smtClean="0"/>
              <a:t>9/22/2019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jp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jpg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jp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jp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jpg"/><Relationship Id="rId4" Type="http://schemas.openxmlformats.org/officeDocument/2006/relationships/image" Target="../media/image4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0.jpg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2.jpg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2.jpg"/><Relationship Id="rId4" Type="http://schemas.openxmlformats.org/officeDocument/2006/relationships/image" Target="../media/image1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2.png"/><Relationship Id="rId4" Type="http://schemas.openxmlformats.org/officeDocument/2006/relationships/image" Target="../media/image1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1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google.com/" TargetMode="External"/><Relationship Id="rId4" Type="http://schemas.openxmlformats.org/officeDocument/2006/relationships/image" Target="../media/image1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2.png"/><Relationship Id="rId4" Type="http://schemas.openxmlformats.org/officeDocument/2006/relationships/image" Target="../media/image1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8.png"/><Relationship Id="rId4" Type="http://schemas.openxmlformats.org/officeDocument/2006/relationships/image" Target="../media/image1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6.png"/><Relationship Id="rId4" Type="http://schemas.openxmlformats.org/officeDocument/2006/relationships/image" Target="../media/image12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8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3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6.jpg"/><Relationship Id="rId4" Type="http://schemas.openxmlformats.org/officeDocument/2006/relationships/image" Target="../media/image1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8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2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3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19200" y="2438400"/>
            <a:ext cx="3876675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0" b="1" spc="-5" dirty="0" smtClean="0">
                <a:solidFill>
                  <a:srgbClr val="009900"/>
                </a:solidFill>
                <a:latin typeface="Tahoma"/>
                <a:cs typeface="Tahoma"/>
              </a:rPr>
              <a:t>Servlet</a:t>
            </a:r>
            <a:endParaRPr sz="6000" b="1" dirty="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62502" y="6522328"/>
            <a:ext cx="2073910" cy="2152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400" spc="-65" dirty="0">
                <a:latin typeface="Tahoma"/>
                <a:cs typeface="Tahoma"/>
              </a:rPr>
              <a:t>Mr. </a:t>
            </a:r>
            <a:r>
              <a:rPr sz="1400" spc="-5" dirty="0">
                <a:latin typeface="Tahoma"/>
                <a:cs typeface="Tahoma"/>
              </a:rPr>
              <a:t>Nilesh </a:t>
            </a:r>
            <a:r>
              <a:rPr sz="1400" spc="-10" dirty="0">
                <a:latin typeface="Tahoma"/>
                <a:cs typeface="Tahoma"/>
              </a:rPr>
              <a:t>Vishwasrao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Patil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63709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Web and Web</a:t>
            </a:r>
            <a:r>
              <a:rPr spc="-45" dirty="0"/>
              <a:t> </a:t>
            </a:r>
            <a:r>
              <a:rPr spc="-5" dirty="0"/>
              <a:t>Application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7388" y="1899861"/>
            <a:ext cx="8304212" cy="1927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3975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ahoma"/>
                <a:cs typeface="Tahoma"/>
              </a:rPr>
              <a:t>Web </a:t>
            </a:r>
            <a:r>
              <a:rPr sz="2400" spc="-5" dirty="0">
                <a:latin typeface="Tahoma"/>
                <a:cs typeface="Tahoma"/>
              </a:rPr>
              <a:t>consists </a:t>
            </a:r>
            <a:r>
              <a:rPr sz="2400" dirty="0">
                <a:latin typeface="Tahoma"/>
                <a:cs typeface="Tahoma"/>
              </a:rPr>
              <a:t>of billions of </a:t>
            </a:r>
            <a:r>
              <a:rPr sz="2400" spc="-5" dirty="0">
                <a:latin typeface="Tahoma"/>
                <a:cs typeface="Tahoma"/>
              </a:rPr>
              <a:t>clients and server  connected through wires </a:t>
            </a:r>
            <a:r>
              <a:rPr sz="2400" dirty="0">
                <a:latin typeface="Tahoma"/>
                <a:cs typeface="Tahoma"/>
              </a:rPr>
              <a:t>and </a:t>
            </a:r>
            <a:r>
              <a:rPr sz="2400" spc="-5" dirty="0">
                <a:latin typeface="Tahoma"/>
                <a:cs typeface="Tahoma"/>
              </a:rPr>
              <a:t>wireless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networks.</a:t>
            </a: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web clients </a:t>
            </a:r>
            <a:r>
              <a:rPr sz="2400" dirty="0">
                <a:latin typeface="Tahoma"/>
                <a:cs typeface="Tahoma"/>
              </a:rPr>
              <a:t>make </a:t>
            </a:r>
            <a:r>
              <a:rPr sz="2400" spc="-5" dirty="0">
                <a:latin typeface="Tahoma"/>
                <a:cs typeface="Tahoma"/>
              </a:rPr>
              <a:t>requests to web server. </a:t>
            </a: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 smtClean="0">
                <a:latin typeface="Tahoma"/>
                <a:cs typeface="Tahoma"/>
              </a:rPr>
              <a:t>web </a:t>
            </a:r>
            <a:r>
              <a:rPr sz="2400" spc="-5" dirty="0">
                <a:latin typeface="Tahoma"/>
                <a:cs typeface="Tahoma"/>
              </a:rPr>
              <a:t>server receives the request, finds the resources  and </a:t>
            </a:r>
            <a:r>
              <a:rPr sz="2400" spc="-10" dirty="0">
                <a:latin typeface="Tahoma"/>
                <a:cs typeface="Tahoma"/>
              </a:rPr>
              <a:t>return </a:t>
            </a:r>
            <a:r>
              <a:rPr sz="2400" spc="-5" dirty="0">
                <a:latin typeface="Tahoma"/>
                <a:cs typeface="Tahoma"/>
              </a:rPr>
              <a:t>the response to the </a:t>
            </a:r>
            <a:r>
              <a:rPr sz="2400" spc="-10" dirty="0">
                <a:latin typeface="Tahoma"/>
                <a:cs typeface="Tahoma"/>
              </a:rPr>
              <a:t>client.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400" y="3962398"/>
            <a:ext cx="8991599" cy="2857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40005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Web</a:t>
            </a:r>
            <a:r>
              <a:rPr spc="-40" dirty="0"/>
              <a:t> </a:t>
            </a:r>
            <a:r>
              <a:rPr spc="-5" dirty="0"/>
              <a:t>Application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3114" y="1925829"/>
            <a:ext cx="8676086" cy="45525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91440" indent="-342265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web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application is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 application accessible from the  web.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54965" marR="1019175" indent="-34226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</a:t>
            </a:r>
            <a:r>
              <a:rPr sz="2800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Web </a:t>
            </a:r>
            <a:r>
              <a:rPr sz="28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application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is a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web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site with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dynamic  functionality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on</a:t>
            </a:r>
            <a:r>
              <a:rPr sz="2800" spc="-4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</a:t>
            </a: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server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	</a:t>
            </a:r>
            <a:r>
              <a:rPr sz="28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Google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sz="2800" b="1" spc="-1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Facebook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sz="2800" b="1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Twitter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are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examples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of </a:t>
            </a:r>
            <a:r>
              <a:rPr sz="2800" spc="-1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web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applications.</a:t>
            </a:r>
          </a:p>
          <a:p>
            <a:pPr marL="354965" marR="5080" indent="-34226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 web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application is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composed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of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web components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like 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Servlet,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JSP,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Filter etc.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and other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components such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as 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HTML.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54965" marR="225425" indent="-34226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The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web components typically execute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Web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Server 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and respond to HTTP request.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13646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HTTP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7000" y="2049526"/>
            <a:ext cx="8924594" cy="41216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58800" indent="-342265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HTTP </a:t>
            </a:r>
            <a:r>
              <a:rPr sz="2800" dirty="0">
                <a:latin typeface="Tahoma"/>
                <a:cs typeface="Tahoma"/>
              </a:rPr>
              <a:t>is a </a:t>
            </a:r>
            <a:r>
              <a:rPr sz="2800" spc="-5" dirty="0">
                <a:latin typeface="Tahoma"/>
                <a:cs typeface="Tahoma"/>
              </a:rPr>
              <a:t>protocol that clients and servers </a:t>
            </a:r>
            <a:r>
              <a:rPr sz="2800" dirty="0">
                <a:latin typeface="Tahoma"/>
                <a:cs typeface="Tahoma"/>
              </a:rPr>
              <a:t>use on </a:t>
            </a:r>
            <a:r>
              <a:rPr sz="2800" spc="-5" dirty="0">
                <a:latin typeface="Tahoma"/>
                <a:cs typeface="Tahoma"/>
              </a:rPr>
              <a:t>the </a:t>
            </a:r>
            <a:r>
              <a:rPr sz="2800" spc="-10" dirty="0" smtClean="0">
                <a:latin typeface="Tahoma"/>
                <a:cs typeface="Tahoma"/>
              </a:rPr>
              <a:t>web </a:t>
            </a:r>
            <a:r>
              <a:rPr sz="2800" spc="-5" dirty="0">
                <a:latin typeface="Tahoma"/>
                <a:cs typeface="Tahoma"/>
              </a:rPr>
              <a:t>to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communicate.</a:t>
            </a:r>
            <a:endParaRPr sz="2800" dirty="0">
              <a:latin typeface="Tahoma"/>
              <a:cs typeface="Tahoma"/>
            </a:endParaRPr>
          </a:p>
          <a:p>
            <a:pPr marL="354965" marR="1096010" indent="-34226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It </a:t>
            </a:r>
            <a:r>
              <a:rPr sz="2800" dirty="0">
                <a:latin typeface="Tahoma"/>
                <a:cs typeface="Tahoma"/>
              </a:rPr>
              <a:t>is </a:t>
            </a:r>
            <a:r>
              <a:rPr sz="2800" spc="-5" dirty="0">
                <a:latin typeface="Tahoma"/>
                <a:cs typeface="Tahoma"/>
              </a:rPr>
              <a:t>similar to </a:t>
            </a:r>
            <a:r>
              <a:rPr sz="2800" dirty="0">
                <a:latin typeface="Tahoma"/>
                <a:cs typeface="Tahoma"/>
              </a:rPr>
              <a:t>other </a:t>
            </a:r>
            <a:r>
              <a:rPr sz="2800" spc="-5" dirty="0">
                <a:latin typeface="Tahoma"/>
                <a:cs typeface="Tahoma"/>
              </a:rPr>
              <a:t>internet protocols such </a:t>
            </a:r>
            <a:r>
              <a:rPr sz="2800" dirty="0">
                <a:latin typeface="Tahoma"/>
                <a:cs typeface="Tahoma"/>
              </a:rPr>
              <a:t>as  </a:t>
            </a:r>
            <a:r>
              <a:rPr sz="2800" spc="-5" dirty="0" smtClean="0">
                <a:latin typeface="Tahoma"/>
                <a:cs typeface="Tahoma"/>
              </a:rPr>
              <a:t>SMTP</a:t>
            </a:r>
            <a:r>
              <a:rPr lang="en-GB" sz="2800" spc="-5" dirty="0" smtClean="0">
                <a:latin typeface="Tahoma"/>
                <a:cs typeface="Tahoma"/>
              </a:rPr>
              <a:t> </a:t>
            </a:r>
            <a:r>
              <a:rPr sz="2800" spc="-5" dirty="0" smtClean="0">
                <a:latin typeface="Tahoma"/>
                <a:cs typeface="Tahoma"/>
              </a:rPr>
              <a:t>(</a:t>
            </a:r>
            <a:r>
              <a:rPr sz="2800" spc="-5" dirty="0">
                <a:latin typeface="Tahoma"/>
                <a:cs typeface="Tahoma"/>
              </a:rPr>
              <a:t>Simple Mail </a:t>
            </a:r>
            <a:r>
              <a:rPr sz="2800" dirty="0">
                <a:latin typeface="Tahoma"/>
                <a:cs typeface="Tahoma"/>
              </a:rPr>
              <a:t>Transfer </a:t>
            </a:r>
            <a:r>
              <a:rPr sz="2800" spc="-5" dirty="0">
                <a:latin typeface="Tahoma"/>
                <a:cs typeface="Tahoma"/>
              </a:rPr>
              <a:t>Protocol) and </a:t>
            </a:r>
            <a:r>
              <a:rPr sz="2800" spc="-5" dirty="0" smtClean="0">
                <a:latin typeface="Tahoma"/>
                <a:cs typeface="Tahoma"/>
              </a:rPr>
              <a:t>FTP</a:t>
            </a:r>
            <a:r>
              <a:rPr lang="en-GB" sz="2800" spc="-5" dirty="0" smtClean="0">
                <a:latin typeface="Tahoma"/>
                <a:cs typeface="Tahoma"/>
              </a:rPr>
              <a:t> </a:t>
            </a:r>
            <a:r>
              <a:rPr sz="2800" spc="-5" dirty="0" smtClean="0">
                <a:latin typeface="Tahoma"/>
                <a:cs typeface="Tahoma"/>
              </a:rPr>
              <a:t>(</a:t>
            </a:r>
            <a:r>
              <a:rPr sz="2800" spc="-5" dirty="0">
                <a:latin typeface="Tahoma"/>
                <a:cs typeface="Tahoma"/>
              </a:rPr>
              <a:t>File </a:t>
            </a:r>
            <a:r>
              <a:rPr sz="2800" spc="-5" dirty="0" smtClean="0">
                <a:latin typeface="Tahoma"/>
                <a:cs typeface="Tahoma"/>
              </a:rPr>
              <a:t>Transfer </a:t>
            </a:r>
            <a:r>
              <a:rPr sz="2800" spc="-5" dirty="0">
                <a:latin typeface="Tahoma"/>
                <a:cs typeface="Tahoma"/>
              </a:rPr>
              <a:t>Protocol) </a:t>
            </a:r>
            <a:r>
              <a:rPr sz="2800" dirty="0">
                <a:latin typeface="Tahoma"/>
                <a:cs typeface="Tahoma"/>
              </a:rPr>
              <a:t>but </a:t>
            </a:r>
            <a:r>
              <a:rPr sz="2800" spc="-5" dirty="0">
                <a:latin typeface="Tahoma"/>
                <a:cs typeface="Tahoma"/>
              </a:rPr>
              <a:t>there </a:t>
            </a:r>
            <a:r>
              <a:rPr sz="2800" dirty="0">
                <a:latin typeface="Tahoma"/>
                <a:cs typeface="Tahoma"/>
              </a:rPr>
              <a:t>is one fundamental </a:t>
            </a:r>
            <a:r>
              <a:rPr sz="2800" spc="-5" dirty="0" smtClean="0">
                <a:latin typeface="Tahoma"/>
                <a:cs typeface="Tahoma"/>
              </a:rPr>
              <a:t>difference</a:t>
            </a:r>
            <a:r>
              <a:rPr sz="2800" spc="-5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HTTP </a:t>
            </a:r>
            <a:r>
              <a:rPr sz="2800" dirty="0">
                <a:latin typeface="Tahoma"/>
                <a:cs typeface="Tahoma"/>
              </a:rPr>
              <a:t>is a </a:t>
            </a:r>
            <a:r>
              <a:rPr sz="2800" b="1" dirty="0">
                <a:latin typeface="Tahoma"/>
                <a:cs typeface="Tahoma"/>
              </a:rPr>
              <a:t>stateless </a:t>
            </a:r>
            <a:r>
              <a:rPr sz="2800" b="1" spc="-10" dirty="0">
                <a:latin typeface="Tahoma"/>
                <a:cs typeface="Tahoma"/>
              </a:rPr>
              <a:t>protocol</a:t>
            </a:r>
            <a:r>
              <a:rPr sz="2800" spc="-10" dirty="0">
                <a:latin typeface="Tahoma"/>
                <a:cs typeface="Tahoma"/>
              </a:rPr>
              <a:t>.</a:t>
            </a:r>
            <a:endParaRPr sz="2800" dirty="0">
              <a:latin typeface="Tahoma"/>
              <a:cs typeface="Tahoma"/>
            </a:endParaRPr>
          </a:p>
          <a:p>
            <a:pPr marL="354965" marR="5080" indent="-34226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Tahoma"/>
                <a:cs typeface="Tahoma"/>
              </a:rPr>
              <a:t>The </a:t>
            </a:r>
            <a:r>
              <a:rPr sz="2800" spc="-5" dirty="0">
                <a:latin typeface="Tahoma"/>
                <a:cs typeface="Tahoma"/>
              </a:rPr>
              <a:t>client </a:t>
            </a:r>
            <a:r>
              <a:rPr sz="2800" spc="-10" dirty="0">
                <a:latin typeface="Tahoma"/>
                <a:cs typeface="Tahoma"/>
              </a:rPr>
              <a:t>sends </a:t>
            </a:r>
            <a:r>
              <a:rPr sz="2800" spc="-5" dirty="0">
                <a:latin typeface="Tahoma"/>
                <a:cs typeface="Tahoma"/>
              </a:rPr>
              <a:t>an HTTP request and the server answers </a:t>
            </a:r>
            <a:r>
              <a:rPr sz="2800" spc="-5" dirty="0" smtClean="0">
                <a:latin typeface="Tahoma"/>
                <a:cs typeface="Tahoma"/>
              </a:rPr>
              <a:t>with </a:t>
            </a:r>
            <a:r>
              <a:rPr sz="2800" dirty="0">
                <a:latin typeface="Tahoma"/>
                <a:cs typeface="Tahoma"/>
              </a:rPr>
              <a:t>an </a:t>
            </a:r>
            <a:r>
              <a:rPr sz="2800" spc="-5" dirty="0">
                <a:latin typeface="Tahoma"/>
                <a:cs typeface="Tahoma"/>
              </a:rPr>
              <a:t>HTML </a:t>
            </a:r>
            <a:r>
              <a:rPr sz="2800" dirty="0">
                <a:latin typeface="Tahoma"/>
                <a:cs typeface="Tahoma"/>
              </a:rPr>
              <a:t>page </a:t>
            </a:r>
            <a:r>
              <a:rPr sz="2800" spc="-5" dirty="0">
                <a:latin typeface="Tahoma"/>
                <a:cs typeface="Tahoma"/>
              </a:rPr>
              <a:t>to the client, </a:t>
            </a:r>
            <a:r>
              <a:rPr sz="2800" dirty="0">
                <a:latin typeface="Tahoma"/>
                <a:cs typeface="Tahoma"/>
              </a:rPr>
              <a:t>using</a:t>
            </a:r>
            <a:r>
              <a:rPr sz="2800" spc="-4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HTTP.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13646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HTTP</a:t>
            </a:r>
          </a:p>
        </p:txBody>
      </p:sp>
      <p:sp>
        <p:nvSpPr>
          <p:cNvPr id="7" name="object 7"/>
          <p:cNvSpPr/>
          <p:nvPr/>
        </p:nvSpPr>
        <p:spPr>
          <a:xfrm>
            <a:off x="545763" y="2303780"/>
            <a:ext cx="8123573" cy="306355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1337" y="1520888"/>
            <a:ext cx="422275" cy="307975"/>
          </a:xfrm>
          <a:custGeom>
            <a:avLst/>
            <a:gdLst/>
            <a:ahLst/>
            <a:cxnLst/>
            <a:rect l="l" t="t" r="r" b="b"/>
            <a:pathLst>
              <a:path w="422275" h="307975">
                <a:moveTo>
                  <a:pt x="0" y="307886"/>
                </a:moveTo>
                <a:lnTo>
                  <a:pt x="422275" y="307886"/>
                </a:lnTo>
                <a:lnTo>
                  <a:pt x="422275" y="0"/>
                </a:lnTo>
                <a:lnTo>
                  <a:pt x="0" y="0"/>
                </a:lnTo>
                <a:lnTo>
                  <a:pt x="0" y="307886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762502" y="6522328"/>
            <a:ext cx="2073910" cy="2152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400" spc="-65" dirty="0">
                <a:latin typeface="Tahoma"/>
                <a:cs typeface="Tahoma"/>
              </a:rPr>
              <a:t>Mr. </a:t>
            </a:r>
            <a:r>
              <a:rPr sz="1400" spc="-5" dirty="0">
                <a:latin typeface="Tahoma"/>
                <a:cs typeface="Tahoma"/>
              </a:rPr>
              <a:t>Nilesh </a:t>
            </a:r>
            <a:r>
              <a:rPr sz="1400" spc="-10" dirty="0">
                <a:latin typeface="Tahoma"/>
                <a:cs typeface="Tahoma"/>
              </a:rPr>
              <a:t>Vishwasrao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Patil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87589"/>
              </p:ext>
            </p:extLst>
          </p:nvPr>
        </p:nvGraphicFramePr>
        <p:xfrm>
          <a:off x="222250" y="990663"/>
          <a:ext cx="8921750" cy="57162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4131"/>
                <a:gridCol w="1470654"/>
                <a:gridCol w="6886965"/>
              </a:tblGrid>
              <a:tr h="8172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1C1C1C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470534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4400" spc="-5" dirty="0">
                          <a:solidFill>
                            <a:srgbClr val="009900"/>
                          </a:solidFill>
                          <a:latin typeface="Tahoma"/>
                          <a:cs typeface="Tahoma"/>
                        </a:rPr>
                        <a:t>HTTP </a:t>
                      </a:r>
                      <a:r>
                        <a:rPr sz="4400" dirty="0">
                          <a:solidFill>
                            <a:srgbClr val="009900"/>
                          </a:solidFill>
                          <a:latin typeface="Tahoma"/>
                          <a:cs typeface="Tahoma"/>
                        </a:rPr>
                        <a:t>methods</a:t>
                      </a:r>
                      <a:endParaRPr sz="440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38100">
                      <a:solidFill>
                        <a:srgbClr val="1C1C1C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72110">
                <a:tc gridSpan="2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Method</a:t>
                      </a:r>
                      <a:r>
                        <a:rPr sz="18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Name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800" spc="-5" dirty="0">
                          <a:latin typeface="Tahoma"/>
                          <a:cs typeface="Tahoma"/>
                        </a:rPr>
                        <a:t>Description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626110">
                <a:tc gridSpan="2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Tahoma"/>
                          <a:cs typeface="Tahoma"/>
                        </a:rPr>
                        <a:t>OPTIONS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085" marR="56515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Request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for communication options that are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available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on the 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request/response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 chain.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592455">
                <a:tc gridSpan="2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5" dirty="0">
                          <a:latin typeface="Tahoma"/>
                          <a:cs typeface="Tahoma"/>
                        </a:rPr>
                        <a:t>GET</a:t>
                      </a:r>
                      <a:endParaRPr sz="1800" b="1" dirty="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Request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to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retrieve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information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from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server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using a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given</a:t>
                      </a:r>
                      <a:r>
                        <a:rPr sz="1800" spc="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URI.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626110">
                <a:tc gridSpan="2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Tahoma"/>
                          <a:cs typeface="Tahoma"/>
                        </a:rPr>
                        <a:t>HEAD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085" marR="22669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5" dirty="0">
                          <a:latin typeface="Tahoma"/>
                          <a:cs typeface="Tahoma"/>
                        </a:rPr>
                        <a:t>Identical to GET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except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that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it does not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return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a </a:t>
                      </a:r>
                      <a:r>
                        <a:rPr sz="1800" spc="-15" dirty="0">
                          <a:latin typeface="Tahoma"/>
                          <a:cs typeface="Tahoma"/>
                        </a:rPr>
                        <a:t>message-body, 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only the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headers and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status</a:t>
                      </a:r>
                      <a:r>
                        <a:rPr sz="18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line.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626110">
                <a:tc gridSpan="2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b="1" spc="-5" dirty="0">
                          <a:latin typeface="Tahoma"/>
                          <a:cs typeface="Tahoma"/>
                        </a:rPr>
                        <a:t>POST</a:t>
                      </a:r>
                      <a:endParaRPr sz="1800" b="1" dirty="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085" marR="34671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Request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for server to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accept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the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entity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enclosed in the body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of  </a:t>
                      </a:r>
                      <a:r>
                        <a:rPr sz="1800" spc="-25" dirty="0">
                          <a:latin typeface="Tahoma"/>
                          <a:cs typeface="Tahoma"/>
                        </a:rPr>
                        <a:t>HTTP</a:t>
                      </a:r>
                      <a:r>
                        <a:rPr sz="18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method.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351790">
                <a:tc gridSpan="2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Tahoma"/>
                          <a:cs typeface="Tahoma"/>
                        </a:rPr>
                        <a:t>DELETE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Request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for the Server to delete the</a:t>
                      </a:r>
                      <a:r>
                        <a:rPr sz="1800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resource.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592455">
                <a:tc gridSpan="2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Tahoma"/>
                          <a:cs typeface="Tahoma"/>
                        </a:rPr>
                        <a:t>CONNECT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latin typeface="Tahoma"/>
                          <a:cs typeface="Tahoma"/>
                        </a:rPr>
                        <a:t>Reserved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for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use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with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a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proxy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that can switch to being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800" spc="4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tunnel.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1111885">
                <a:tc gridSpan="2"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5" dirty="0">
                          <a:latin typeface="Tahoma"/>
                          <a:cs typeface="Tahoma"/>
                        </a:rPr>
                        <a:t>PUT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5085" marR="381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dirty="0">
                          <a:latin typeface="Tahoma"/>
                          <a:cs typeface="Tahoma"/>
                        </a:rPr>
                        <a:t>This is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same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as </a:t>
                      </a:r>
                      <a:r>
                        <a:rPr sz="1800" spc="-55" dirty="0">
                          <a:latin typeface="Tahoma"/>
                          <a:cs typeface="Tahoma"/>
                        </a:rPr>
                        <a:t>POST,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but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POST is used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to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create,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PUT can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be  used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to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create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as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well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as update.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It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replaces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all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current  representations </a:t>
                      </a:r>
                      <a:r>
                        <a:rPr sz="1800" dirty="0">
                          <a:latin typeface="Tahoma"/>
                          <a:cs typeface="Tahoma"/>
                        </a:rPr>
                        <a:t>of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the target </a:t>
                      </a:r>
                      <a:r>
                        <a:rPr sz="1800" spc="-10" dirty="0">
                          <a:latin typeface="Tahoma"/>
                          <a:cs typeface="Tahoma"/>
                        </a:rPr>
                        <a:t>resource with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the uploaded</a:t>
                      </a:r>
                      <a:r>
                        <a:rPr sz="1800" spc="17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800" spc="-5" dirty="0">
                          <a:latin typeface="Tahoma"/>
                          <a:cs typeface="Tahoma"/>
                        </a:rPr>
                        <a:t>content.</a:t>
                      </a:r>
                      <a:endParaRPr sz="1800" dirty="0">
                        <a:latin typeface="Tahoma"/>
                        <a:cs typeface="Tahom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36645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HTTP</a:t>
            </a:r>
            <a:r>
              <a:rPr spc="-60" dirty="0"/>
              <a:t> </a:t>
            </a:r>
            <a:r>
              <a:rPr dirty="0"/>
              <a:t>methods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908173"/>
              </p:ext>
            </p:extLst>
          </p:nvPr>
        </p:nvGraphicFramePr>
        <p:xfrm>
          <a:off x="127000" y="1913033"/>
          <a:ext cx="8940800" cy="47793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70400"/>
                <a:gridCol w="4470400"/>
              </a:tblGrid>
              <a:tr h="613632">
                <a:tc>
                  <a:txBody>
                    <a:bodyPr/>
                    <a:lstStyle/>
                    <a:p>
                      <a:pPr marL="82550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400" b="1" spc="-5" dirty="0">
                          <a:latin typeface="Tahoma"/>
                          <a:cs typeface="Tahoma"/>
                        </a:rPr>
                        <a:t>GET </a:t>
                      </a:r>
                      <a:r>
                        <a:rPr sz="2400" b="1" spc="-10" dirty="0">
                          <a:latin typeface="Tahoma"/>
                          <a:cs typeface="Tahoma"/>
                        </a:rPr>
                        <a:t>Request</a:t>
                      </a:r>
                      <a:endParaRPr sz="2400" b="1" dirty="0">
                        <a:latin typeface="Tahoma"/>
                        <a:cs typeface="Tahoma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83185" algn="ctr">
                        <a:lnSpc>
                          <a:spcPct val="100000"/>
                        </a:lnSpc>
                        <a:spcBef>
                          <a:spcPts val="1425"/>
                        </a:spcBef>
                      </a:pPr>
                      <a:r>
                        <a:rPr sz="2400" b="1" spc="-5" dirty="0">
                          <a:latin typeface="Tahoma"/>
                          <a:cs typeface="Tahoma"/>
                        </a:rPr>
                        <a:t>POST</a:t>
                      </a:r>
                      <a:r>
                        <a:rPr sz="2400" b="1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b="1" spc="-10" dirty="0">
                          <a:latin typeface="Tahoma"/>
                          <a:cs typeface="Tahoma"/>
                        </a:rPr>
                        <a:t>Request</a:t>
                      </a:r>
                      <a:endParaRPr sz="2400" b="1" dirty="0">
                        <a:latin typeface="Tahoma"/>
                        <a:cs typeface="Tahoma"/>
                      </a:endParaRPr>
                    </a:p>
                  </a:txBody>
                  <a:tcPr marL="0" marR="0" marT="1809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613632">
                <a:tc>
                  <a:txBody>
                    <a:bodyPr/>
                    <a:lstStyle/>
                    <a:p>
                      <a:pPr marL="8255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Data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is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sent in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header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to the </a:t>
                      </a:r>
                      <a:r>
                        <a:rPr sz="2400" spc="-10" dirty="0">
                          <a:latin typeface="Tahoma"/>
                          <a:cs typeface="Tahoma"/>
                        </a:rPr>
                        <a:t>server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Data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is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sent in the request</a:t>
                      </a:r>
                      <a:r>
                        <a:rPr sz="2400" spc="-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body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1008529">
                <a:tc>
                  <a:txBody>
                    <a:bodyPr/>
                    <a:lstStyle/>
                    <a:p>
                      <a:pPr marL="82550" marR="76390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Get request can send only </a:t>
                      </a:r>
                      <a:r>
                        <a:rPr sz="2400" spc="-5" dirty="0" smtClean="0">
                          <a:latin typeface="Tahoma"/>
                          <a:cs typeface="Tahoma"/>
                        </a:rPr>
                        <a:t>limited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amount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of</a:t>
                      </a:r>
                      <a:r>
                        <a:rPr sz="2400" spc="-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data</a:t>
                      </a: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Large amount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of data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can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be</a:t>
                      </a:r>
                      <a:r>
                        <a:rPr sz="2400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sent.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1008529">
                <a:tc>
                  <a:txBody>
                    <a:bodyPr/>
                    <a:lstStyle/>
                    <a:p>
                      <a:pPr marL="82550" marR="7620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Get request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is not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secured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because</a:t>
                      </a:r>
                      <a:r>
                        <a:rPr sz="2400" spc="-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 smtClean="0">
                          <a:latin typeface="Tahoma"/>
                          <a:cs typeface="Tahoma"/>
                        </a:rPr>
                        <a:t>data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is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exposed in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URL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83185" marR="17526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Post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request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is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secured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because data</a:t>
                      </a:r>
                      <a:r>
                        <a:rPr sz="2400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dirty="0" smtClean="0">
                          <a:latin typeface="Tahoma"/>
                          <a:cs typeface="Tahoma"/>
                        </a:rPr>
                        <a:t>is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not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exposed in URL.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768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  <a:tr h="1008529">
                <a:tc>
                  <a:txBody>
                    <a:bodyPr/>
                    <a:lstStyle/>
                    <a:p>
                      <a:pPr marL="82550" marR="23558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spc="-5" dirty="0">
                          <a:latin typeface="Tahoma"/>
                          <a:cs typeface="Tahoma"/>
                        </a:rPr>
                        <a:t>Get request can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be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bookmarked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and is 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more</a:t>
                      </a:r>
                      <a:r>
                        <a:rPr sz="2400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10" dirty="0">
                          <a:latin typeface="Tahoma"/>
                          <a:cs typeface="Tahoma"/>
                        </a:rPr>
                        <a:t>efficient.</a:t>
                      </a:r>
                      <a:endParaRPr sz="2400">
                        <a:latin typeface="Tahoma"/>
                        <a:cs typeface="Tahoma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2400" spc="-10" dirty="0">
                          <a:latin typeface="Tahoma"/>
                          <a:cs typeface="Tahoma"/>
                        </a:rPr>
                        <a:t>Post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request cannot </a:t>
                      </a:r>
                      <a:r>
                        <a:rPr sz="2400" dirty="0">
                          <a:latin typeface="Tahoma"/>
                          <a:cs typeface="Tahoma"/>
                        </a:rPr>
                        <a:t>be</a:t>
                      </a:r>
                      <a:r>
                        <a:rPr sz="24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2400" spc="-5" dirty="0">
                          <a:latin typeface="Tahoma"/>
                          <a:cs typeface="Tahoma"/>
                        </a:rPr>
                        <a:t>bookmarked.</a:t>
                      </a:r>
                      <a:endParaRPr sz="2400" dirty="0">
                        <a:latin typeface="Tahoma"/>
                        <a:cs typeface="Tahoma"/>
                      </a:endParaRPr>
                    </a:p>
                  </a:txBody>
                  <a:tcPr marL="0" marR="0" marT="774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357962"/>
            <a:ext cx="661863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Anatomy of </a:t>
            </a:r>
            <a:r>
              <a:rPr spc="-5" dirty="0"/>
              <a:t>HTTP</a:t>
            </a:r>
            <a:r>
              <a:rPr spc="-55" dirty="0"/>
              <a:t> </a:t>
            </a:r>
            <a:r>
              <a:rPr spc="-5" dirty="0"/>
              <a:t>GET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29968" y="1028826"/>
            <a:ext cx="5780431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9900"/>
                </a:solidFill>
                <a:latin typeface="Tahoma"/>
                <a:cs typeface="Tahoma"/>
              </a:rPr>
              <a:t>Request</a:t>
            </a:r>
            <a:endParaRPr sz="44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4800" y="2049526"/>
            <a:ext cx="861059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Tahoma"/>
                <a:cs typeface="Tahoma"/>
              </a:rPr>
              <a:t>Get request contains </a:t>
            </a:r>
            <a:r>
              <a:rPr sz="2400" dirty="0">
                <a:latin typeface="Tahoma"/>
                <a:cs typeface="Tahoma"/>
              </a:rPr>
              <a:t>path </a:t>
            </a:r>
            <a:r>
              <a:rPr sz="2400" spc="-5" dirty="0">
                <a:latin typeface="Tahoma"/>
                <a:cs typeface="Tahoma"/>
              </a:rPr>
              <a:t>to server </a:t>
            </a:r>
            <a:r>
              <a:rPr sz="2400" dirty="0">
                <a:latin typeface="Tahoma"/>
                <a:cs typeface="Tahoma"/>
              </a:rPr>
              <a:t>and </a:t>
            </a:r>
            <a:r>
              <a:rPr sz="2400" spc="-5" dirty="0">
                <a:latin typeface="Tahoma"/>
                <a:cs typeface="Tahoma"/>
              </a:rPr>
              <a:t>the  </a:t>
            </a:r>
            <a:r>
              <a:rPr sz="2400" dirty="0">
                <a:latin typeface="Tahoma"/>
                <a:cs typeface="Tahoma"/>
              </a:rPr>
              <a:t>parameters added </a:t>
            </a:r>
            <a:r>
              <a:rPr sz="2400" spc="-5" dirty="0">
                <a:latin typeface="Tahoma"/>
                <a:cs typeface="Tahoma"/>
              </a:rPr>
              <a:t>to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it.</a:t>
            </a:r>
          </a:p>
        </p:txBody>
      </p:sp>
      <p:sp>
        <p:nvSpPr>
          <p:cNvPr id="9" name="object 9"/>
          <p:cNvSpPr/>
          <p:nvPr/>
        </p:nvSpPr>
        <p:spPr>
          <a:xfrm>
            <a:off x="152399" y="3267075"/>
            <a:ext cx="8762999" cy="3133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357962"/>
            <a:ext cx="58934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Anatomy of </a:t>
            </a:r>
            <a:r>
              <a:rPr spc="-5" dirty="0"/>
              <a:t>HTTP</a:t>
            </a:r>
            <a:r>
              <a:rPr spc="-50" dirty="0"/>
              <a:t> </a:t>
            </a:r>
            <a:r>
              <a:rPr spc="-5" dirty="0"/>
              <a:t>POST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29969" y="1028826"/>
            <a:ext cx="20205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9900"/>
                </a:solidFill>
                <a:latin typeface="Tahoma"/>
                <a:cs typeface="Tahoma"/>
              </a:rPr>
              <a:t>Request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39" y="2049526"/>
            <a:ext cx="894778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833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1800" spc="-5" dirty="0">
                <a:latin typeface="Tahoma"/>
                <a:cs typeface="Tahoma"/>
              </a:rPr>
              <a:t>Post requests </a:t>
            </a:r>
            <a:r>
              <a:rPr sz="1800" dirty="0">
                <a:latin typeface="Tahoma"/>
                <a:cs typeface="Tahoma"/>
              </a:rPr>
              <a:t>are used </a:t>
            </a:r>
            <a:r>
              <a:rPr sz="1800" spc="-5" dirty="0">
                <a:latin typeface="Tahoma"/>
                <a:cs typeface="Tahoma"/>
              </a:rPr>
              <a:t>to </a:t>
            </a:r>
            <a:r>
              <a:rPr sz="1800" dirty="0">
                <a:latin typeface="Tahoma"/>
                <a:cs typeface="Tahoma"/>
              </a:rPr>
              <a:t>make more </a:t>
            </a:r>
            <a:r>
              <a:rPr sz="1800" spc="-5" dirty="0">
                <a:latin typeface="Tahoma"/>
                <a:cs typeface="Tahoma"/>
              </a:rPr>
              <a:t>complex requests on the server. For instance,  </a:t>
            </a:r>
            <a:r>
              <a:rPr sz="1800" dirty="0">
                <a:latin typeface="Tahoma"/>
                <a:cs typeface="Tahoma"/>
              </a:rPr>
              <a:t>if a user has </a:t>
            </a:r>
            <a:r>
              <a:rPr sz="1800" spc="-5" dirty="0">
                <a:latin typeface="Tahoma"/>
                <a:cs typeface="Tahoma"/>
              </a:rPr>
              <a:t>filled </a:t>
            </a:r>
            <a:r>
              <a:rPr sz="1800" dirty="0">
                <a:latin typeface="Tahoma"/>
                <a:cs typeface="Tahoma"/>
              </a:rPr>
              <a:t>a </a:t>
            </a:r>
            <a:r>
              <a:rPr sz="1800" spc="-5" dirty="0">
                <a:latin typeface="Tahoma"/>
                <a:cs typeface="Tahoma"/>
              </a:rPr>
              <a:t>form </a:t>
            </a:r>
            <a:r>
              <a:rPr sz="1800" spc="-10" dirty="0">
                <a:latin typeface="Tahoma"/>
                <a:cs typeface="Tahoma"/>
              </a:rPr>
              <a:t>with </a:t>
            </a:r>
            <a:r>
              <a:rPr sz="1800" spc="-5" dirty="0">
                <a:latin typeface="Tahoma"/>
                <a:cs typeface="Tahoma"/>
              </a:rPr>
              <a:t>multiple fields </a:t>
            </a:r>
            <a:r>
              <a:rPr sz="1800" dirty="0">
                <a:latin typeface="Tahoma"/>
                <a:cs typeface="Tahoma"/>
              </a:rPr>
              <a:t>and </a:t>
            </a:r>
            <a:r>
              <a:rPr sz="1800" spc="-5" dirty="0">
                <a:latin typeface="Tahoma"/>
                <a:cs typeface="Tahoma"/>
              </a:rPr>
              <a:t>the application wants to save </a:t>
            </a:r>
            <a:r>
              <a:rPr sz="1800" dirty="0">
                <a:latin typeface="Tahoma"/>
                <a:cs typeface="Tahoma"/>
              </a:rPr>
              <a:t>all  </a:t>
            </a:r>
            <a:r>
              <a:rPr sz="1800" spc="-5" dirty="0">
                <a:latin typeface="Tahoma"/>
                <a:cs typeface="Tahoma"/>
              </a:rPr>
              <a:t>the form </a:t>
            </a:r>
            <a:r>
              <a:rPr sz="1800" dirty="0">
                <a:latin typeface="Tahoma"/>
                <a:cs typeface="Tahoma"/>
              </a:rPr>
              <a:t>data </a:t>
            </a:r>
            <a:r>
              <a:rPr sz="1800" spc="-5" dirty="0">
                <a:latin typeface="Tahoma"/>
                <a:cs typeface="Tahoma"/>
              </a:rPr>
              <a:t>to the database. Then the form </a:t>
            </a:r>
            <a:r>
              <a:rPr sz="1800" dirty="0">
                <a:latin typeface="Tahoma"/>
                <a:cs typeface="Tahoma"/>
              </a:rPr>
              <a:t>data </a:t>
            </a:r>
            <a:r>
              <a:rPr sz="1800" spc="-5" dirty="0">
                <a:latin typeface="Tahoma"/>
                <a:cs typeface="Tahoma"/>
              </a:rPr>
              <a:t>will </a:t>
            </a:r>
            <a:r>
              <a:rPr sz="1800" dirty="0">
                <a:latin typeface="Tahoma"/>
                <a:cs typeface="Tahoma"/>
              </a:rPr>
              <a:t>be </a:t>
            </a:r>
            <a:r>
              <a:rPr sz="1800" spc="-5" dirty="0">
                <a:latin typeface="Tahoma"/>
                <a:cs typeface="Tahoma"/>
              </a:rPr>
              <a:t>sent to the server in </a:t>
            </a:r>
            <a:r>
              <a:rPr sz="1800" dirty="0">
                <a:latin typeface="Tahoma"/>
                <a:cs typeface="Tahoma"/>
              </a:rPr>
              <a:t>POST  </a:t>
            </a:r>
            <a:r>
              <a:rPr sz="1800" spc="-5" dirty="0">
                <a:latin typeface="Tahoma"/>
                <a:cs typeface="Tahoma"/>
              </a:rPr>
              <a:t>request body, </a:t>
            </a:r>
            <a:r>
              <a:rPr sz="1800" spc="-10" dirty="0">
                <a:latin typeface="Tahoma"/>
                <a:cs typeface="Tahoma"/>
              </a:rPr>
              <a:t>which </a:t>
            </a:r>
            <a:r>
              <a:rPr sz="1800" dirty="0">
                <a:latin typeface="Tahoma"/>
                <a:cs typeface="Tahoma"/>
              </a:rPr>
              <a:t>is also </a:t>
            </a:r>
            <a:r>
              <a:rPr sz="1800" spc="-5" dirty="0">
                <a:latin typeface="Tahoma"/>
                <a:cs typeface="Tahoma"/>
              </a:rPr>
              <a:t>known </a:t>
            </a:r>
            <a:r>
              <a:rPr sz="1800" dirty="0">
                <a:latin typeface="Tahoma"/>
                <a:cs typeface="Tahoma"/>
              </a:rPr>
              <a:t>as </a:t>
            </a:r>
            <a:r>
              <a:rPr sz="1800" spc="-5" dirty="0">
                <a:latin typeface="Tahoma"/>
                <a:cs typeface="Tahoma"/>
              </a:rPr>
              <a:t>Message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body.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57200" y="3457575"/>
            <a:ext cx="8458200" cy="26003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52876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 :</a:t>
            </a:r>
            <a:r>
              <a:rPr spc="-60" dirty="0"/>
              <a:t> </a:t>
            </a:r>
            <a:r>
              <a:rPr spc="-5" dirty="0"/>
              <a:t>Introduction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59740" y="2006854"/>
            <a:ext cx="8531860" cy="4324517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55600" marR="363220" indent="-342900">
              <a:lnSpc>
                <a:spcPct val="90000"/>
              </a:lnSpc>
              <a:spcBef>
                <a:spcPts val="43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b="1" spc="-10" dirty="0">
                <a:latin typeface="Tahoma"/>
                <a:cs typeface="Tahoma"/>
              </a:rPr>
              <a:t>Servlet </a:t>
            </a:r>
            <a:r>
              <a:rPr sz="2800" spc="-5" dirty="0">
                <a:latin typeface="Tahoma"/>
                <a:cs typeface="Tahoma"/>
              </a:rPr>
              <a:t>technology is used to create </a:t>
            </a:r>
            <a:r>
              <a:rPr sz="2800" spc="-10" dirty="0">
                <a:latin typeface="Tahoma"/>
                <a:cs typeface="Tahoma"/>
              </a:rPr>
              <a:t>web  </a:t>
            </a:r>
            <a:r>
              <a:rPr sz="2800" spc="-5" dirty="0">
                <a:latin typeface="Tahoma"/>
                <a:cs typeface="Tahoma"/>
              </a:rPr>
              <a:t>application (resides </a:t>
            </a:r>
            <a:r>
              <a:rPr sz="2800" dirty="0">
                <a:latin typeface="Tahoma"/>
                <a:cs typeface="Tahoma"/>
              </a:rPr>
              <a:t>at </a:t>
            </a:r>
            <a:r>
              <a:rPr sz="2800" spc="-5" dirty="0">
                <a:latin typeface="Tahoma"/>
                <a:cs typeface="Tahoma"/>
              </a:rPr>
              <a:t>server side and </a:t>
            </a:r>
            <a:r>
              <a:rPr sz="2800" dirty="0">
                <a:latin typeface="Tahoma"/>
                <a:cs typeface="Tahoma"/>
              </a:rPr>
              <a:t>generates  </a:t>
            </a:r>
            <a:r>
              <a:rPr sz="2800" spc="-5" dirty="0">
                <a:latin typeface="Tahoma"/>
                <a:cs typeface="Tahoma"/>
              </a:rPr>
              <a:t>dynamic </a:t>
            </a:r>
            <a:r>
              <a:rPr sz="2800" spc="-10" dirty="0">
                <a:latin typeface="Tahoma"/>
                <a:cs typeface="Tahoma"/>
              </a:rPr>
              <a:t>web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page).</a:t>
            </a:r>
            <a:endParaRPr sz="2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333CC"/>
              </a:buClr>
              <a:buFont typeface="Wingdings"/>
              <a:buChar char=""/>
            </a:pPr>
            <a:endParaRPr sz="3800" dirty="0">
              <a:latin typeface="Times New Roman"/>
              <a:cs typeface="Times New Roman"/>
            </a:endParaRPr>
          </a:p>
          <a:p>
            <a:pPr marL="355600" marR="127000" indent="-342900">
              <a:lnSpc>
                <a:spcPts val="3020"/>
              </a:lnSpc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b="1" spc="-10" dirty="0">
                <a:latin typeface="Tahoma"/>
                <a:cs typeface="Tahoma"/>
              </a:rPr>
              <a:t>Servlet </a:t>
            </a:r>
            <a:r>
              <a:rPr sz="2800" spc="-5" dirty="0">
                <a:latin typeface="Tahoma"/>
                <a:cs typeface="Tahoma"/>
              </a:rPr>
              <a:t>is Java program </a:t>
            </a:r>
            <a:r>
              <a:rPr sz="2800" spc="-10" dirty="0">
                <a:latin typeface="Tahoma"/>
                <a:cs typeface="Tahoma"/>
              </a:rPr>
              <a:t>which run </a:t>
            </a:r>
            <a:r>
              <a:rPr sz="2800" spc="-5" dirty="0">
                <a:latin typeface="Tahoma"/>
                <a:cs typeface="Tahoma"/>
              </a:rPr>
              <a:t>on web server  and responding to request of clients (Web  browser).</a:t>
            </a:r>
            <a:endParaRPr sz="28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3333CC"/>
              </a:buClr>
              <a:buFont typeface="Wingdings"/>
              <a:buChar char=""/>
            </a:pPr>
            <a:endParaRPr sz="3800" dirty="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020"/>
              </a:lnSpc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b="1" spc="-10" dirty="0">
                <a:latin typeface="Tahoma"/>
                <a:cs typeface="Tahoma"/>
              </a:rPr>
              <a:t>Servlet </a:t>
            </a:r>
            <a:r>
              <a:rPr sz="2800" spc="-5" dirty="0">
                <a:latin typeface="Tahoma"/>
                <a:cs typeface="Tahoma"/>
              </a:rPr>
              <a:t>technology is robust and scalable </a:t>
            </a:r>
            <a:r>
              <a:rPr sz="2800" dirty="0">
                <a:latin typeface="Tahoma"/>
                <a:cs typeface="Tahoma"/>
              </a:rPr>
              <a:t>because  </a:t>
            </a:r>
            <a:r>
              <a:rPr sz="2800" spc="-5" dirty="0">
                <a:latin typeface="Tahoma"/>
                <a:cs typeface="Tahoma"/>
              </a:rPr>
              <a:t>of java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language.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17208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1140" y="2013026"/>
            <a:ext cx="8849995" cy="18723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Tahoma"/>
                <a:cs typeface="Tahoma"/>
              </a:rPr>
              <a:t>Web </a:t>
            </a:r>
            <a:r>
              <a:rPr sz="2400" dirty="0">
                <a:latin typeface="Tahoma"/>
                <a:cs typeface="Tahoma"/>
              </a:rPr>
              <a:t>applications are helper applications </a:t>
            </a:r>
            <a:r>
              <a:rPr sz="2400" spc="-5" dirty="0">
                <a:latin typeface="Tahoma"/>
                <a:cs typeface="Tahoma"/>
              </a:rPr>
              <a:t>that resides </a:t>
            </a:r>
            <a:r>
              <a:rPr sz="2400" dirty="0">
                <a:latin typeface="Tahoma"/>
                <a:cs typeface="Tahoma"/>
              </a:rPr>
              <a:t>at </a:t>
            </a:r>
            <a:r>
              <a:rPr sz="2400" spc="-5" dirty="0">
                <a:latin typeface="Tahoma"/>
                <a:cs typeface="Tahoma"/>
              </a:rPr>
              <a:t>web  server </a:t>
            </a:r>
            <a:r>
              <a:rPr sz="2400" dirty="0">
                <a:latin typeface="Tahoma"/>
                <a:cs typeface="Tahoma"/>
              </a:rPr>
              <a:t>and </a:t>
            </a:r>
            <a:r>
              <a:rPr sz="2400" spc="-5" dirty="0">
                <a:latin typeface="Tahoma"/>
                <a:cs typeface="Tahoma"/>
              </a:rPr>
              <a:t>build </a:t>
            </a:r>
            <a:r>
              <a:rPr sz="2400" dirty="0">
                <a:latin typeface="Tahoma"/>
                <a:cs typeface="Tahoma"/>
              </a:rPr>
              <a:t>dynamic </a:t>
            </a:r>
            <a:r>
              <a:rPr sz="2400" spc="-5" dirty="0">
                <a:latin typeface="Tahoma"/>
                <a:cs typeface="Tahoma"/>
              </a:rPr>
              <a:t>web pages. </a:t>
            </a:r>
            <a:endParaRPr lang="en-GB" sz="2400" spc="-5" dirty="0" smtClean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 smtClean="0">
                <a:latin typeface="Tahoma"/>
                <a:cs typeface="Tahoma"/>
              </a:rPr>
              <a:t>A </a:t>
            </a:r>
            <a:r>
              <a:rPr sz="2400" dirty="0">
                <a:latin typeface="Tahoma"/>
                <a:cs typeface="Tahoma"/>
              </a:rPr>
              <a:t>dynamic page </a:t>
            </a:r>
            <a:r>
              <a:rPr sz="2400" spc="-5" dirty="0">
                <a:latin typeface="Tahoma"/>
                <a:cs typeface="Tahoma"/>
              </a:rPr>
              <a:t>could </a:t>
            </a:r>
            <a:r>
              <a:rPr sz="2400" dirty="0">
                <a:latin typeface="Tahoma"/>
                <a:cs typeface="Tahoma"/>
              </a:rPr>
              <a:t>be </a:t>
            </a:r>
            <a:r>
              <a:rPr sz="2400" spc="-5" dirty="0" smtClean="0">
                <a:latin typeface="Tahoma"/>
                <a:cs typeface="Tahoma"/>
              </a:rPr>
              <a:t>anything </a:t>
            </a:r>
            <a:r>
              <a:rPr sz="2400" dirty="0">
                <a:latin typeface="Tahoma"/>
                <a:cs typeface="Tahoma"/>
              </a:rPr>
              <a:t>like a page </a:t>
            </a:r>
            <a:r>
              <a:rPr sz="2400" spc="-5" dirty="0">
                <a:latin typeface="Tahoma"/>
                <a:cs typeface="Tahoma"/>
              </a:rPr>
              <a:t>that randomly chooses picture to </a:t>
            </a:r>
            <a:r>
              <a:rPr sz="2400" dirty="0">
                <a:latin typeface="Tahoma"/>
                <a:cs typeface="Tahoma"/>
              </a:rPr>
              <a:t>display </a:t>
            </a:r>
            <a:r>
              <a:rPr sz="2400" dirty="0" smtClean="0">
                <a:latin typeface="Tahoma"/>
                <a:cs typeface="Tahoma"/>
              </a:rPr>
              <a:t>or </a:t>
            </a:r>
            <a:r>
              <a:rPr sz="2400" spc="-5" dirty="0">
                <a:latin typeface="Tahoma"/>
                <a:cs typeface="Tahoma"/>
              </a:rPr>
              <a:t>even </a:t>
            </a:r>
            <a:r>
              <a:rPr sz="2400" dirty="0">
                <a:latin typeface="Tahoma"/>
                <a:cs typeface="Tahoma"/>
              </a:rPr>
              <a:t>a page </a:t>
            </a:r>
            <a:r>
              <a:rPr sz="2400" spc="-5" dirty="0">
                <a:latin typeface="Tahoma"/>
                <a:cs typeface="Tahoma"/>
              </a:rPr>
              <a:t>that displays the current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time.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07193" y="4495800"/>
            <a:ext cx="8677655" cy="19145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01281"/>
            <a:ext cx="8226425" cy="823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7244" y="555854"/>
            <a:ext cx="806800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 : Defined in </a:t>
            </a:r>
            <a:r>
              <a:rPr dirty="0"/>
              <a:t>many</a:t>
            </a:r>
            <a:r>
              <a:rPr spc="-90" dirty="0"/>
              <a:t> </a:t>
            </a:r>
            <a:r>
              <a:rPr spc="-5" dirty="0"/>
              <a:t>ways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7000" y="1957046"/>
            <a:ext cx="9017000" cy="4627549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2900">
              <a:spcBef>
                <a:spcPts val="38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a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technology i.e.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used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create web</a:t>
            </a:r>
            <a:r>
              <a:rPr sz="2800" spc="-2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application.</a:t>
            </a:r>
          </a:p>
          <a:p>
            <a:pPr marL="355600" indent="-342900">
              <a:spcBef>
                <a:spcPts val="29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 </a:t>
            </a:r>
            <a:r>
              <a:rPr sz="2800" b="1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an </a:t>
            </a:r>
            <a:r>
              <a:rPr sz="28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API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that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provides many interfaces and</a:t>
            </a:r>
            <a:r>
              <a:rPr sz="2800" spc="-6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classes</a:t>
            </a:r>
            <a:r>
              <a:rPr lang="en-GB"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including</a:t>
            </a:r>
            <a:r>
              <a:rPr sz="2800" spc="-2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documentations.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marR="901065" indent="-342900">
              <a:spcBef>
                <a:spcPts val="61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 </a:t>
            </a:r>
            <a:r>
              <a:rPr sz="2800" b="1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</a:t>
            </a:r>
            <a:r>
              <a:rPr sz="28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 interface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that must 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be</a:t>
            </a:r>
            <a:r>
              <a:rPr lang="en-GB"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implemented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for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creating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any</a:t>
            </a:r>
            <a:r>
              <a:rPr sz="2800" spc="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marR="38100" indent="-342900"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 </a:t>
            </a:r>
            <a:r>
              <a:rPr sz="2800" b="1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a </a:t>
            </a:r>
            <a:r>
              <a:rPr sz="28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class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that extend the capabilities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of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servers  and respond to the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incoming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request. It can respond to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any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type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of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requests.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marR="96520" indent="-342900">
              <a:spcBef>
                <a:spcPts val="58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 </a:t>
            </a:r>
            <a:r>
              <a:rPr sz="2800" b="1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a </a:t>
            </a:r>
            <a:r>
              <a:rPr sz="2800" b="1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web </a:t>
            </a:r>
            <a:r>
              <a:rPr sz="28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component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that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deployed on the server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create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dynamic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web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41598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 :</a:t>
            </a:r>
            <a:r>
              <a:rPr spc="-70" dirty="0"/>
              <a:t> </a:t>
            </a:r>
            <a:r>
              <a:rPr spc="-5" dirty="0"/>
              <a:t>Defined</a:t>
            </a:r>
          </a:p>
        </p:txBody>
      </p:sp>
      <p:sp>
        <p:nvSpPr>
          <p:cNvPr id="7" name="object 7"/>
          <p:cNvSpPr/>
          <p:nvPr/>
        </p:nvSpPr>
        <p:spPr>
          <a:xfrm>
            <a:off x="1340603" y="2052701"/>
            <a:ext cx="7574796" cy="38194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357962"/>
            <a:ext cx="56578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CGI(Common</a:t>
            </a:r>
            <a:r>
              <a:rPr spc="-35" dirty="0"/>
              <a:t> </a:t>
            </a:r>
            <a:r>
              <a:rPr spc="-5" dirty="0"/>
              <a:t>Gateway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225329" y="985670"/>
            <a:ext cx="24676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009900"/>
                </a:solidFill>
                <a:latin typeface="Tahoma"/>
                <a:cs typeface="Tahoma"/>
              </a:rPr>
              <a:t>Interface)</a:t>
            </a:r>
            <a:endParaRPr sz="44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6130" y="1895103"/>
            <a:ext cx="8857870" cy="4532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1082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CG</a:t>
            </a:r>
            <a:r>
              <a:rPr lang="en-GB"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programming was 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used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create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web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applications.</a:t>
            </a: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Here's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how a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CGI program works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: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marR="109220" lvl="1" indent="-286385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User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clicks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link that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has URL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 dynamic page instead of  a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static</a:t>
            </a:r>
            <a:r>
              <a:rPr sz="2400" spc="-2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page.</a:t>
            </a: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URL decides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which CGI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program to</a:t>
            </a:r>
            <a:r>
              <a:rPr sz="2400" spc="-8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execute.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marR="101600" lvl="1" indent="-28638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Web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Servers run the CGI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program in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seperate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OS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shell.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 shell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includes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OS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enviroment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and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process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execute  code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of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CGI</a:t>
            </a:r>
            <a:r>
              <a:rPr sz="2400" spc="-2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program.</a:t>
            </a:r>
          </a:p>
          <a:p>
            <a:pPr marL="756285" marR="5080" lvl="1" indent="-28638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CGI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response is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sent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back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the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Web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Server, which  wraps the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response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 HTTP response and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send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back</a:t>
            </a:r>
            <a:r>
              <a:rPr sz="2400" spc="-17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 the web</a:t>
            </a:r>
            <a:r>
              <a:rPr sz="2400" spc="-2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browser.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357962"/>
            <a:ext cx="56578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CGI(Common</a:t>
            </a:r>
            <a:r>
              <a:rPr spc="-35" dirty="0"/>
              <a:t> </a:t>
            </a:r>
            <a:r>
              <a:rPr spc="-5" dirty="0"/>
              <a:t>Gateway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29969" y="1028826"/>
            <a:ext cx="24676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009900"/>
                </a:solidFill>
                <a:latin typeface="Tahoma"/>
                <a:cs typeface="Tahoma"/>
              </a:rPr>
              <a:t>Interface)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43000" y="2310019"/>
            <a:ext cx="6357205" cy="31397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357962"/>
            <a:ext cx="56578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CGI(Common</a:t>
            </a:r>
            <a:r>
              <a:rPr spc="-35" dirty="0"/>
              <a:t> </a:t>
            </a:r>
            <a:r>
              <a:rPr spc="-5" dirty="0"/>
              <a:t>Gateway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29969" y="1028826"/>
            <a:ext cx="24676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009900"/>
                </a:solidFill>
                <a:latin typeface="Tahoma"/>
                <a:cs typeface="Tahoma"/>
              </a:rPr>
              <a:t>Interface)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7000" y="1976371"/>
            <a:ext cx="9017000" cy="465960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Disadvantages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: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marR="710565" lvl="1" indent="-286385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If number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of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clients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increases, it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takes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more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time </a:t>
            </a:r>
            <a:r>
              <a:rPr sz="24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for</a:t>
            </a:r>
            <a:r>
              <a:rPr lang="en-GB" sz="24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sending</a:t>
            </a:r>
            <a:r>
              <a:rPr sz="2400" spc="-4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response.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For each request,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starts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 process and Web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server</a:t>
            </a:r>
            <a:r>
              <a:rPr sz="2400" spc="-10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</a:t>
            </a:r>
          </a:p>
          <a:p>
            <a:pPr marL="756285">
              <a:lnSpc>
                <a:spcPct val="100000"/>
              </a:lnSpc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limited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start</a:t>
            </a:r>
            <a:r>
              <a:rPr sz="2400" spc="-1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processes.</a:t>
            </a: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uses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platform dependent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language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e.g.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C,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C++,</a:t>
            </a:r>
            <a:r>
              <a:rPr sz="2400" spc="-9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perl.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High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response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time because CGI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programs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execute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their </a:t>
            </a:r>
            <a:r>
              <a:rPr sz="24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own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OS</a:t>
            </a:r>
            <a:r>
              <a:rPr sz="2400" spc="-2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shell.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CGI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not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scalable.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CGI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programs are not always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secure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or</a:t>
            </a:r>
            <a:r>
              <a:rPr sz="2400" spc="-5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object-oriented.</a:t>
            </a: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Platform dependent.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74339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Contrast of </a:t>
            </a:r>
            <a:r>
              <a:rPr spc="-5" dirty="0"/>
              <a:t>process vs.</a:t>
            </a:r>
            <a:r>
              <a:rPr spc="-40" dirty="0"/>
              <a:t> </a:t>
            </a:r>
            <a:r>
              <a:rPr spc="-5" dirty="0"/>
              <a:t>thread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1617" y="1963590"/>
            <a:ext cx="3387725" cy="222186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Process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Tahoma"/>
                <a:cs typeface="Tahoma"/>
              </a:rPr>
              <a:t>Takes more </a:t>
            </a:r>
            <a:r>
              <a:rPr sz="2400" spc="-5" dirty="0">
                <a:latin typeface="Tahoma"/>
                <a:cs typeface="Tahoma"/>
              </a:rPr>
              <a:t>time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to</a:t>
            </a:r>
            <a:endParaRPr sz="2400">
              <a:latin typeface="Tahoma"/>
              <a:cs typeface="Tahoma"/>
            </a:endParaRPr>
          </a:p>
          <a:p>
            <a:pPr marL="756285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create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Tahoma"/>
                <a:cs typeface="Tahoma"/>
              </a:rPr>
              <a:t>More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secure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Tahoma"/>
                <a:cs typeface="Tahoma"/>
              </a:rPr>
              <a:t>More </a:t>
            </a:r>
            <a:r>
              <a:rPr sz="2400" spc="-5" dirty="0">
                <a:latin typeface="Tahoma"/>
                <a:cs typeface="Tahoma"/>
              </a:rPr>
              <a:t>fault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tolerant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34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pc="-5" dirty="0"/>
              <a:t>Thread</a:t>
            </a:r>
          </a:p>
          <a:p>
            <a:pPr marL="756285" lvl="1" indent="-286385">
              <a:lnSpc>
                <a:spcPts val="2735"/>
              </a:lnSpc>
              <a:spcBef>
                <a:spcPts val="29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Tahoma"/>
                <a:cs typeface="Tahoma"/>
              </a:rPr>
              <a:t>Takes less </a:t>
            </a:r>
            <a:r>
              <a:rPr sz="2400" spc="-5" dirty="0">
                <a:latin typeface="Tahoma"/>
                <a:cs typeface="Tahoma"/>
              </a:rPr>
              <a:t>time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to</a:t>
            </a:r>
            <a:endParaRPr sz="2400">
              <a:latin typeface="Tahoma"/>
              <a:cs typeface="Tahoma"/>
            </a:endParaRPr>
          </a:p>
          <a:p>
            <a:pPr marL="756285">
              <a:lnSpc>
                <a:spcPts val="2735"/>
              </a:lnSpc>
            </a:pPr>
            <a:r>
              <a:rPr sz="2400" spc="-5" dirty="0"/>
              <a:t>create</a:t>
            </a:r>
            <a:endParaRPr sz="2400"/>
          </a:p>
          <a:p>
            <a:pPr marL="756285" marR="5080" lvl="1" indent="-286385">
              <a:lnSpc>
                <a:spcPts val="2590"/>
              </a:lnSpc>
              <a:spcBef>
                <a:spcPts val="61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Offers multiple  threads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execution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ts val="2735"/>
              </a:lnSpc>
              <a:spcBef>
                <a:spcPts val="254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Share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information</a:t>
            </a:r>
            <a:endParaRPr sz="2400">
              <a:latin typeface="Tahoma"/>
              <a:cs typeface="Tahoma"/>
            </a:endParaRPr>
          </a:p>
          <a:p>
            <a:pPr marL="756285">
              <a:lnSpc>
                <a:spcPts val="2735"/>
              </a:lnSpc>
            </a:pPr>
            <a:r>
              <a:rPr sz="2400" spc="-5" dirty="0"/>
              <a:t>with </a:t>
            </a:r>
            <a:r>
              <a:rPr sz="2400" dirty="0"/>
              <a:t>other</a:t>
            </a:r>
            <a:r>
              <a:rPr sz="2400" spc="-50" dirty="0"/>
              <a:t> </a:t>
            </a:r>
            <a:r>
              <a:rPr sz="2400" spc="-5" dirty="0"/>
              <a:t>threads</a:t>
            </a:r>
            <a:endParaRPr sz="2400"/>
          </a:p>
          <a:p>
            <a:pPr marL="756285" lvl="1" indent="-286385">
              <a:lnSpc>
                <a:spcPct val="100000"/>
              </a:lnSpc>
              <a:spcBef>
                <a:spcPts val="290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Tahoma"/>
                <a:cs typeface="Tahoma"/>
              </a:rPr>
              <a:t>Less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secure</a:t>
            </a:r>
            <a:endParaRPr sz="2400">
              <a:latin typeface="Tahoma"/>
              <a:cs typeface="Tahoma"/>
            </a:endParaRPr>
          </a:p>
          <a:p>
            <a:pPr marL="756285" marR="231140" lvl="1" indent="-286385">
              <a:lnSpc>
                <a:spcPts val="2590"/>
              </a:lnSpc>
              <a:spcBef>
                <a:spcPts val="61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Tahoma"/>
                <a:cs typeface="Tahoma"/>
              </a:rPr>
              <a:t>More vulnerable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to  crashes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72948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Servlet: </a:t>
            </a:r>
            <a:r>
              <a:rPr dirty="0"/>
              <a:t>Advantages over</a:t>
            </a:r>
            <a:r>
              <a:rPr spc="-80" dirty="0"/>
              <a:t> </a:t>
            </a:r>
            <a:r>
              <a:rPr spc="-10" dirty="0"/>
              <a:t>CGI</a:t>
            </a:r>
          </a:p>
        </p:txBody>
      </p:sp>
      <p:sp>
        <p:nvSpPr>
          <p:cNvPr id="7" name="object 7"/>
          <p:cNvSpPr/>
          <p:nvPr/>
        </p:nvSpPr>
        <p:spPr>
          <a:xfrm>
            <a:off x="1257453" y="2339352"/>
            <a:ext cx="6248092" cy="33552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72948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Servlet: </a:t>
            </a:r>
            <a:r>
              <a:rPr dirty="0"/>
              <a:t>Advantages over</a:t>
            </a:r>
            <a:r>
              <a:rPr spc="-80" dirty="0"/>
              <a:t> </a:t>
            </a:r>
            <a:r>
              <a:rPr spc="-10" dirty="0"/>
              <a:t>CGI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61617" y="2049525"/>
            <a:ext cx="6889750" cy="2415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Less response </a:t>
            </a:r>
            <a:r>
              <a:rPr sz="2800" spc="-10" dirty="0">
                <a:latin typeface="Tahoma"/>
                <a:cs typeface="Tahoma"/>
              </a:rPr>
              <a:t>time </a:t>
            </a:r>
            <a:r>
              <a:rPr sz="2800" spc="-5" dirty="0">
                <a:latin typeface="Tahoma"/>
                <a:cs typeface="Tahoma"/>
              </a:rPr>
              <a:t>because each request  runs in a separate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thread.</a:t>
            </a:r>
            <a:endParaRPr sz="28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Servlets are</a:t>
            </a:r>
            <a:r>
              <a:rPr sz="2800" spc="40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scalable.</a:t>
            </a:r>
            <a:endParaRPr sz="28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Servlets are robust and object</a:t>
            </a:r>
            <a:r>
              <a:rPr sz="2800" spc="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oriented.</a:t>
            </a:r>
            <a:endParaRPr sz="28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Servlets </a:t>
            </a:r>
            <a:r>
              <a:rPr sz="2800" dirty="0">
                <a:latin typeface="Tahoma"/>
                <a:cs typeface="Tahoma"/>
              </a:rPr>
              <a:t>are </a:t>
            </a:r>
            <a:r>
              <a:rPr sz="2800" spc="-5" dirty="0">
                <a:latin typeface="Tahoma"/>
                <a:cs typeface="Tahoma"/>
              </a:rPr>
              <a:t>platform</a:t>
            </a:r>
            <a:r>
              <a:rPr sz="2800" spc="3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independent.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95400" y="1028826"/>
            <a:ext cx="746442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pc="-5" dirty="0"/>
              <a:t>Servlet</a:t>
            </a:r>
            <a:r>
              <a:rPr spc="-85" dirty="0"/>
              <a:t> </a:t>
            </a:r>
            <a:r>
              <a:rPr dirty="0" smtClean="0"/>
              <a:t>Terminologies</a:t>
            </a:r>
            <a:r>
              <a:rPr lang="en-GB" dirty="0" smtClean="0"/>
              <a:t> :</a:t>
            </a:r>
            <a:r>
              <a:rPr lang="en-GB" spc="-10" dirty="0" smtClean="0">
                <a:latin typeface="Cambria" panose="02040503050406030204" pitchFamily="18" charset="0"/>
                <a:ea typeface="Cambria" panose="02040503050406030204" pitchFamily="18" charset="0"/>
              </a:rPr>
              <a:t>HTTP</a:t>
            </a:r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127000" y="1963619"/>
            <a:ext cx="9003352" cy="2876428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9085" indent="-286385">
              <a:spcBef>
                <a:spcPts val="49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Http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protocol that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allows web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servers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and browsers</a:t>
            </a:r>
            <a:r>
              <a:rPr sz="2400" spc="-6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</a:t>
            </a:r>
            <a:r>
              <a:rPr lang="en-GB" sz="24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exchange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data over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</a:t>
            </a:r>
            <a:r>
              <a:rPr sz="2400" spc="-5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web.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299085" indent="-286385">
              <a:spcBef>
                <a:spcPts val="48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a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response</a:t>
            </a:r>
            <a:r>
              <a:rPr sz="2400" spc="-3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protocol.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299085" indent="-286385">
              <a:spcBef>
                <a:spcPts val="48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Http uses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reliable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TCP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connections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by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default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on TCP port</a:t>
            </a:r>
            <a:r>
              <a:rPr sz="2400" spc="-1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80.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299085" marR="48895" indent="-286385">
              <a:spcBef>
                <a:spcPts val="484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is stateless means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each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 is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considered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as the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new  request. In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other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words, server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doesn't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recognize the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user by  default.</a:t>
            </a:r>
          </a:p>
        </p:txBody>
      </p:sp>
      <p:sp>
        <p:nvSpPr>
          <p:cNvPr id="9" name="object 9"/>
          <p:cNvSpPr/>
          <p:nvPr/>
        </p:nvSpPr>
        <p:spPr>
          <a:xfrm>
            <a:off x="3505200" y="4840047"/>
            <a:ext cx="4495800" cy="18478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17208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3540" y="2049525"/>
            <a:ext cx="8106409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A Java Servlet is a Java object </a:t>
            </a:r>
            <a:r>
              <a:rPr sz="2800" spc="-10" dirty="0">
                <a:latin typeface="Tahoma"/>
                <a:cs typeface="Tahoma"/>
              </a:rPr>
              <a:t>that </a:t>
            </a:r>
            <a:r>
              <a:rPr sz="2800" spc="-5" dirty="0">
                <a:latin typeface="Tahoma"/>
                <a:cs typeface="Tahoma"/>
              </a:rPr>
              <a:t>responds </a:t>
            </a:r>
            <a:r>
              <a:rPr sz="2800" spc="-10" dirty="0">
                <a:latin typeface="Tahoma"/>
                <a:cs typeface="Tahoma"/>
              </a:rPr>
              <a:t>to  HTTP </a:t>
            </a:r>
            <a:r>
              <a:rPr sz="2800" spc="-5" dirty="0">
                <a:latin typeface="Tahoma"/>
                <a:cs typeface="Tahoma"/>
              </a:rPr>
              <a:t>requests. It runs </a:t>
            </a:r>
            <a:r>
              <a:rPr sz="2800" spc="-10" dirty="0">
                <a:latin typeface="Tahoma"/>
                <a:cs typeface="Tahoma"/>
              </a:rPr>
              <a:t>inside </a:t>
            </a:r>
            <a:r>
              <a:rPr sz="2800" spc="-5" dirty="0">
                <a:latin typeface="Tahoma"/>
                <a:cs typeface="Tahoma"/>
              </a:rPr>
              <a:t>a Servlet</a:t>
            </a:r>
            <a:r>
              <a:rPr sz="2800" spc="1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container.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43001" y="3164965"/>
            <a:ext cx="7346948" cy="33882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17208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1140" y="1774173"/>
            <a:ext cx="8760460" cy="13436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 Servlet is part of a Java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web</a:t>
            </a:r>
            <a:r>
              <a:rPr sz="2800" spc="9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application.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58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 Servlet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container may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run multiple web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applications at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 same time, each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having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multiple servlets running</a:t>
            </a:r>
            <a:r>
              <a:rPr sz="2400" spc="-2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inside.</a:t>
            </a:r>
          </a:p>
        </p:txBody>
      </p:sp>
      <p:sp>
        <p:nvSpPr>
          <p:cNvPr id="8" name="object 8"/>
          <p:cNvSpPr/>
          <p:nvPr/>
        </p:nvSpPr>
        <p:spPr>
          <a:xfrm>
            <a:off x="2743200" y="3347974"/>
            <a:ext cx="5105400" cy="351002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17208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3050" y="2479539"/>
            <a:ext cx="8396287" cy="1825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488950" indent="-342265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 Java web application can contain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other</a:t>
            </a:r>
            <a:r>
              <a:rPr lang="en-GB"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components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than</a:t>
            </a:r>
            <a:r>
              <a:rPr sz="2800" spc="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servlets.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4965" marR="5080" indent="-342265" algn="just">
              <a:lnSpc>
                <a:spcPct val="100000"/>
              </a:lnSpc>
              <a:spcBef>
                <a:spcPts val="67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can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also contain Java Server Pages (JSP),  images, text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files,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documents,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Web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Services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etc.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71551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HTTP </a:t>
            </a:r>
            <a:r>
              <a:rPr dirty="0"/>
              <a:t>Request and</a:t>
            </a:r>
            <a:r>
              <a:rPr spc="-70" dirty="0"/>
              <a:t> </a:t>
            </a:r>
            <a:r>
              <a:rPr dirty="0"/>
              <a:t>Response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7000" y="2146300"/>
            <a:ext cx="9004490" cy="4721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29615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browser sends an HTTP request to the Java web  server.</a:t>
            </a:r>
            <a:endParaRPr sz="26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marR="218440" indent="-342900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web server checks </a:t>
            </a: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if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request </a:t>
            </a: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for a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servlet. If </a:t>
            </a: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z="26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, the servlet container </a:t>
            </a: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passed the</a:t>
            </a:r>
            <a:r>
              <a:rPr sz="2600" spc="-2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request.</a:t>
            </a:r>
            <a:endParaRPr sz="26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marR="28448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 container will then find </a:t>
            </a: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out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which servlet </a:t>
            </a:r>
            <a:r>
              <a:rPr sz="26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</a:t>
            </a:r>
            <a:r>
              <a:rPr lang="en-GB" sz="26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6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 </a:t>
            </a: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for,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and </a:t>
            </a: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activate that</a:t>
            </a:r>
            <a:r>
              <a:rPr sz="2600" spc="-2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6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servlet.</a:t>
            </a:r>
            <a:endParaRPr sz="26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marR="339344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 </a:t>
            </a: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activated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by </a:t>
            </a:r>
            <a:r>
              <a:rPr sz="26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calling the</a:t>
            </a:r>
            <a:r>
              <a:rPr lang="en-GB" sz="26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600" b="1" spc="-5" dirty="0" err="1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Servlet.service</a:t>
            </a:r>
            <a:r>
              <a:rPr sz="26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()method.</a:t>
            </a:r>
            <a:endParaRPr sz="2600" b="1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5600" algn="l"/>
                <a:tab pos="356235" algn="l"/>
              </a:tabLst>
            </a:pP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Once the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 </a:t>
            </a: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has been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activated</a:t>
            </a:r>
            <a:r>
              <a:rPr sz="2600" spc="-2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6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 processes the request,  and </a:t>
            </a: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generates a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response. </a:t>
            </a: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response </a:t>
            </a: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then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sent </a:t>
            </a:r>
            <a:r>
              <a:rPr sz="26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back 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the</a:t>
            </a:r>
            <a:r>
              <a:rPr sz="2600" spc="-1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browser.</a:t>
            </a:r>
            <a:endParaRPr sz="26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45123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</a:t>
            </a:r>
            <a:r>
              <a:rPr spc="-75" dirty="0"/>
              <a:t> </a:t>
            </a:r>
            <a:r>
              <a:rPr dirty="0"/>
              <a:t>Containers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94944" y="2099247"/>
            <a:ext cx="8872856" cy="4393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ahoma"/>
                <a:cs typeface="Tahoma"/>
              </a:rPr>
              <a:t>Java </a:t>
            </a:r>
            <a:r>
              <a:rPr sz="2400" spc="-5" dirty="0">
                <a:latin typeface="Tahoma"/>
                <a:cs typeface="Tahoma"/>
              </a:rPr>
              <a:t>servlet containers </a:t>
            </a:r>
            <a:r>
              <a:rPr sz="2400" dirty="0">
                <a:latin typeface="Tahoma"/>
                <a:cs typeface="Tahoma"/>
              </a:rPr>
              <a:t>are usually </a:t>
            </a:r>
            <a:r>
              <a:rPr sz="2400" spc="-5" dirty="0">
                <a:latin typeface="Tahoma"/>
                <a:cs typeface="Tahoma"/>
              </a:rPr>
              <a:t>running </a:t>
            </a:r>
            <a:r>
              <a:rPr sz="2400" dirty="0">
                <a:latin typeface="Tahoma"/>
                <a:cs typeface="Tahoma"/>
              </a:rPr>
              <a:t>inside a </a:t>
            </a:r>
            <a:r>
              <a:rPr sz="2400" spc="-5" dirty="0">
                <a:latin typeface="Tahoma"/>
                <a:cs typeface="Tahoma"/>
              </a:rPr>
              <a:t>Java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web</a:t>
            </a:r>
            <a:endParaRPr sz="24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server.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Tahoma"/>
                <a:cs typeface="Tahoma"/>
              </a:rPr>
              <a:t>Example: </a:t>
            </a:r>
            <a:r>
              <a:rPr sz="2400" b="1" dirty="0">
                <a:latin typeface="Tahoma"/>
                <a:cs typeface="Tahoma"/>
              </a:rPr>
              <a:t>Tomcat, </a:t>
            </a:r>
            <a:r>
              <a:rPr sz="2400" b="1" spc="-10" dirty="0">
                <a:latin typeface="Tahoma"/>
                <a:cs typeface="Tahoma"/>
              </a:rPr>
              <a:t>GlasssFish, </a:t>
            </a:r>
            <a:r>
              <a:rPr sz="2400" b="1" dirty="0">
                <a:latin typeface="Tahoma"/>
                <a:cs typeface="Tahoma"/>
              </a:rPr>
              <a:t>Jboss</a:t>
            </a:r>
            <a:r>
              <a:rPr sz="2400" b="1" spc="20" dirty="0">
                <a:latin typeface="Tahoma"/>
                <a:cs typeface="Tahoma"/>
              </a:rPr>
              <a:t> </a:t>
            </a:r>
            <a:r>
              <a:rPr sz="2400" b="1" spc="-5" dirty="0">
                <a:latin typeface="Tahoma"/>
                <a:cs typeface="Tahoma"/>
              </a:rPr>
              <a:t>etc.</a:t>
            </a:r>
            <a:endParaRPr sz="2400" b="1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Container:</a:t>
            </a:r>
            <a:endParaRPr sz="2800" dirty="0">
              <a:latin typeface="Tahoma"/>
              <a:cs typeface="Tahoma"/>
            </a:endParaRPr>
          </a:p>
          <a:p>
            <a:pPr marL="756285" marR="1200785" lvl="1" indent="-286385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It </a:t>
            </a:r>
            <a:r>
              <a:rPr sz="2400" dirty="0">
                <a:latin typeface="Tahoma"/>
                <a:cs typeface="Tahoma"/>
              </a:rPr>
              <a:t>provides </a:t>
            </a:r>
            <a:r>
              <a:rPr sz="2400" spc="-5" dirty="0">
                <a:latin typeface="Tahoma"/>
                <a:cs typeface="Tahoma"/>
              </a:rPr>
              <a:t>runtime environment </a:t>
            </a:r>
            <a:r>
              <a:rPr sz="2400" dirty="0">
                <a:latin typeface="Tahoma"/>
                <a:cs typeface="Tahoma"/>
              </a:rPr>
              <a:t>for </a:t>
            </a:r>
            <a:r>
              <a:rPr sz="2400" spc="-5" dirty="0">
                <a:latin typeface="Tahoma"/>
                <a:cs typeface="Tahoma"/>
              </a:rPr>
              <a:t>JavaEE (j2ee)  </a:t>
            </a:r>
            <a:r>
              <a:rPr sz="2400" dirty="0">
                <a:latin typeface="Tahoma"/>
                <a:cs typeface="Tahoma"/>
              </a:rPr>
              <a:t>applications.</a:t>
            </a:r>
          </a:p>
          <a:p>
            <a:pPr marL="756285" lvl="1" indent="-286385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SzPct val="53571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Tahoma"/>
                <a:cs typeface="Tahoma"/>
              </a:rPr>
              <a:t>It performs many operations </a:t>
            </a:r>
            <a:r>
              <a:rPr sz="2800" spc="-10" dirty="0">
                <a:latin typeface="Tahoma"/>
                <a:cs typeface="Tahoma"/>
              </a:rPr>
              <a:t>that </a:t>
            </a:r>
            <a:r>
              <a:rPr sz="2800" spc="-5" dirty="0">
                <a:latin typeface="Tahoma"/>
                <a:cs typeface="Tahoma"/>
              </a:rPr>
              <a:t>are given</a:t>
            </a:r>
            <a:r>
              <a:rPr sz="2800" spc="114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below:</a:t>
            </a:r>
            <a:endParaRPr sz="2800" dirty="0">
              <a:latin typeface="Tahoma"/>
              <a:cs typeface="Tahoma"/>
            </a:endParaRPr>
          </a:p>
          <a:p>
            <a:pPr marL="1155700" lvl="2" indent="-228600">
              <a:lnSpc>
                <a:spcPct val="100000"/>
              </a:lnSpc>
              <a:spcBef>
                <a:spcPts val="585"/>
              </a:spcBef>
              <a:buClr>
                <a:srgbClr val="3333CC"/>
              </a:buClr>
              <a:buSzPct val="50000"/>
              <a:buFont typeface="Wingdings"/>
              <a:buChar char=""/>
              <a:tabLst>
                <a:tab pos="1156335" algn="l"/>
              </a:tabLst>
            </a:pPr>
            <a:r>
              <a:rPr sz="2400" dirty="0">
                <a:latin typeface="Tahoma"/>
                <a:cs typeface="Tahoma"/>
              </a:rPr>
              <a:t>Life Cycle</a:t>
            </a:r>
            <a:r>
              <a:rPr sz="2400" spc="-5" dirty="0">
                <a:latin typeface="Tahoma"/>
                <a:cs typeface="Tahoma"/>
              </a:rPr>
              <a:t> Management</a:t>
            </a:r>
            <a:endParaRPr sz="2400" dirty="0">
              <a:latin typeface="Tahoma"/>
              <a:cs typeface="Tahoma"/>
            </a:endParaRPr>
          </a:p>
          <a:p>
            <a:pPr marL="1155700" lvl="2" indent="-2286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50000"/>
              <a:buFont typeface="Wingdings"/>
              <a:buChar char=""/>
              <a:tabLst>
                <a:tab pos="1156335" algn="l"/>
              </a:tabLst>
            </a:pPr>
            <a:r>
              <a:rPr sz="2400" spc="-5" dirty="0">
                <a:latin typeface="Tahoma"/>
                <a:cs typeface="Tahoma"/>
              </a:rPr>
              <a:t>Multithreaded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support</a:t>
            </a:r>
            <a:endParaRPr sz="2400" dirty="0">
              <a:latin typeface="Tahoma"/>
              <a:cs typeface="Tahoma"/>
            </a:endParaRPr>
          </a:p>
          <a:p>
            <a:pPr marL="1155700" lvl="2" indent="-2286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50000"/>
              <a:buFont typeface="Wingdings"/>
              <a:buChar char=""/>
              <a:tabLst>
                <a:tab pos="1156335" algn="l"/>
              </a:tabLst>
            </a:pPr>
            <a:r>
              <a:rPr sz="2400" spc="-5" dirty="0">
                <a:latin typeface="Tahoma"/>
                <a:cs typeface="Tahoma"/>
              </a:rPr>
              <a:t>Security</a:t>
            </a:r>
            <a:r>
              <a:rPr sz="240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etc.</a:t>
            </a:r>
            <a:endParaRPr sz="2400" dirty="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16071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7000" y="1963590"/>
            <a:ext cx="9017000" cy="4202432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756285" lvl="1" indent="-286385">
              <a:lnSpc>
                <a:spcPct val="100000"/>
              </a:lnSpc>
              <a:spcBef>
                <a:spcPts val="58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a running program or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software that</a:t>
            </a:r>
            <a:r>
              <a:rPr sz="2800" spc="-8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provides</a:t>
            </a:r>
            <a:r>
              <a:rPr lang="en-GB"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services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Two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types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1155700" lvl="2" indent="-228600">
              <a:lnSpc>
                <a:spcPct val="100000"/>
              </a:lnSpc>
              <a:spcBef>
                <a:spcPts val="484"/>
              </a:spcBef>
              <a:buClr>
                <a:srgbClr val="3333CC"/>
              </a:buClr>
              <a:buSzPct val="50000"/>
              <a:buFont typeface="Wingdings"/>
              <a:buChar char=""/>
              <a:tabLst>
                <a:tab pos="1155700" algn="l"/>
                <a:tab pos="1156335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Web</a:t>
            </a:r>
            <a:r>
              <a:rPr sz="2400" spc="-3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Server: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1612900" marR="5080" lvl="3" indent="-228600">
              <a:lnSpc>
                <a:spcPct val="100000"/>
              </a:lnSpc>
              <a:spcBef>
                <a:spcPts val="390"/>
              </a:spcBef>
              <a:buClr>
                <a:srgbClr val="FFCF00"/>
              </a:buClr>
              <a:buSzPct val="53125"/>
              <a:buFont typeface="Wingdings"/>
              <a:buChar char=""/>
              <a:tabLst>
                <a:tab pos="1612900" algn="l"/>
                <a:tab pos="1613535" algn="l"/>
              </a:tabLst>
            </a:pPr>
            <a:r>
              <a:rPr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Web </a:t>
            </a: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server contains </a:t>
            </a:r>
            <a:r>
              <a:rPr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only </a:t>
            </a: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web </a:t>
            </a:r>
            <a:r>
              <a:rPr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or </a:t>
            </a: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 container. </a:t>
            </a:r>
            <a:r>
              <a:rPr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can </a:t>
            </a:r>
            <a:r>
              <a:rPr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be </a:t>
            </a: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used </a:t>
            </a:r>
            <a:r>
              <a:rPr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for </a:t>
            </a: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servlet,  jsp, struts, jsf etc. </a:t>
            </a:r>
            <a:r>
              <a:rPr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can't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be </a:t>
            </a: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used </a:t>
            </a:r>
            <a:r>
              <a:rPr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for</a:t>
            </a:r>
            <a:r>
              <a:rPr spc="13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EJB.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1612900" lvl="3" indent="-228600">
              <a:lnSpc>
                <a:spcPct val="100000"/>
              </a:lnSpc>
              <a:spcBef>
                <a:spcPts val="384"/>
              </a:spcBef>
              <a:buClr>
                <a:srgbClr val="FFCF00"/>
              </a:buClr>
              <a:buSzPct val="53125"/>
              <a:buFont typeface="Wingdings"/>
              <a:buChar char=""/>
              <a:tabLst>
                <a:tab pos="1612900" algn="l"/>
                <a:tab pos="1613535" algn="l"/>
              </a:tabLst>
            </a:pPr>
            <a:r>
              <a:rPr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Example of Web </a:t>
            </a: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Servers </a:t>
            </a:r>
            <a:r>
              <a:rPr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are: Apache Tomcat and</a:t>
            </a:r>
            <a:r>
              <a:rPr spc="6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Resin.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1155700" lvl="2" indent="-228600">
              <a:lnSpc>
                <a:spcPct val="100000"/>
              </a:lnSpc>
              <a:spcBef>
                <a:spcPts val="475"/>
              </a:spcBef>
              <a:buClr>
                <a:srgbClr val="3333CC"/>
              </a:buClr>
              <a:buSzPct val="50000"/>
              <a:buFont typeface="Wingdings"/>
              <a:buChar char=""/>
              <a:tabLst>
                <a:tab pos="1155700" algn="l"/>
                <a:tab pos="1156335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Application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Server: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1612900" lvl="3" indent="-228600">
              <a:lnSpc>
                <a:spcPct val="100000"/>
              </a:lnSpc>
              <a:spcBef>
                <a:spcPts val="390"/>
              </a:spcBef>
              <a:buClr>
                <a:srgbClr val="FFCF00"/>
              </a:buClr>
              <a:buSzPct val="53125"/>
              <a:buFont typeface="Wingdings"/>
              <a:buChar char=""/>
              <a:tabLst>
                <a:tab pos="1612900" algn="l"/>
                <a:tab pos="1613535" algn="l"/>
              </a:tabLst>
            </a:pPr>
            <a:r>
              <a:rPr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Application </a:t>
            </a: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server contains </a:t>
            </a:r>
            <a:r>
              <a:rPr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Web and EJB containers. It can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be </a:t>
            </a:r>
            <a:r>
              <a:rPr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used</a:t>
            </a:r>
            <a:r>
              <a:rPr spc="10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for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1612900">
              <a:lnSpc>
                <a:spcPct val="100000"/>
              </a:lnSpc>
            </a:pP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servlet, jsp, struts, jsf, ejb</a:t>
            </a:r>
            <a:r>
              <a:rPr spc="1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etc.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1612900" lvl="3" indent="-228600">
              <a:lnSpc>
                <a:spcPct val="100000"/>
              </a:lnSpc>
              <a:spcBef>
                <a:spcPts val="385"/>
              </a:spcBef>
              <a:buClr>
                <a:srgbClr val="FFCF00"/>
              </a:buClr>
              <a:buSzPct val="53125"/>
              <a:buFont typeface="Wingdings"/>
              <a:buChar char=""/>
              <a:tabLst>
                <a:tab pos="1612900" algn="l"/>
                <a:tab pos="1613535" algn="l"/>
              </a:tabLst>
            </a:pPr>
            <a:r>
              <a:rPr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Ex: </a:t>
            </a:r>
            <a:r>
              <a:rPr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Jboss</a:t>
            </a:r>
            <a:r>
              <a:rPr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, </a:t>
            </a:r>
            <a:r>
              <a:rPr b="1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Glassfish, </a:t>
            </a:r>
            <a:r>
              <a:rPr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Weblogic,</a:t>
            </a:r>
            <a:r>
              <a:rPr b="1" spc="13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Websphere</a:t>
            </a:r>
            <a:endParaRPr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33407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Content</a:t>
            </a:r>
            <a:r>
              <a:rPr spc="-100" dirty="0"/>
              <a:t> </a:t>
            </a:r>
            <a:r>
              <a:rPr dirty="0"/>
              <a:t>Type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61617" y="1963590"/>
            <a:ext cx="7536815" cy="214820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Content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Type:</a:t>
            </a:r>
            <a:endParaRPr sz="28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Tahoma"/>
                <a:cs typeface="Tahoma"/>
              </a:rPr>
              <a:t>Content Type is also </a:t>
            </a:r>
            <a:r>
              <a:rPr sz="2400" spc="-5" dirty="0">
                <a:latin typeface="Tahoma"/>
                <a:cs typeface="Tahoma"/>
              </a:rPr>
              <a:t>known </a:t>
            </a:r>
            <a:r>
              <a:rPr sz="2400" dirty="0">
                <a:latin typeface="Tahoma"/>
                <a:cs typeface="Tahoma"/>
              </a:rPr>
              <a:t>as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MIME</a:t>
            </a:r>
          </a:p>
          <a:p>
            <a:pPr marL="756285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(Multipurpose </a:t>
            </a:r>
            <a:r>
              <a:rPr sz="2400" spc="-5" dirty="0">
                <a:latin typeface="Tahoma"/>
                <a:cs typeface="Tahoma"/>
              </a:rPr>
              <a:t>internet Mail Extension)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Type.</a:t>
            </a:r>
            <a:endParaRPr sz="2400" dirty="0">
              <a:latin typeface="Tahoma"/>
              <a:cs typeface="Tahoma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It </a:t>
            </a:r>
            <a:r>
              <a:rPr sz="2400" dirty="0">
                <a:latin typeface="Tahoma"/>
                <a:cs typeface="Tahoma"/>
              </a:rPr>
              <a:t>is a </a:t>
            </a:r>
            <a:r>
              <a:rPr sz="2400" b="1" spc="-5" dirty="0">
                <a:latin typeface="Tahoma"/>
                <a:cs typeface="Tahoma"/>
              </a:rPr>
              <a:t>HTTP header </a:t>
            </a:r>
            <a:r>
              <a:rPr sz="2400" spc="-5" dirty="0">
                <a:latin typeface="Tahoma"/>
                <a:cs typeface="Tahoma"/>
              </a:rPr>
              <a:t>that </a:t>
            </a:r>
            <a:r>
              <a:rPr sz="2400" dirty="0">
                <a:latin typeface="Tahoma"/>
                <a:cs typeface="Tahoma"/>
              </a:rPr>
              <a:t>provides </a:t>
            </a:r>
            <a:r>
              <a:rPr sz="2400" spc="-5" dirty="0">
                <a:latin typeface="Tahoma"/>
                <a:cs typeface="Tahoma"/>
              </a:rPr>
              <a:t>the </a:t>
            </a:r>
            <a:r>
              <a:rPr sz="2400" dirty="0">
                <a:latin typeface="Tahoma"/>
                <a:cs typeface="Tahoma"/>
              </a:rPr>
              <a:t>description  about </a:t>
            </a:r>
            <a:r>
              <a:rPr sz="2400" spc="-5" dirty="0">
                <a:latin typeface="Tahoma"/>
                <a:cs typeface="Tahoma"/>
              </a:rPr>
              <a:t>what </a:t>
            </a:r>
            <a:r>
              <a:rPr sz="2400" dirty="0">
                <a:latin typeface="Tahoma"/>
                <a:cs typeface="Tahoma"/>
              </a:rPr>
              <a:t>are </a:t>
            </a:r>
            <a:r>
              <a:rPr sz="2400" spc="-5" dirty="0">
                <a:latin typeface="Tahoma"/>
                <a:cs typeface="Tahoma"/>
              </a:rPr>
              <a:t>you sending to the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browser.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33598" y="6514286"/>
            <a:ext cx="98425" cy="1428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50" spc="10" dirty="0">
                <a:solidFill>
                  <a:srgbClr val="FFCF00"/>
                </a:solidFill>
                <a:latin typeface="Wingdings"/>
                <a:cs typeface="Wingdings"/>
              </a:rPr>
              <a:t></a:t>
            </a:r>
            <a:endParaRPr sz="750">
              <a:latin typeface="Wingdings"/>
              <a:cs typeface="Wingding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33598" y="4086834"/>
            <a:ext cx="3215005" cy="26625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4"/>
              </a:spcBef>
              <a:buClr>
                <a:srgbClr val="FFCF00"/>
              </a:buClr>
              <a:buSzPct val="53571"/>
              <a:buFont typeface="Wingdings"/>
              <a:buChar char=""/>
              <a:tabLst>
                <a:tab pos="240665" algn="l"/>
                <a:tab pos="241300" algn="l"/>
              </a:tabLst>
            </a:pPr>
            <a:r>
              <a:rPr sz="1400" spc="-5" dirty="0">
                <a:latin typeface="Tahoma"/>
                <a:cs typeface="Tahoma"/>
              </a:rPr>
              <a:t>text/html</a:t>
            </a:r>
            <a:endParaRPr sz="14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Clr>
                <a:srgbClr val="FFCF00"/>
              </a:buClr>
              <a:buSzPct val="53571"/>
              <a:buFont typeface="Wingdings"/>
              <a:buChar char=""/>
              <a:tabLst>
                <a:tab pos="240665" algn="l"/>
                <a:tab pos="241300" algn="l"/>
              </a:tabLst>
            </a:pPr>
            <a:r>
              <a:rPr sz="1400" dirty="0">
                <a:latin typeface="Tahoma"/>
                <a:cs typeface="Tahoma"/>
              </a:rPr>
              <a:t>text/plain</a:t>
            </a:r>
            <a:endParaRPr sz="14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Clr>
                <a:srgbClr val="FFCF00"/>
              </a:buClr>
              <a:buSzPct val="53571"/>
              <a:buFont typeface="Wingdings"/>
              <a:buChar char=""/>
              <a:tabLst>
                <a:tab pos="240665" algn="l"/>
                <a:tab pos="241300" algn="l"/>
              </a:tabLst>
            </a:pPr>
            <a:r>
              <a:rPr sz="1400" spc="-5" dirty="0">
                <a:latin typeface="Tahoma"/>
                <a:cs typeface="Tahoma"/>
              </a:rPr>
              <a:t>application/msword</a:t>
            </a:r>
            <a:endParaRPr sz="14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Clr>
                <a:srgbClr val="FFCF00"/>
              </a:buClr>
              <a:buSzPct val="53571"/>
              <a:buFont typeface="Wingdings"/>
              <a:buChar char=""/>
              <a:tabLst>
                <a:tab pos="240665" algn="l"/>
                <a:tab pos="241300" algn="l"/>
              </a:tabLst>
            </a:pPr>
            <a:r>
              <a:rPr sz="1400" dirty="0">
                <a:latin typeface="Tahoma"/>
                <a:cs typeface="Tahoma"/>
              </a:rPr>
              <a:t>application/vnd.ms-excel</a:t>
            </a:r>
            <a:endParaRPr sz="14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340"/>
              </a:spcBef>
              <a:buClr>
                <a:srgbClr val="FFCF00"/>
              </a:buClr>
              <a:buSzPct val="53571"/>
              <a:buFont typeface="Wingdings"/>
              <a:buChar char=""/>
              <a:tabLst>
                <a:tab pos="240665" algn="l"/>
                <a:tab pos="241300" algn="l"/>
              </a:tabLst>
            </a:pPr>
            <a:r>
              <a:rPr sz="1400" spc="-5" dirty="0">
                <a:latin typeface="Tahoma"/>
                <a:cs typeface="Tahoma"/>
              </a:rPr>
              <a:t>application/jar</a:t>
            </a:r>
            <a:endParaRPr sz="14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Clr>
                <a:srgbClr val="FFCF00"/>
              </a:buClr>
              <a:buSzPct val="53571"/>
              <a:buFont typeface="Wingdings"/>
              <a:buChar char=""/>
              <a:tabLst>
                <a:tab pos="240665" algn="l"/>
                <a:tab pos="241300" algn="l"/>
              </a:tabLst>
            </a:pPr>
            <a:r>
              <a:rPr sz="1400" dirty="0">
                <a:latin typeface="Tahoma"/>
                <a:cs typeface="Tahoma"/>
              </a:rPr>
              <a:t>application/pdf</a:t>
            </a:r>
            <a:endParaRPr sz="14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Clr>
                <a:srgbClr val="FFCF00"/>
              </a:buClr>
              <a:buSzPct val="53571"/>
              <a:buFont typeface="Wingdings"/>
              <a:buChar char=""/>
              <a:tabLst>
                <a:tab pos="240665" algn="l"/>
                <a:tab pos="241300" algn="l"/>
              </a:tabLst>
            </a:pPr>
            <a:r>
              <a:rPr sz="1400" spc="-5" dirty="0">
                <a:latin typeface="Tahoma"/>
                <a:cs typeface="Tahoma"/>
              </a:rPr>
              <a:t>application/octet-stream</a:t>
            </a:r>
            <a:endParaRPr sz="14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340"/>
              </a:spcBef>
              <a:buClr>
                <a:srgbClr val="FFCF00"/>
              </a:buClr>
              <a:buSzPct val="53571"/>
              <a:buFont typeface="Wingdings"/>
              <a:buChar char=""/>
              <a:tabLst>
                <a:tab pos="240665" algn="l"/>
                <a:tab pos="241300" algn="l"/>
              </a:tabLst>
            </a:pPr>
            <a:r>
              <a:rPr sz="1400" dirty="0">
                <a:latin typeface="Tahoma"/>
                <a:cs typeface="Tahoma"/>
              </a:rPr>
              <a:t>application/x-zip</a:t>
            </a:r>
            <a:endParaRPr sz="14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Clr>
                <a:srgbClr val="FFCF00"/>
              </a:buClr>
              <a:buSzPct val="53571"/>
              <a:buFont typeface="Wingdings"/>
              <a:buChar char=""/>
              <a:tabLst>
                <a:tab pos="240665" algn="l"/>
                <a:tab pos="241300" algn="l"/>
              </a:tabLst>
            </a:pPr>
            <a:r>
              <a:rPr sz="1400" dirty="0">
                <a:latin typeface="Tahoma"/>
                <a:cs typeface="Tahoma"/>
              </a:rPr>
              <a:t>images/jpeg</a:t>
            </a:r>
            <a:endParaRPr sz="1400">
              <a:latin typeface="Tahoma"/>
              <a:cs typeface="Tahoma"/>
            </a:endParaRPr>
          </a:p>
          <a:p>
            <a:pPr marL="241300">
              <a:lnSpc>
                <a:spcPct val="100000"/>
              </a:lnSpc>
              <a:spcBef>
                <a:spcPts val="935"/>
              </a:spcBef>
            </a:pPr>
            <a:r>
              <a:rPr sz="2100" spc="-202" baseline="23809" dirty="0">
                <a:latin typeface="Tahoma"/>
                <a:cs typeface="Tahoma"/>
              </a:rPr>
              <a:t>video/quick</a:t>
            </a:r>
            <a:r>
              <a:rPr sz="1400" spc="-135" dirty="0">
                <a:latin typeface="Tahoma"/>
                <a:cs typeface="Tahoma"/>
              </a:rPr>
              <a:t>M</a:t>
            </a:r>
            <a:r>
              <a:rPr sz="2100" spc="-202" baseline="23809" dirty="0">
                <a:latin typeface="Tahoma"/>
                <a:cs typeface="Tahoma"/>
              </a:rPr>
              <a:t>tim</a:t>
            </a:r>
            <a:r>
              <a:rPr sz="1400" spc="-135" dirty="0">
                <a:latin typeface="Tahoma"/>
                <a:cs typeface="Tahoma"/>
              </a:rPr>
              <a:t>r. </a:t>
            </a:r>
            <a:r>
              <a:rPr sz="2100" spc="-120" baseline="23809" dirty="0">
                <a:latin typeface="Tahoma"/>
                <a:cs typeface="Tahoma"/>
              </a:rPr>
              <a:t>e</a:t>
            </a:r>
            <a:r>
              <a:rPr sz="1400" spc="-80" dirty="0">
                <a:latin typeface="Tahoma"/>
                <a:cs typeface="Tahoma"/>
              </a:rPr>
              <a:t>Nilesh </a:t>
            </a:r>
            <a:r>
              <a:rPr sz="1400" spc="-10" dirty="0">
                <a:latin typeface="Tahoma"/>
                <a:cs typeface="Tahoma"/>
              </a:rPr>
              <a:t>Vishwasrao</a:t>
            </a:r>
            <a:r>
              <a:rPr sz="1400" spc="-15" dirty="0">
                <a:latin typeface="Tahoma"/>
                <a:cs typeface="Tahoma"/>
              </a:rPr>
              <a:t> Patil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400875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Types of</a:t>
            </a:r>
            <a:r>
              <a:rPr spc="-75" dirty="0"/>
              <a:t> </a:t>
            </a:r>
            <a:r>
              <a:rPr spc="-5" dirty="0"/>
              <a:t>Servlet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7000" y="1963590"/>
            <a:ext cx="8788400" cy="35740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Generic</a:t>
            </a:r>
            <a:r>
              <a:rPr sz="36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6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Servlet:</a:t>
            </a:r>
            <a:endParaRPr sz="36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 </a:t>
            </a:r>
            <a:r>
              <a:rPr sz="32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javax.servlet.GenericServlet</a:t>
            </a:r>
            <a:r>
              <a:rPr sz="3200" spc="7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package</a:t>
            </a: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protocol</a:t>
            </a:r>
            <a:r>
              <a:rPr sz="3200" spc="-2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independent.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6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HTTP</a:t>
            </a:r>
            <a:r>
              <a:rPr sz="36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Servlet</a:t>
            </a:r>
            <a:endParaRPr sz="36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 </a:t>
            </a:r>
            <a:r>
              <a:rPr sz="32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javax.servlet.HTTPServlet</a:t>
            </a:r>
            <a:r>
              <a:rPr sz="3200" spc="4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package</a:t>
            </a: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Built-in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HTTP protocol</a:t>
            </a:r>
            <a:r>
              <a:rPr sz="3200" spc="-4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support.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4008754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Types of</a:t>
            </a:r>
            <a:r>
              <a:rPr spc="-75" dirty="0"/>
              <a:t> </a:t>
            </a:r>
            <a:r>
              <a:rPr spc="-5" dirty="0"/>
              <a:t>Servlet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05021"/>
              </p:ext>
            </p:extLst>
          </p:nvPr>
        </p:nvGraphicFramePr>
        <p:xfrm>
          <a:off x="228600" y="2209800"/>
          <a:ext cx="8763000" cy="44958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4348"/>
                <a:gridCol w="4498652"/>
              </a:tblGrid>
              <a:tr h="64753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Generic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Servlet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E3A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HTTP</a:t>
                      </a:r>
                      <a:r>
                        <a:rPr sz="2400" b="1" spc="-15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Servlet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E3A8"/>
                    </a:solidFill>
                  </a:tcPr>
                </a:tc>
              </a:tr>
              <a:tr h="1118232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Package:</a:t>
                      </a:r>
                      <a:r>
                        <a:rPr sz="2400" spc="-1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javax.servlet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Package:</a:t>
                      </a:r>
                      <a:r>
                        <a:rPr sz="2400" spc="-2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javax.servlet.http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</a:tr>
              <a:tr h="1611802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It is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protocol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independent</a:t>
                      </a:r>
                      <a:r>
                        <a:rPr sz="2400" spc="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servlet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9F0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21272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It is protocol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dependent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specifically  only </a:t>
                      </a:r>
                      <a:r>
                        <a:rPr sz="2400" spc="-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HTTP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protocol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request- 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response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handle.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9F0"/>
                    </a:solidFill>
                  </a:tcPr>
                </a:tc>
              </a:tr>
              <a:tr h="1118232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It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uses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service()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method</a:t>
                      </a:r>
                      <a:r>
                        <a:rPr sz="2400" spc="-2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for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  <a:p>
                      <a:pPr marL="97790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handling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request-response.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It uses methods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like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doPost(),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doGet()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40106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 </a:t>
            </a:r>
            <a:r>
              <a:rPr dirty="0"/>
              <a:t>life</a:t>
            </a:r>
            <a:r>
              <a:rPr spc="-85" dirty="0"/>
              <a:t> </a:t>
            </a:r>
            <a:r>
              <a:rPr spc="-5" dirty="0"/>
              <a:t>cycle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42886" y="2064113"/>
            <a:ext cx="8626476" cy="420307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Each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instance is loaded once.</a:t>
            </a: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Each execution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happens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separate</a:t>
            </a:r>
            <a:r>
              <a:rPr sz="2800" spc="-2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thread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Three</a:t>
            </a:r>
            <a:r>
              <a:rPr sz="2800" spc="-2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methods:</a:t>
            </a:r>
          </a:p>
          <a:p>
            <a:pPr marL="756285" lvl="1" indent="-286385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init()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: call only once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initialize</a:t>
            </a:r>
            <a:r>
              <a:rPr sz="2400" spc="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service()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: Call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for every</a:t>
            </a:r>
            <a:r>
              <a:rPr sz="2400" spc="-2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destroy()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: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call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only</a:t>
            </a:r>
            <a:r>
              <a:rPr sz="2400" spc="-2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once</a:t>
            </a: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Method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service()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invoked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every time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 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comes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.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spawns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off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threads to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perform doGet or 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doPost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based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on the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method</a:t>
            </a:r>
            <a:r>
              <a:rPr sz="2800" spc="-3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invoked.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40106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 </a:t>
            </a:r>
            <a:r>
              <a:rPr dirty="0"/>
              <a:t>life</a:t>
            </a:r>
            <a:r>
              <a:rPr spc="-85" dirty="0"/>
              <a:t> </a:t>
            </a:r>
            <a:r>
              <a:rPr spc="-5" dirty="0"/>
              <a:t>cycle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07340" y="1868679"/>
            <a:ext cx="8836660" cy="42569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  <a:buClr>
                <a:srgbClr val="3333CC"/>
              </a:buClr>
              <a:buSzPct val="60416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1.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Load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Class.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tabLst>
                <a:tab pos="354965" algn="l"/>
                <a:tab pos="355600" algn="l"/>
              </a:tabLst>
            </a:pP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2. Create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Instance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of</a:t>
            </a:r>
            <a:r>
              <a:rPr sz="2800" spc="-2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3. Call the servlets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init()</a:t>
            </a:r>
            <a:r>
              <a:rPr sz="2800" spc="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method.</a:t>
            </a:r>
          </a:p>
          <a:p>
            <a:pPr marL="127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4. Call the servlets service()</a:t>
            </a:r>
            <a:r>
              <a:rPr sz="2800" spc="4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method.</a:t>
            </a:r>
          </a:p>
          <a:p>
            <a:pPr marL="12700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tabLst>
                <a:tab pos="354965" algn="l"/>
                <a:tab pos="355600" algn="l"/>
              </a:tabLst>
            </a:pP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5. Call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servlets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destroy()</a:t>
            </a:r>
            <a:r>
              <a:rPr sz="2800" spc="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method.</a:t>
            </a:r>
          </a:p>
          <a:p>
            <a:pPr marL="12700" marR="508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tabLst>
                <a:tab pos="354965" algn="l"/>
                <a:tab pos="355600" algn="l"/>
              </a:tabLst>
            </a:pPr>
            <a:r>
              <a:rPr sz="2400" b="1" spc="-5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Note: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Step 1,2,3 executed only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once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when servlet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initially  </a:t>
            </a:r>
            <a:r>
              <a:rPr sz="24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loaded.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</a:p>
          <a:p>
            <a:pPr marL="12700" marR="508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tabLst>
                <a:tab pos="354965" algn="l"/>
                <a:tab pos="355600" algn="l"/>
              </a:tabLst>
            </a:pPr>
            <a:r>
              <a:rPr sz="2400" b="1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Step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4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executed </a:t>
            </a:r>
            <a:r>
              <a:rPr lang="en-GB" sz="2400" b="1" spc="-26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"</a:t>
            </a:r>
            <a:r>
              <a:rPr sz="2400" b="1" spc="-26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N</a:t>
            </a:r>
            <a:r>
              <a:rPr lang="en-GB" sz="2400" b="1" spc="-26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"</a:t>
            </a:r>
            <a:r>
              <a:rPr sz="2400" b="1" spc="-26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-times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whenever http request</a:t>
            </a:r>
            <a:r>
              <a:rPr sz="2400" spc="-22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comes</a:t>
            </a:r>
            <a:r>
              <a:rPr lang="en-GB" sz="24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</a:p>
          <a:p>
            <a:pPr marL="12700" marR="508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tabLst>
                <a:tab pos="354965" algn="l"/>
                <a:tab pos="355600" algn="l"/>
              </a:tabLst>
            </a:pPr>
            <a:r>
              <a:rPr sz="24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Step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5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executed to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destroy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means unload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  class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49802" y="6509715"/>
            <a:ext cx="4298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65" dirty="0">
                <a:latin typeface="Tahoma"/>
                <a:cs typeface="Tahoma"/>
              </a:rPr>
              <a:t>Mr.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-5" dirty="0">
                <a:latin typeface="Tahoma"/>
                <a:cs typeface="Tahoma"/>
              </a:rPr>
              <a:t>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66520" y="6522328"/>
            <a:ext cx="1669414" cy="2152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Tahoma"/>
                <a:cs typeface="Tahoma"/>
              </a:rPr>
              <a:t>ilesh </a:t>
            </a:r>
            <a:r>
              <a:rPr sz="1400" spc="-10" dirty="0">
                <a:latin typeface="Tahoma"/>
                <a:cs typeface="Tahoma"/>
              </a:rPr>
              <a:t>Vishwasrao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Patil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4939" y="563321"/>
            <a:ext cx="40112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 </a:t>
            </a:r>
            <a:r>
              <a:rPr dirty="0"/>
              <a:t>life</a:t>
            </a:r>
            <a:r>
              <a:rPr spc="-90" dirty="0"/>
              <a:t> </a:t>
            </a:r>
            <a:r>
              <a:rPr spc="-5" dirty="0"/>
              <a:t>cycle</a:t>
            </a:r>
          </a:p>
        </p:txBody>
      </p:sp>
      <p:sp>
        <p:nvSpPr>
          <p:cNvPr id="9" name="object 9"/>
          <p:cNvSpPr/>
          <p:nvPr/>
        </p:nvSpPr>
        <p:spPr>
          <a:xfrm>
            <a:off x="4086225" y="76200"/>
            <a:ext cx="5057774" cy="67770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40106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 </a:t>
            </a:r>
            <a:r>
              <a:rPr dirty="0"/>
              <a:t>life</a:t>
            </a:r>
            <a:r>
              <a:rPr spc="-85" dirty="0"/>
              <a:t> </a:t>
            </a:r>
            <a:r>
              <a:rPr spc="-5" dirty="0"/>
              <a:t>cycle</a:t>
            </a:r>
          </a:p>
        </p:txBody>
      </p:sp>
      <p:sp>
        <p:nvSpPr>
          <p:cNvPr id="7" name="object 7"/>
          <p:cNvSpPr/>
          <p:nvPr/>
        </p:nvSpPr>
        <p:spPr>
          <a:xfrm>
            <a:off x="1889383" y="2320794"/>
            <a:ext cx="5436728" cy="39084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27451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</a:t>
            </a:r>
            <a:r>
              <a:rPr spc="-85" dirty="0"/>
              <a:t> </a:t>
            </a:r>
            <a:r>
              <a:rPr dirty="0"/>
              <a:t>API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13994" y="2099247"/>
            <a:ext cx="8684260" cy="30437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 API consists of two important packages </a:t>
            </a:r>
            <a:r>
              <a:rPr sz="32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that 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encapsulates </a:t>
            </a:r>
            <a:r>
              <a:rPr sz="32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all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important classes and  interface, namely</a:t>
            </a:r>
            <a:r>
              <a:rPr sz="3200" spc="2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: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b="1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javax.servlet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b="1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javax.servlet.http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Font typeface="Wingdings"/>
              <a:buChar char=""/>
            </a:pPr>
            <a:endParaRPr sz="36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1337" y="1520888"/>
            <a:ext cx="422275" cy="474980"/>
          </a:xfrm>
          <a:custGeom>
            <a:avLst/>
            <a:gdLst/>
            <a:ahLst/>
            <a:cxnLst/>
            <a:rect l="l" t="t" r="r" b="b"/>
            <a:pathLst>
              <a:path w="422275" h="474980">
                <a:moveTo>
                  <a:pt x="0" y="474662"/>
                </a:moveTo>
                <a:lnTo>
                  <a:pt x="422275" y="474662"/>
                </a:lnTo>
                <a:lnTo>
                  <a:pt x="422275" y="0"/>
                </a:lnTo>
                <a:lnTo>
                  <a:pt x="0" y="0"/>
                </a:lnTo>
                <a:lnTo>
                  <a:pt x="0" y="474662"/>
                </a:lnTo>
                <a:close/>
              </a:path>
            </a:pathLst>
          </a:custGeom>
          <a:solidFill>
            <a:srgbClr val="333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32579"/>
              </p:ext>
            </p:extLst>
          </p:nvPr>
        </p:nvGraphicFramePr>
        <p:xfrm>
          <a:off x="69850" y="228599"/>
          <a:ext cx="9074150" cy="6326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486"/>
                <a:gridCol w="341177"/>
                <a:gridCol w="1806287"/>
                <a:gridCol w="6224947"/>
                <a:gridCol w="328253"/>
              </a:tblGrid>
              <a:tr h="941756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1C1C1C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46990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4400" spc="-5" dirty="0">
                          <a:solidFill>
                            <a:srgbClr val="009900"/>
                          </a:solidFill>
                          <a:latin typeface="Tahoma"/>
                          <a:cs typeface="Tahoma"/>
                        </a:rPr>
                        <a:t>Servlet Interface:</a:t>
                      </a:r>
                      <a:r>
                        <a:rPr sz="4400" spc="-75" dirty="0">
                          <a:solidFill>
                            <a:srgbClr val="0099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4400" dirty="0">
                          <a:solidFill>
                            <a:srgbClr val="009900"/>
                          </a:solidFill>
                          <a:latin typeface="Tahoma"/>
                          <a:cs typeface="Tahoma"/>
                        </a:rPr>
                        <a:t>javax.servlet</a:t>
                      </a:r>
                      <a:endParaRPr sz="4400" dirty="0">
                        <a:latin typeface="Tahoma"/>
                        <a:cs typeface="Tahoma"/>
                      </a:endParaRPr>
                    </a:p>
                  </a:txBody>
                  <a:tcPr marL="0" marR="0" marT="51435" marB="0">
                    <a:lnL w="38100">
                      <a:solidFill>
                        <a:srgbClr val="1C1C1C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0427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1C1C1C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1C1C1C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96482">
                <a:tc gridSpan="3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Interfaces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E3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Description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E3A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335082">
                <a:tc gridSpan="3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b="1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Servlet</a:t>
                      </a:r>
                      <a:endParaRPr sz="24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7155" marR="27178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Declare life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cycle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methods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for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servlet. </a:t>
                      </a:r>
                      <a:r>
                        <a:rPr sz="2400" spc="-9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To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implement this </a:t>
                      </a:r>
                      <a:r>
                        <a:rPr sz="2400" spc="-5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interface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we have to extends GenericServlet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or </a:t>
                      </a:r>
                      <a:r>
                        <a:rPr sz="2400" spc="-10" dirty="0" err="1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HttpServlet</a:t>
                      </a:r>
                      <a:r>
                        <a:rPr sz="2400" spc="15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classes.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1334340">
                <a:tc gridSpan="3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b="1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ServletConfig</a:t>
                      </a:r>
                      <a:endParaRPr sz="24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9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7155" marR="6711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Helps servlet to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get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initialization parameter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means </a:t>
                      </a:r>
                      <a:r>
                        <a:rPr sz="2400" spc="-5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startup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information, </a:t>
                      </a:r>
                      <a:r>
                        <a:rPr sz="240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basic</a:t>
                      </a:r>
                      <a:r>
                        <a:rPr lang="en-GB" sz="2400" baseline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1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information</a:t>
                      </a:r>
                      <a:r>
                        <a:rPr lang="en-GB" sz="2400" spc="-10" baseline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5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about</a:t>
                      </a:r>
                      <a:r>
                        <a:rPr sz="2400" spc="65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servlet.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9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922069">
                <a:tc gridSpan="3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b="1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ServletContext</a:t>
                      </a:r>
                      <a:endParaRPr sz="24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7155" marR="1358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Allows servlet to log events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and </a:t>
                      </a:r>
                      <a:r>
                        <a:rPr sz="240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access</a:t>
                      </a:r>
                      <a:r>
                        <a:rPr lang="en-GB" sz="2400" baseline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5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information</a:t>
                      </a:r>
                      <a:r>
                        <a:rPr lang="en-GB" sz="2400" spc="-5" baseline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5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about their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environment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96482">
                <a:tc gridSpan="3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b="1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ServletRequest</a:t>
                      </a:r>
                      <a:endParaRPr sz="24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9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Used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to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read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data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from</a:t>
                      </a:r>
                      <a:r>
                        <a:rPr sz="2400" spc="3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client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9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496482">
                <a:tc gridSpan="3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400" b="1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ServletResponse</a:t>
                      </a:r>
                      <a:endParaRPr sz="24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Used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to sent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data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to</a:t>
                      </a:r>
                      <a:r>
                        <a:rPr sz="2400" spc="-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client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7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71691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 </a:t>
            </a:r>
            <a:r>
              <a:rPr dirty="0"/>
              <a:t>Classes:</a:t>
            </a:r>
            <a:r>
              <a:rPr spc="-85" dirty="0"/>
              <a:t> </a:t>
            </a:r>
            <a:r>
              <a:rPr dirty="0"/>
              <a:t>javax.servlet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581774"/>
              </p:ext>
            </p:extLst>
          </p:nvPr>
        </p:nvGraphicFramePr>
        <p:xfrm>
          <a:off x="139510" y="2043493"/>
          <a:ext cx="8914642" cy="4153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3632"/>
                <a:gridCol w="5591010"/>
              </a:tblGrid>
              <a:tr h="38925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Classes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E3A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Description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E3A8"/>
                    </a:solidFill>
                  </a:tcPr>
                </a:tc>
              </a:tr>
              <a:tr h="50419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b="1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GenericServlet</a:t>
                      </a:r>
                      <a:endParaRPr sz="24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Used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to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create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servlet (Protocol</a:t>
                      </a:r>
                      <a:r>
                        <a:rPr sz="2400" spc="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independent)</a:t>
                      </a:r>
                    </a:p>
                  </a:txBody>
                  <a:tcPr marL="0" marR="0" marT="254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b="1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ServletInputStream</a:t>
                      </a:r>
                      <a:endParaRPr sz="24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9F0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20256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Provides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an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input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stream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for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reading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requests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from </a:t>
                      </a:r>
                      <a:r>
                        <a:rPr sz="2400" spc="-5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client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.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9F0"/>
                    </a:solidFill>
                  </a:tcPr>
                </a:tc>
              </a:tr>
              <a:tr h="913765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b="1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ServletOutputStream</a:t>
                      </a:r>
                      <a:endParaRPr sz="24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53276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This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class supports an output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stream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for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writing  responses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to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a</a:t>
                      </a:r>
                      <a:r>
                        <a:rPr sz="2400" spc="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client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</a:tr>
              <a:tr h="51943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b="1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ServletException</a:t>
                      </a:r>
                      <a:endParaRPr sz="24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9F0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1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For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handling exception: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Error</a:t>
                      </a:r>
                      <a:r>
                        <a:rPr sz="2400" spc="2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Occurred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9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b="1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UnavailableException</a:t>
                      </a:r>
                      <a:endParaRPr sz="2400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For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handling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exception: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generate when servlet</a:t>
                      </a:r>
                      <a:r>
                        <a:rPr sz="2400" spc="4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not</a:t>
                      </a:r>
                      <a:r>
                        <a:rPr lang="en-GB" sz="240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1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available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55662" y="1083310"/>
            <a:ext cx="80899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Servlet Interface:</a:t>
            </a:r>
            <a:r>
              <a:rPr sz="4000" spc="-5" dirty="0"/>
              <a:t> javax.servlet.http</a:t>
            </a:r>
            <a:endParaRPr sz="4000"/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428405"/>
              </p:ext>
            </p:extLst>
          </p:nvPr>
        </p:nvGraphicFramePr>
        <p:xfrm>
          <a:off x="182562" y="2209800"/>
          <a:ext cx="8961438" cy="4240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65438"/>
                <a:gridCol w="6096000"/>
              </a:tblGrid>
              <a:tr h="36576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Classes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E3A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Description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E3A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HttpServlet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62357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Used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to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create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http servlet (Protocol 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dependent)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HttpServletRequest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9F0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26352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It enables servlets to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read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data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from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an  </a:t>
                      </a:r>
                      <a:r>
                        <a:rPr sz="2400" spc="-2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HTTP</a:t>
                      </a:r>
                      <a:r>
                        <a:rPr sz="2400" spc="-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request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9F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HttpServletResponse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It enables servlets to write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data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to</a:t>
                      </a:r>
                      <a:r>
                        <a:rPr sz="2400" spc="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an</a:t>
                      </a:r>
                    </a:p>
                    <a:p>
                      <a:pPr marL="98425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HTTP</a:t>
                      </a:r>
                      <a:r>
                        <a:rPr sz="2400" spc="-2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response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</a:tr>
              <a:tr h="61341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HttpSession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9F0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It allows to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read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and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write session</a:t>
                      </a:r>
                      <a:r>
                        <a:rPr sz="2400" spc="5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data.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9F0"/>
                    </a:solidFill>
                  </a:tcPr>
                </a:tc>
              </a:tr>
              <a:tr h="88773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Cookie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Cookie class allows state information</a:t>
                      </a:r>
                      <a:r>
                        <a:rPr sz="2400" spc="1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to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be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stored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on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a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client</a:t>
                      </a:r>
                      <a:r>
                        <a:rPr sz="2400" spc="1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machine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93444" y="1083310"/>
            <a:ext cx="59747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Servlet Interface:</a:t>
            </a:r>
            <a:r>
              <a:rPr sz="4000" spc="-5" dirty="0"/>
              <a:t> Methods</a:t>
            </a:r>
            <a:endParaRPr sz="4000"/>
          </a:p>
        </p:txBody>
      </p:sp>
      <p:sp>
        <p:nvSpPr>
          <p:cNvPr id="7" name="object 7"/>
          <p:cNvSpPr/>
          <p:nvPr/>
        </p:nvSpPr>
        <p:spPr>
          <a:xfrm>
            <a:off x="152400" y="2003425"/>
            <a:ext cx="8991599" cy="48545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49250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GenericServlet</a:t>
            </a:r>
            <a:r>
              <a:rPr spc="-85" dirty="0"/>
              <a:t> </a:t>
            </a:r>
            <a:r>
              <a:rPr spc="-5" dirty="0"/>
              <a:t>class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42913" y="2048001"/>
            <a:ext cx="8396288" cy="366574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implements </a:t>
            </a:r>
            <a:r>
              <a:rPr sz="28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, </a:t>
            </a:r>
            <a:r>
              <a:rPr sz="28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ServletConfig</a:t>
            </a:r>
            <a:r>
              <a:rPr sz="2800" b="1" spc="10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and</a:t>
            </a:r>
          </a:p>
          <a:p>
            <a:pPr marL="355600">
              <a:lnSpc>
                <a:spcPct val="100000"/>
              </a:lnSpc>
            </a:pPr>
            <a:r>
              <a:rPr sz="2800" b="1" spc="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Serializable</a:t>
            </a:r>
            <a:r>
              <a:rPr sz="2800" b="1" spc="2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interfaces.</a:t>
            </a: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provides the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implementation of all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methods of these interfaces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except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service  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method</a:t>
            </a:r>
            <a:r>
              <a:rPr lang="en-GB"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(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You have to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write code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your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class for this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method).</a:t>
            </a:r>
          </a:p>
          <a:p>
            <a:pPr marL="355600" marR="574675" indent="-342900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GenericServlet class can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handle any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type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of 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so it is</a:t>
            </a:r>
            <a:r>
              <a:rPr sz="2800" spc="-1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protocol-independent.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12874" y="1027430"/>
            <a:ext cx="56045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latin typeface="Cambria" panose="02040503050406030204" pitchFamily="18" charset="0"/>
                <a:ea typeface="Cambria" panose="02040503050406030204" pitchFamily="18" charset="0"/>
              </a:rPr>
              <a:t>ServletConfig</a:t>
            </a:r>
            <a:r>
              <a:rPr spc="-9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interface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07193" y="2303780"/>
            <a:ext cx="8567420" cy="3148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64820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Object of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ServletConfig created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by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web  container for each</a:t>
            </a:r>
            <a:r>
              <a:rPr sz="32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servlet.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marR="284480" indent="-342900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This object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can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be used to </a:t>
            </a:r>
            <a:r>
              <a:rPr sz="3200" spc="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get</a:t>
            </a:r>
            <a:r>
              <a:rPr sz="3200" spc="-7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configuration  information from </a:t>
            </a:r>
            <a:r>
              <a:rPr sz="32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web.xml</a:t>
            </a:r>
            <a:r>
              <a:rPr sz="3200" spc="-1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file.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Advantage: No need to edit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servlet file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if  information is modified from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web.xml</a:t>
            </a:r>
            <a:r>
              <a:rPr sz="3200" spc="-1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file.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56045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ServletConfig</a:t>
            </a:r>
            <a:r>
              <a:rPr spc="-90" dirty="0"/>
              <a:t> </a:t>
            </a:r>
            <a:r>
              <a:rPr dirty="0"/>
              <a:t>interface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73074" y="2169924"/>
            <a:ext cx="8694725" cy="389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9494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public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String </a:t>
            </a:r>
            <a:r>
              <a:rPr sz="28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getInitParameter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(String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name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):</a:t>
            </a:r>
            <a:r>
              <a:rPr lang="en-GB"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Returns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parameter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value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for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specified parameter</a:t>
            </a:r>
            <a:r>
              <a:rPr sz="2800" spc="-4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name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.</a:t>
            </a:r>
            <a:endParaRPr sz="36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marR="939800" indent="-342900">
              <a:lnSpc>
                <a:spcPct val="100000"/>
              </a:lnSpc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Enumeration </a:t>
            </a:r>
            <a:r>
              <a:rPr sz="2800" b="1" spc="-5" dirty="0" err="1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getInitParameterNames</a:t>
            </a:r>
            <a:r>
              <a:rPr sz="2800" b="1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()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:</a:t>
            </a:r>
            <a:r>
              <a:rPr lang="en-GB"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Returns all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2800" spc="-5" dirty="0" err="1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initializ</a:t>
            </a:r>
            <a:r>
              <a:rPr lang="en-GB" sz="2800" spc="-5" dirty="0" err="1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ed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parameter</a:t>
            </a:r>
            <a:r>
              <a:rPr sz="2800" spc="-6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names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.</a:t>
            </a:r>
            <a:endParaRPr sz="36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public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String </a:t>
            </a:r>
            <a:r>
              <a:rPr sz="2800" b="1" dirty="0" err="1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getServletName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():</a:t>
            </a:r>
            <a:endParaRPr lang="en-GB" sz="2800" dirty="0" smtClean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60416"/>
              <a:tabLst>
                <a:tab pos="354965" algn="l"/>
                <a:tab pos="355600" algn="l"/>
              </a:tabLst>
            </a:pP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	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Returns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name of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</a:t>
            </a:r>
            <a:r>
              <a:rPr sz="2800" spc="-9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.</a:t>
            </a:r>
            <a:endParaRPr sz="36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public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ServletContext </a:t>
            </a:r>
            <a:r>
              <a:rPr sz="2800" b="1" spc="-5" dirty="0" err="1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getServletContext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():</a:t>
            </a:r>
            <a:r>
              <a:rPr lang="en-GB"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endParaRPr lang="en-GB" sz="2800" spc="-5" dirty="0" smtClean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60416"/>
              <a:tabLst>
                <a:tab pos="354965" algn="l"/>
                <a:tab pos="355600" algn="l"/>
              </a:tabLst>
            </a:pPr>
            <a:r>
              <a:rPr lang="en-GB"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	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Returns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 object</a:t>
            </a:r>
            <a:r>
              <a:rPr sz="2800" spc="-7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of</a:t>
            </a:r>
            <a:r>
              <a:rPr lang="en-GB"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 err="1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ServletContext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56045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ServletConfig</a:t>
            </a:r>
            <a:r>
              <a:rPr spc="-90" dirty="0"/>
              <a:t> </a:t>
            </a:r>
            <a:r>
              <a:rPr dirty="0"/>
              <a:t>interface</a:t>
            </a:r>
          </a:p>
        </p:txBody>
      </p:sp>
      <p:sp>
        <p:nvSpPr>
          <p:cNvPr id="7" name="object 7"/>
          <p:cNvSpPr/>
          <p:nvPr/>
        </p:nvSpPr>
        <p:spPr>
          <a:xfrm>
            <a:off x="442912" y="1868679"/>
            <a:ext cx="8472488" cy="43957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59353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ServletContext</a:t>
            </a:r>
            <a:r>
              <a:rPr spc="-75" dirty="0"/>
              <a:t> </a:t>
            </a:r>
            <a:r>
              <a:rPr dirty="0"/>
              <a:t>interface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7326" y="2227460"/>
            <a:ext cx="8697595" cy="34605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 object of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ServletContext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created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by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 web container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at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time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of deploying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project  (web application</a:t>
            </a:r>
            <a:r>
              <a:rPr sz="32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).</a:t>
            </a:r>
            <a:endParaRPr sz="465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marR="414020" indent="-342900">
              <a:lnSpc>
                <a:spcPct val="100000"/>
              </a:lnSpc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This object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can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be used to </a:t>
            </a:r>
            <a:r>
              <a:rPr sz="3200" spc="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get</a:t>
            </a:r>
            <a:r>
              <a:rPr sz="3200" spc="-7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configuration  information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from web.xml file</a:t>
            </a:r>
            <a:r>
              <a:rPr sz="32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.</a:t>
            </a:r>
            <a:endParaRPr sz="465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There is only one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ServletContext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object</a:t>
            </a:r>
            <a:r>
              <a:rPr sz="3200" spc="2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per</a:t>
            </a:r>
            <a:r>
              <a:rPr lang="en-GB" sz="32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web application.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59353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ServletContext</a:t>
            </a:r>
            <a:r>
              <a:rPr spc="-75" dirty="0"/>
              <a:t> </a:t>
            </a:r>
            <a:r>
              <a:rPr dirty="0"/>
              <a:t>interface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96240" y="2009332"/>
            <a:ext cx="8747760" cy="450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720725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If any information is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shared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many servlet, it is 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better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provide it from the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web.xml file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using  the </a:t>
            </a:r>
            <a:r>
              <a:rPr sz="2800" b="1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&lt;context-param&gt;</a:t>
            </a:r>
            <a:r>
              <a:rPr sz="2800" b="1" spc="9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element</a:t>
            </a:r>
            <a:r>
              <a:rPr sz="2800" spc="-1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.</a:t>
            </a:r>
          </a:p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Usage:</a:t>
            </a:r>
            <a:endParaRPr sz="2800" dirty="0" smtClean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9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object of </a:t>
            </a:r>
            <a:r>
              <a:rPr sz="2000" spc="-5" dirty="0" err="1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ServletContext</a:t>
            </a:r>
            <a:r>
              <a:rPr sz="20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provides </a:t>
            </a:r>
            <a:r>
              <a:rPr sz="20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 </a:t>
            </a:r>
            <a:r>
              <a:rPr sz="20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interface between</a:t>
            </a:r>
            <a:r>
              <a:rPr sz="2000" spc="-6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0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</a:t>
            </a:r>
            <a:endParaRPr sz="2000" dirty="0" smtClean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>
              <a:lnSpc>
                <a:spcPct val="100000"/>
              </a:lnSpc>
            </a:pPr>
            <a:r>
              <a:rPr sz="20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container and</a:t>
            </a:r>
            <a:r>
              <a:rPr sz="2000" spc="-3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0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servlet.</a:t>
            </a:r>
            <a:endParaRPr sz="2000" dirty="0" smtClean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marR="5080" lvl="1" indent="-28638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2000" spc="-5" dirty="0" err="1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ServletContext</a:t>
            </a:r>
            <a:r>
              <a:rPr sz="20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0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object </a:t>
            </a:r>
            <a:r>
              <a:rPr sz="20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can </a:t>
            </a:r>
            <a:r>
              <a:rPr sz="20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be used </a:t>
            </a:r>
            <a:r>
              <a:rPr sz="20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get configuration information  from the web.xml</a:t>
            </a:r>
            <a:r>
              <a:rPr sz="2000" spc="-5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0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file.</a:t>
            </a:r>
            <a:endParaRPr sz="2000" dirty="0" smtClean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marR="165100" lvl="1" indent="-286385">
              <a:lnSpc>
                <a:spcPct val="100000"/>
              </a:lnSpc>
              <a:spcBef>
                <a:spcPts val="484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2000" spc="-5" dirty="0" err="1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ServletContext</a:t>
            </a:r>
            <a:r>
              <a:rPr sz="20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0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object </a:t>
            </a:r>
            <a:r>
              <a:rPr sz="20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can </a:t>
            </a:r>
            <a:r>
              <a:rPr sz="20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be used </a:t>
            </a:r>
            <a:r>
              <a:rPr sz="20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</a:t>
            </a:r>
            <a:r>
              <a:rPr sz="20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set, get or </a:t>
            </a:r>
            <a:r>
              <a:rPr sz="20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remove attribute  from the web.xml</a:t>
            </a:r>
            <a:r>
              <a:rPr sz="2000" spc="-5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0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file.</a:t>
            </a:r>
            <a:endParaRPr sz="2000" dirty="0" smtClean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marR="549910" lvl="1" indent="-286385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2000" spc="-5" dirty="0" err="1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ServletContext</a:t>
            </a:r>
            <a:r>
              <a:rPr sz="20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0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object </a:t>
            </a:r>
            <a:r>
              <a:rPr sz="20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can </a:t>
            </a:r>
            <a:r>
              <a:rPr sz="20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be used </a:t>
            </a:r>
            <a:r>
              <a:rPr sz="20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provide </a:t>
            </a:r>
            <a:r>
              <a:rPr sz="20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inter-application  </a:t>
            </a:r>
            <a:r>
              <a:rPr sz="20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communication.</a:t>
            </a: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59353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ServletContext</a:t>
            </a:r>
            <a:r>
              <a:rPr spc="-75" dirty="0"/>
              <a:t> </a:t>
            </a:r>
            <a:r>
              <a:rPr dirty="0"/>
              <a:t>interface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07339" y="2049525"/>
            <a:ext cx="8361997" cy="3528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&lt;context-param&gt;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05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&lt;</a:t>
            </a:r>
            <a:r>
              <a:rPr sz="2800" spc="-5" dirty="0" err="1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param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-name&gt;</a:t>
            </a:r>
            <a:r>
              <a:rPr sz="2800" u="heavy" spc="-5" dirty="0" err="1" smtClean="0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dname</a:t>
            </a:r>
            <a:r>
              <a:rPr lang="en-GB" sz="2800" u="heavy" spc="-5" dirty="0" smtClean="0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 smtClean="0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&lt;/</a:t>
            </a:r>
            <a:r>
              <a:rPr sz="2800" spc="-5" dirty="0">
                <a:uFill>
                  <a:solidFill>
                    <a:srgbClr val="000000"/>
                  </a:solidFill>
                </a:uFill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param-name&gt;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12700" marR="5080" indent="9144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&lt;param-value&gt;  </a:t>
            </a:r>
            <a:r>
              <a:rPr sz="2800" spc="-5" dirty="0" err="1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sun.jdbc.odbc.JdbcOdbcDriver</a:t>
            </a:r>
            <a:r>
              <a:rPr lang="en-GB"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	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&lt;/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param-value&gt;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05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&lt;/context-param&gt;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59353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ServletContext</a:t>
            </a:r>
            <a:r>
              <a:rPr spc="-75" dirty="0"/>
              <a:t> </a:t>
            </a:r>
            <a:r>
              <a:rPr dirty="0"/>
              <a:t>interface</a:t>
            </a:r>
          </a:p>
        </p:txBody>
      </p:sp>
      <p:sp>
        <p:nvSpPr>
          <p:cNvPr id="7" name="object 7"/>
          <p:cNvSpPr/>
          <p:nvPr/>
        </p:nvSpPr>
        <p:spPr>
          <a:xfrm>
            <a:off x="592137" y="2487612"/>
            <a:ext cx="8077200" cy="306144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78028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ServletConfig </a:t>
            </a:r>
            <a:r>
              <a:rPr dirty="0"/>
              <a:t>Vs</a:t>
            </a:r>
            <a:r>
              <a:rPr spc="-75" dirty="0"/>
              <a:t> </a:t>
            </a:r>
            <a:r>
              <a:rPr spc="-5" dirty="0"/>
              <a:t>ServletContext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442966"/>
              </p:ext>
            </p:extLst>
          </p:nvPr>
        </p:nvGraphicFramePr>
        <p:xfrm>
          <a:off x="146050" y="2133600"/>
          <a:ext cx="8845550" cy="41344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49750"/>
                <a:gridCol w="4495800"/>
              </a:tblGrid>
              <a:tr h="467066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Config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E3A8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b="1" spc="-5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Context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0E3A8"/>
                    </a:solidFill>
                  </a:tcPr>
                </a:tc>
              </a:tr>
              <a:tr h="820052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One object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per</a:t>
                      </a:r>
                      <a:r>
                        <a:rPr sz="2400" spc="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servlet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Object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is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global to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entire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web</a:t>
                      </a:r>
                      <a:r>
                        <a:rPr sz="2400" spc="5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application</a:t>
                      </a:r>
                      <a:endParaRPr sz="240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</a:tr>
              <a:tr h="820052">
                <a:tc>
                  <a:txBody>
                    <a:bodyPr/>
                    <a:lstStyle/>
                    <a:p>
                      <a:pPr marL="97155" marR="40068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Object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is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created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when servlet class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is 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loaded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9F0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4286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Object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is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created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when web application </a:t>
                      </a:r>
                      <a:r>
                        <a:rPr sz="2400" spc="-1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deployed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9F0"/>
                    </a:solidFill>
                  </a:tcPr>
                </a:tc>
              </a:tr>
              <a:tr h="1206591">
                <a:tc>
                  <a:txBody>
                    <a:bodyPr/>
                    <a:lstStyle/>
                    <a:p>
                      <a:pPr marL="97155" marR="3397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It destroy when servlet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is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destroyed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or </a:t>
                      </a:r>
                      <a:r>
                        <a:rPr sz="2400" spc="-5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upload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the</a:t>
                      </a:r>
                      <a:r>
                        <a:rPr sz="2400" spc="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class.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28130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It will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destroyed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when web application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is </a:t>
                      </a:r>
                      <a:r>
                        <a:rPr sz="2400" spc="-5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un-deployed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or</a:t>
                      </a:r>
                      <a:r>
                        <a:rPr sz="2400" spc="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sz="2400" spc="-1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removed.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44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F5E0"/>
                    </a:solidFill>
                  </a:tcPr>
                </a:tc>
              </a:tr>
              <a:tr h="820723">
                <a:tc>
                  <a:txBody>
                    <a:bodyPr/>
                    <a:lstStyle/>
                    <a:p>
                      <a:pPr marL="97155" marR="73279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Config object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is </a:t>
                      </a: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public to </a:t>
                      </a:r>
                      <a:r>
                        <a:rPr sz="240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particular  </a:t>
                      </a:r>
                      <a:r>
                        <a:rPr sz="2400" spc="-5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servlet</a:t>
                      </a:r>
                      <a:r>
                        <a:rPr lang="en-GB" sz="2400" spc="-5" baseline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 </a:t>
                      </a:r>
                      <a:r>
                        <a:rPr lang="en-GB" sz="2400" spc="-5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o</a:t>
                      </a:r>
                      <a:r>
                        <a:rPr sz="2400" spc="-35" dirty="0" err="1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nly</a:t>
                      </a:r>
                      <a:r>
                        <a:rPr sz="2400" spc="-3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.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9F0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63500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sz="2400" spc="-5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ahoma"/>
                        </a:rPr>
                        <a:t>It can share information between the  servlet</a:t>
                      </a:r>
                      <a:endParaRPr sz="2400" dirty="0">
                        <a:latin typeface="Cambria" panose="02040503050406030204" pitchFamily="18" charset="0"/>
                        <a:ea typeface="Cambria" panose="02040503050406030204" pitchFamily="18" charset="0"/>
                        <a:cs typeface="Tahom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9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27838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HttpServlet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4102" y="2376868"/>
            <a:ext cx="7604043" cy="2562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18159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extends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GenericServlet class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and  implements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Servlet, ServletConfig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and 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Serializable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interface.</a:t>
            </a:r>
          </a:p>
          <a:p>
            <a:pPr marL="355600" marR="5080" indent="-342900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provides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http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specific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methods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such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as  </a:t>
            </a:r>
            <a:r>
              <a:rPr sz="3200" b="1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doGet, doPost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, doHead, doTrace</a:t>
            </a:r>
            <a:r>
              <a:rPr sz="3200" spc="-1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etc.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14400"/>
            <a:ext cx="6222137" cy="696594"/>
          </a:xfrm>
        </p:spPr>
        <p:txBody>
          <a:bodyPr/>
          <a:lstStyle/>
          <a:p>
            <a:r>
              <a:rPr lang="en-GB" dirty="0" err="1"/>
              <a:t>HttpServlet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267" y="2286000"/>
            <a:ext cx="8885733" cy="387798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GB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most important </a:t>
            </a: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</a:rPr>
              <a:t>are </a:t>
            </a:r>
            <a:r>
              <a:rPr lang="en-GB" sz="2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six </a:t>
            </a:r>
            <a:r>
              <a:rPr lang="en-GB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doxxx</a:t>
            </a: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</a:rPr>
              <a:t> methods that get called when a related </a:t>
            </a:r>
            <a:r>
              <a:rPr lang="en-GB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HTTP request </a:t>
            </a: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</a:rPr>
              <a:t>method is used. </a:t>
            </a:r>
            <a:endParaRPr lang="en-GB" sz="2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</a:rPr>
              <a:t>six methods are </a:t>
            </a:r>
            <a:r>
              <a:rPr lang="en-GB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doPost</a:t>
            </a:r>
            <a:r>
              <a:rPr lang="en-GB" sz="2800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doPut</a:t>
            </a:r>
            <a:r>
              <a:rPr lang="en-GB" sz="2800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doGet</a:t>
            </a:r>
            <a:r>
              <a:rPr lang="en-GB" sz="2800" b="1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8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doDelete</a:t>
            </a:r>
            <a:r>
              <a:rPr lang="en-GB" sz="2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GB" sz="2800" b="1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doOptions</a:t>
            </a:r>
            <a:r>
              <a:rPr lang="en-GB" sz="28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sz="2800" b="1" dirty="0">
                <a:latin typeface="Cambria" panose="02040503050406030204" pitchFamily="18" charset="0"/>
                <a:ea typeface="Cambria" panose="02040503050406030204" pitchFamily="18" charset="0"/>
              </a:rPr>
              <a:t>and </a:t>
            </a:r>
            <a:r>
              <a:rPr lang="en-GB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doTrace</a:t>
            </a: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endParaRPr lang="en-GB" sz="2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For </a:t>
            </a: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</a:rPr>
              <a:t>instance, the </a:t>
            </a:r>
            <a:r>
              <a:rPr lang="en-GB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doGet</a:t>
            </a: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</a:rPr>
              <a:t> method is invoked when </a:t>
            </a:r>
            <a:r>
              <a:rPr lang="en-GB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the servlet </a:t>
            </a: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</a:rPr>
              <a:t>receives an HTTP request that was sent using the GET </a:t>
            </a:r>
            <a:r>
              <a:rPr lang="en-GB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method.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Of the six </a:t>
            </a:r>
            <a:r>
              <a:rPr lang="en-GB" sz="2800" dirty="0" err="1">
                <a:latin typeface="Cambria" panose="02040503050406030204" pitchFamily="18" charset="0"/>
                <a:ea typeface="Cambria" panose="02040503050406030204" pitchFamily="18" charset="0"/>
              </a:rPr>
              <a:t>doxxx</a:t>
            </a: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</a:rPr>
              <a:t> methods, the </a:t>
            </a:r>
            <a:r>
              <a:rPr lang="en-GB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doPost</a:t>
            </a:r>
            <a:r>
              <a:rPr lang="en-GB" sz="2800" b="1" dirty="0">
                <a:latin typeface="Cambria" panose="02040503050406030204" pitchFamily="18" charset="0"/>
                <a:ea typeface="Cambria" panose="02040503050406030204" pitchFamily="18" charset="0"/>
              </a:rPr>
              <a:t> and the </a:t>
            </a:r>
            <a:r>
              <a:rPr lang="en-GB" sz="2800" b="1" dirty="0" err="1">
                <a:latin typeface="Cambria" panose="02040503050406030204" pitchFamily="18" charset="0"/>
                <a:ea typeface="Cambria" panose="02040503050406030204" pitchFamily="18" charset="0"/>
              </a:rPr>
              <a:t>doGet</a:t>
            </a: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</a:rPr>
              <a:t> methods are the most </a:t>
            </a:r>
            <a:r>
              <a:rPr lang="en-GB" sz="2800" dirty="0" smtClean="0">
                <a:latin typeface="Cambria" panose="02040503050406030204" pitchFamily="18" charset="0"/>
                <a:ea typeface="Cambria" panose="02040503050406030204" pitchFamily="18" charset="0"/>
              </a:rPr>
              <a:t>frequently used</a:t>
            </a:r>
            <a:r>
              <a:rPr lang="en-GB" sz="28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GB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934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62502" y="6522328"/>
            <a:ext cx="2073910" cy="21526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400" spc="-65" dirty="0">
                <a:latin typeface="Tahoma"/>
                <a:cs typeface="Tahoma"/>
              </a:rPr>
              <a:t>Mr. </a:t>
            </a:r>
            <a:r>
              <a:rPr sz="1400" spc="-5" dirty="0">
                <a:latin typeface="Tahoma"/>
                <a:cs typeface="Tahoma"/>
              </a:rPr>
              <a:t>Nilesh </a:t>
            </a:r>
            <a:r>
              <a:rPr sz="1400" spc="-10" dirty="0">
                <a:latin typeface="Tahoma"/>
                <a:cs typeface="Tahoma"/>
              </a:rPr>
              <a:t>Vishwasrao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Patil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27838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HttpServlet</a:t>
            </a:r>
          </a:p>
        </p:txBody>
      </p:sp>
      <p:sp>
        <p:nvSpPr>
          <p:cNvPr id="8" name="object 8"/>
          <p:cNvSpPr/>
          <p:nvPr/>
        </p:nvSpPr>
        <p:spPr>
          <a:xfrm>
            <a:off x="152400" y="1828800"/>
            <a:ext cx="8991599" cy="50291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39223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Implementation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3540" y="2048001"/>
            <a:ext cx="8684260" cy="36349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43180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 Java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just an ordinary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Java class  which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implements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</a:t>
            </a:r>
            <a:r>
              <a:rPr sz="3200" spc="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interface</a:t>
            </a:r>
          </a:p>
          <a:p>
            <a:pPr marL="756285" lvl="1" indent="-286385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SzPct val="53571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javax.servlet.Servlet;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Font typeface="Wingdings"/>
              <a:buChar char=""/>
            </a:pPr>
            <a:endParaRPr sz="415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easiest way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implement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this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interface  is to </a:t>
            </a:r>
            <a:r>
              <a:rPr sz="3200" b="1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extend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either</a:t>
            </a:r>
            <a:r>
              <a:rPr sz="3200" spc="3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</a:t>
            </a:r>
            <a:r>
              <a:rPr lang="en-GB" sz="32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</a:p>
          <a:p>
            <a:pPr marL="355600" marR="5080" indent="-342900">
              <a:lnSpc>
                <a:spcPct val="100000"/>
              </a:lnSpc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b="1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class </a:t>
            </a:r>
            <a:r>
              <a:rPr sz="32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GenericServlet </a:t>
            </a:r>
            <a:r>
              <a:rPr sz="3200" b="1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or</a:t>
            </a:r>
            <a:r>
              <a:rPr sz="3200" b="1" spc="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b="1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HttpServlet.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21107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Example</a:t>
            </a:r>
          </a:p>
        </p:txBody>
      </p:sp>
      <p:sp>
        <p:nvSpPr>
          <p:cNvPr id="7" name="object 7"/>
          <p:cNvSpPr/>
          <p:nvPr/>
        </p:nvSpPr>
        <p:spPr>
          <a:xfrm>
            <a:off x="442912" y="2073212"/>
            <a:ext cx="8548688" cy="46323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39223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Implementation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3540" y="2048001"/>
            <a:ext cx="8608060" cy="3696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When an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HTTP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 arrives at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web  server, targeted for your Servlet, the web 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server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calls your Servlet's service()</a:t>
            </a:r>
            <a:r>
              <a:rPr sz="3200" spc="2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method</a:t>
            </a:r>
            <a:r>
              <a:rPr sz="32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.</a:t>
            </a:r>
            <a:endParaRPr lang="en-GB" sz="3200" dirty="0" smtClean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endParaRPr sz="465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marR="55244" indent="-342900">
              <a:lnSpc>
                <a:spcPct val="100000"/>
              </a:lnSpc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service()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method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then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reads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 request,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and generates a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response which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 sent back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client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(e.g. a</a:t>
            </a:r>
            <a:r>
              <a:rPr sz="32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browser).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54565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Implementation:HTTP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3540" y="2048001"/>
            <a:ext cx="8455660" cy="38298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10489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3200" b="1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javax.servlet.http.HttpServlet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class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a 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slightly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more advanced base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class</a:t>
            </a:r>
            <a:r>
              <a:rPr sz="3200" spc="-2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than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GenericServlet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HttpServlet class reads the HTTP  request,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and determines if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request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</a:t>
            </a:r>
            <a:r>
              <a:rPr sz="32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 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HTTP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GET, POST, PUT, DELETE, HEAD etc. </a:t>
            </a:r>
            <a:r>
              <a:rPr sz="32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and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calls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one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corresponding</a:t>
            </a:r>
            <a:r>
              <a:rPr sz="3200" spc="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method.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56273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Implementation:</a:t>
            </a:r>
            <a:r>
              <a:rPr spc="-95" dirty="0"/>
              <a:t> </a:t>
            </a:r>
            <a:r>
              <a:rPr spc="-5" dirty="0"/>
              <a:t>HTTP</a:t>
            </a:r>
          </a:p>
        </p:txBody>
      </p:sp>
      <p:sp>
        <p:nvSpPr>
          <p:cNvPr id="7" name="object 7"/>
          <p:cNvSpPr/>
          <p:nvPr/>
        </p:nvSpPr>
        <p:spPr>
          <a:xfrm>
            <a:off x="487459" y="2255837"/>
            <a:ext cx="8351740" cy="389446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56807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HttpRequest:</a:t>
            </a:r>
            <a:r>
              <a:rPr spc="-65" dirty="0"/>
              <a:t> </a:t>
            </a:r>
            <a:r>
              <a:rPr spc="-5" dirty="0"/>
              <a:t>Interface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739" y="2048001"/>
            <a:ext cx="889063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This interface present in  javax.servlet.http.HttpRe</a:t>
            </a:r>
            <a:r>
              <a:rPr sz="3200" spc="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q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uest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8738" y="5029200"/>
            <a:ext cx="8890635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purpose of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HttpRequest object is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represent the HTTP request a browser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sends to  your web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application.</a:t>
            </a:r>
          </a:p>
        </p:txBody>
      </p:sp>
      <p:sp>
        <p:nvSpPr>
          <p:cNvPr id="9" name="object 9"/>
          <p:cNvSpPr/>
          <p:nvPr/>
        </p:nvSpPr>
        <p:spPr>
          <a:xfrm>
            <a:off x="914400" y="3124200"/>
            <a:ext cx="6400800" cy="17168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62445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HttpRequest:</a:t>
            </a:r>
            <a:r>
              <a:rPr spc="-65" dirty="0"/>
              <a:t> </a:t>
            </a:r>
            <a:r>
              <a:rPr spc="-5" dirty="0"/>
              <a:t>Parameters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04801" y="2376868"/>
            <a:ext cx="8534400" cy="27834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253490" indent="-342900">
              <a:lnSpc>
                <a:spcPct val="100000"/>
              </a:lnSpc>
              <a:spcBef>
                <a:spcPts val="105"/>
              </a:spcBef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Thus,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anything the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browser may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send,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 accessible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via the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b="1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HttpRequest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.</a:t>
            </a: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3333CC"/>
              </a:buClr>
              <a:buFont typeface="Wingdings"/>
              <a:buChar char=""/>
            </a:pPr>
            <a:endParaRPr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Clr>
                <a:srgbClr val="3333CC"/>
              </a:buClr>
              <a:buSzPct val="59375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200" spc="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can 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read initialization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parameters also using  </a:t>
            </a:r>
            <a:r>
              <a:rPr sz="32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HttpServletRequest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32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object </a:t>
            </a:r>
            <a:r>
              <a:rPr sz="32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with  </a:t>
            </a:r>
            <a:r>
              <a:rPr sz="32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getInitParameter</a:t>
            </a:r>
            <a:r>
              <a:rPr sz="32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method.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62445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HttpRequest:</a:t>
            </a:r>
            <a:r>
              <a:rPr spc="-65" dirty="0"/>
              <a:t> </a:t>
            </a:r>
            <a:r>
              <a:rPr spc="-5" dirty="0"/>
              <a:t>Parameters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-26158" y="1982522"/>
            <a:ext cx="9293861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Also we can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use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following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code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if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parameters is 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send through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body part of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Http</a:t>
            </a:r>
            <a:r>
              <a:rPr sz="2800" spc="-6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868" y="4613796"/>
            <a:ext cx="9041131" cy="22442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If the browser sends an HTTP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GET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request, the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parameters are  included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 the query string in the</a:t>
            </a:r>
            <a:r>
              <a:rPr sz="2800" spc="-3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URL.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If the browser sends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HTTP POST request, the</a:t>
            </a:r>
            <a:r>
              <a:rPr sz="2800" spc="4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parameters</a:t>
            </a:r>
            <a:r>
              <a:rPr lang="en-GB"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are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included in the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body part of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HTTP</a:t>
            </a:r>
            <a:r>
              <a:rPr sz="2800" spc="-5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2895600"/>
            <a:ext cx="9144000" cy="1676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52222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HttpRequest:</a:t>
            </a:r>
            <a:r>
              <a:rPr spc="-80" dirty="0"/>
              <a:t> </a:t>
            </a:r>
            <a:r>
              <a:rPr spc="-5" dirty="0"/>
              <a:t>Header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120" y="1985708"/>
            <a:ext cx="8920480" cy="2294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headers are name,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value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pairs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sent by the browser 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along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with the HTTP</a:t>
            </a:r>
            <a:r>
              <a:rPr sz="2400" spc="-1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marR="213995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headers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contain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information about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e.g. what  browser software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being used, what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file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types the browser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capable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of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receiving 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etc.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 short,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at lot of meta data around 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HTTP</a:t>
            </a:r>
            <a:r>
              <a:rPr sz="24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39" y="5708091"/>
            <a:ext cx="85883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Above example reads the Content-Length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header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sent by the  browser.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2400" y="4433887"/>
            <a:ext cx="8839200" cy="9484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65398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HttpRequest:</a:t>
            </a:r>
            <a:r>
              <a:rPr spc="-60" dirty="0"/>
              <a:t> </a:t>
            </a:r>
            <a:r>
              <a:rPr spc="-5" dirty="0"/>
              <a:t>InputStream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7000" y="2146300"/>
            <a:ext cx="8874760" cy="43216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If the browser sends an HTTP POST request, request 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parameters and other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potential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data is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sent to the server in the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HTTP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body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.</a:t>
            </a:r>
            <a:endParaRPr sz="36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marR="8890" indent="-342900">
              <a:lnSpc>
                <a:spcPct val="100000"/>
              </a:lnSpc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If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does not have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sent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data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parameters means may be binary 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data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,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that time we will require InputStream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for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accessing  request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body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come from</a:t>
            </a:r>
            <a:r>
              <a:rPr sz="2800" spc="-3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client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.</a:t>
            </a:r>
            <a:endParaRPr sz="36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InputStream requestBodyInput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=</a:t>
            </a:r>
            <a:r>
              <a:rPr sz="2800" spc="-2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 err="1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request.getInputStream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();</a:t>
            </a:r>
            <a:endParaRPr sz="36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marR="1140460" indent="-342900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NOTE: You will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have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call this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method </a:t>
            </a:r>
            <a:r>
              <a:rPr sz="28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before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calling  any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getParameter()</a:t>
            </a:r>
            <a:r>
              <a:rPr sz="2800" spc="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method.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53003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HttpRequest:</a:t>
            </a:r>
            <a:r>
              <a:rPr spc="-85" dirty="0"/>
              <a:t> </a:t>
            </a:r>
            <a:r>
              <a:rPr spc="-5" dirty="0"/>
              <a:t>Session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738" y="2125726"/>
            <a:ext cx="8912861" cy="273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839595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possible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obtain the session object from </a:t>
            </a:r>
            <a:r>
              <a:rPr sz="24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</a:t>
            </a:r>
            <a:r>
              <a:rPr lang="en-GB" sz="24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 err="1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HttpRequest</a:t>
            </a:r>
            <a:r>
              <a:rPr sz="24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object</a:t>
            </a:r>
            <a:r>
              <a:rPr sz="2400" spc="-1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too.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session object can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hold information about a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given user, 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between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requests.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marR="293370" indent="-342900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So,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if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you set an object into the session object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during one 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request,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will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be available for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you to read during any  subsequent requests within the same session time</a:t>
            </a:r>
            <a:r>
              <a:rPr sz="2400" spc="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scope.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4800" y="4953000"/>
            <a:ext cx="8686800" cy="11798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60452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HttpResponse:</a:t>
            </a:r>
            <a:r>
              <a:rPr spc="-80" dirty="0"/>
              <a:t> </a:t>
            </a:r>
            <a:r>
              <a:rPr spc="-5" dirty="0"/>
              <a:t>Interface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739" y="2052193"/>
            <a:ext cx="8683625" cy="12700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Tahoma"/>
                <a:cs typeface="Tahoma"/>
              </a:rPr>
              <a:t>This interface </a:t>
            </a:r>
            <a:r>
              <a:rPr sz="2400" dirty="0">
                <a:latin typeface="Tahoma"/>
                <a:cs typeface="Tahoma"/>
              </a:rPr>
              <a:t>is </a:t>
            </a:r>
            <a:r>
              <a:rPr sz="2400" spc="-5" dirty="0">
                <a:latin typeface="Tahoma"/>
                <a:cs typeface="Tahoma"/>
              </a:rPr>
              <a:t>present in </a:t>
            </a:r>
            <a:r>
              <a:rPr sz="2400" dirty="0">
                <a:latin typeface="Tahoma"/>
                <a:cs typeface="Tahoma"/>
              </a:rPr>
              <a:t>java.servlet.http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package.</a:t>
            </a:r>
          </a:p>
          <a:p>
            <a:pPr marL="355600" marR="5080" indent="-342900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purpose </a:t>
            </a:r>
            <a:r>
              <a:rPr sz="2400" dirty="0">
                <a:latin typeface="Tahoma"/>
                <a:cs typeface="Tahoma"/>
              </a:rPr>
              <a:t>of </a:t>
            </a:r>
            <a:r>
              <a:rPr sz="2400" spc="-5" dirty="0">
                <a:latin typeface="Tahoma"/>
                <a:cs typeface="Tahoma"/>
              </a:rPr>
              <a:t>the HttpResponse object </a:t>
            </a:r>
            <a:r>
              <a:rPr sz="2400" dirty="0">
                <a:latin typeface="Tahoma"/>
                <a:cs typeface="Tahoma"/>
              </a:rPr>
              <a:t>is </a:t>
            </a:r>
            <a:r>
              <a:rPr sz="2400" spc="-5" dirty="0">
                <a:latin typeface="Tahoma"/>
                <a:cs typeface="Tahoma"/>
              </a:rPr>
              <a:t>to represent the  HTTP response </a:t>
            </a:r>
            <a:r>
              <a:rPr sz="2400" dirty="0">
                <a:latin typeface="Tahoma"/>
                <a:cs typeface="Tahoma"/>
              </a:rPr>
              <a:t>of </a:t>
            </a:r>
            <a:r>
              <a:rPr sz="2400" spc="-5" dirty="0">
                <a:latin typeface="Tahoma"/>
                <a:cs typeface="Tahoma"/>
              </a:rPr>
              <a:t>web </a:t>
            </a:r>
            <a:r>
              <a:rPr sz="2400" dirty="0">
                <a:latin typeface="Tahoma"/>
                <a:cs typeface="Tahoma"/>
              </a:rPr>
              <a:t>application </a:t>
            </a:r>
            <a:r>
              <a:rPr sz="2400" spc="-5" dirty="0">
                <a:latin typeface="Tahoma"/>
                <a:cs typeface="Tahoma"/>
              </a:rPr>
              <a:t>sends </a:t>
            </a:r>
            <a:r>
              <a:rPr sz="2400" dirty="0">
                <a:latin typeface="Tahoma"/>
                <a:cs typeface="Tahoma"/>
              </a:rPr>
              <a:t>back to </a:t>
            </a:r>
            <a:r>
              <a:rPr sz="2400" spc="-5" dirty="0">
                <a:latin typeface="Tahoma"/>
                <a:cs typeface="Tahoma"/>
              </a:rPr>
              <a:t>the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browser.</a:t>
            </a:r>
          </a:p>
        </p:txBody>
      </p:sp>
      <p:sp>
        <p:nvSpPr>
          <p:cNvPr id="8" name="object 8"/>
          <p:cNvSpPr/>
          <p:nvPr/>
        </p:nvSpPr>
        <p:spPr>
          <a:xfrm>
            <a:off x="0" y="3886200"/>
            <a:ext cx="9144000" cy="2057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71716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HttpResponse: Writing</a:t>
            </a:r>
            <a:r>
              <a:rPr spc="-130" dirty="0"/>
              <a:t> </a:t>
            </a:r>
            <a:r>
              <a:rPr spc="-5" dirty="0"/>
              <a:t>HTML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739" y="2125726"/>
            <a:ext cx="83134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ahoma"/>
                <a:cs typeface="Tahoma"/>
              </a:rPr>
              <a:t>To </a:t>
            </a:r>
            <a:r>
              <a:rPr sz="2400" spc="-5" dirty="0">
                <a:latin typeface="Tahoma"/>
                <a:cs typeface="Tahoma"/>
              </a:rPr>
              <a:t>send HTML </a:t>
            </a:r>
            <a:r>
              <a:rPr sz="2400" dirty="0">
                <a:latin typeface="Tahoma"/>
                <a:cs typeface="Tahoma"/>
              </a:rPr>
              <a:t>back </a:t>
            </a:r>
            <a:r>
              <a:rPr sz="2400" spc="-5" dirty="0">
                <a:latin typeface="Tahoma"/>
                <a:cs typeface="Tahoma"/>
              </a:rPr>
              <a:t>to the browser, you </a:t>
            </a:r>
            <a:r>
              <a:rPr sz="2400" dirty="0">
                <a:latin typeface="Tahoma"/>
                <a:cs typeface="Tahoma"/>
              </a:rPr>
              <a:t>have </a:t>
            </a:r>
            <a:r>
              <a:rPr sz="2400" spc="-5" dirty="0">
                <a:latin typeface="Tahoma"/>
                <a:cs typeface="Tahoma"/>
              </a:rPr>
              <a:t>to obtain the 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spc="-5" dirty="0">
                <a:latin typeface="Tahoma"/>
                <a:cs typeface="Tahoma"/>
              </a:rPr>
              <a:t>PrintWriter from the HttpResponse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object.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429000"/>
            <a:ext cx="9144000" cy="16668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58362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HttpResponse:</a:t>
            </a:r>
            <a:r>
              <a:rPr spc="-95" dirty="0"/>
              <a:t> </a:t>
            </a:r>
            <a:r>
              <a:rPr spc="-5" dirty="0"/>
              <a:t>Headers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739" y="1787017"/>
            <a:ext cx="8987790" cy="474535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Tahoma"/>
                <a:cs typeface="Tahoma"/>
              </a:rPr>
              <a:t>Headers </a:t>
            </a:r>
            <a:r>
              <a:rPr sz="2400" dirty="0">
                <a:latin typeface="Tahoma"/>
                <a:cs typeface="Tahoma"/>
              </a:rPr>
              <a:t>must be </a:t>
            </a:r>
            <a:r>
              <a:rPr sz="2400" spc="-5" dirty="0">
                <a:latin typeface="Tahoma"/>
                <a:cs typeface="Tahoma"/>
              </a:rPr>
              <a:t>set before any </a:t>
            </a:r>
            <a:r>
              <a:rPr sz="2400" dirty="0">
                <a:latin typeface="Tahoma"/>
                <a:cs typeface="Tahoma"/>
              </a:rPr>
              <a:t>data is </a:t>
            </a:r>
            <a:r>
              <a:rPr sz="2400" spc="-5" dirty="0">
                <a:latin typeface="Tahoma"/>
                <a:cs typeface="Tahoma"/>
              </a:rPr>
              <a:t>written to the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response.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10" dirty="0">
                <a:latin typeface="Tahoma"/>
                <a:cs typeface="Tahoma"/>
              </a:rPr>
              <a:t>Examples: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Syntax:</a:t>
            </a:r>
            <a:endParaRPr sz="24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1800" spc="-5" dirty="0">
                <a:latin typeface="Tahoma"/>
                <a:cs typeface="Tahoma"/>
              </a:rPr>
              <a:t>response.setHeader("Header-Name", "Header</a:t>
            </a:r>
            <a:r>
              <a:rPr sz="1800" spc="65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Value");</a:t>
            </a:r>
            <a:endParaRPr sz="1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Set Content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type:</a:t>
            </a:r>
            <a:endParaRPr sz="24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434"/>
              </a:spcBef>
            </a:pPr>
            <a:r>
              <a:rPr sz="1800" spc="-5" dirty="0">
                <a:latin typeface="Tahoma"/>
                <a:cs typeface="Tahoma"/>
              </a:rPr>
              <a:t>response.setHeader("Content-Type",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"text/html");</a:t>
            </a:r>
            <a:endParaRPr sz="1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Writing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text</a:t>
            </a:r>
            <a:endParaRPr sz="2400">
              <a:latin typeface="Tahoma"/>
              <a:cs typeface="Tahoma"/>
            </a:endParaRPr>
          </a:p>
          <a:p>
            <a:pPr marL="927100" marR="2973070">
              <a:lnSpc>
                <a:spcPct val="122800"/>
              </a:lnSpc>
              <a:spcBef>
                <a:spcPts val="685"/>
              </a:spcBef>
            </a:pPr>
            <a:r>
              <a:rPr sz="1800" spc="-5" dirty="0">
                <a:latin typeface="Tahoma"/>
                <a:cs typeface="Tahoma"/>
              </a:rPr>
              <a:t>response.setHeader("Content-Type", "text/plain");  PrintWriter writer </a:t>
            </a:r>
            <a:r>
              <a:rPr sz="1800" dirty="0">
                <a:latin typeface="Tahoma"/>
                <a:cs typeface="Tahoma"/>
              </a:rPr>
              <a:t>= </a:t>
            </a:r>
            <a:r>
              <a:rPr sz="1800" spc="-5" dirty="0">
                <a:latin typeface="Tahoma"/>
                <a:cs typeface="Tahoma"/>
              </a:rPr>
              <a:t>response.getWriter();  writer.write("This </a:t>
            </a:r>
            <a:r>
              <a:rPr sz="1800" dirty="0">
                <a:latin typeface="Tahoma"/>
                <a:cs typeface="Tahoma"/>
              </a:rPr>
              <a:t>is </a:t>
            </a:r>
            <a:r>
              <a:rPr sz="1800" spc="-5" dirty="0">
                <a:latin typeface="Tahoma"/>
                <a:cs typeface="Tahoma"/>
              </a:rPr>
              <a:t>just plain</a:t>
            </a:r>
            <a:r>
              <a:rPr sz="1800" spc="4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text");</a:t>
            </a:r>
            <a:endParaRPr sz="1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Content-length</a:t>
            </a:r>
            <a:endParaRPr sz="24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430"/>
              </a:spcBef>
            </a:pPr>
            <a:r>
              <a:rPr sz="1800" spc="-5" dirty="0">
                <a:latin typeface="Tahoma"/>
                <a:cs typeface="Tahoma"/>
              </a:rPr>
              <a:t>response.setHeader("Content-Length",</a:t>
            </a:r>
            <a:r>
              <a:rPr sz="1800" dirty="0">
                <a:latin typeface="Tahoma"/>
                <a:cs typeface="Tahoma"/>
              </a:rPr>
              <a:t> </a:t>
            </a:r>
            <a:r>
              <a:rPr sz="1800" spc="-5" dirty="0">
                <a:latin typeface="Tahoma"/>
                <a:cs typeface="Tahoma"/>
              </a:rPr>
              <a:t>"31642");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357962"/>
            <a:ext cx="72936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HttpResponse: </a:t>
            </a:r>
            <a:r>
              <a:rPr dirty="0"/>
              <a:t>Writing</a:t>
            </a:r>
            <a:r>
              <a:rPr spc="-95" dirty="0"/>
              <a:t> </a:t>
            </a:r>
            <a:r>
              <a:rPr spc="-5" dirty="0"/>
              <a:t>Binary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29969" y="1028826"/>
            <a:ext cx="11785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009900"/>
                </a:solidFill>
                <a:latin typeface="Tahoma"/>
                <a:cs typeface="Tahoma"/>
              </a:rPr>
              <a:t>Data</a:t>
            </a:r>
            <a:endParaRPr sz="44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39" y="2125726"/>
            <a:ext cx="8812530" cy="2970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45745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ahoma"/>
                <a:cs typeface="Tahoma"/>
              </a:rPr>
              <a:t>We </a:t>
            </a:r>
            <a:r>
              <a:rPr sz="2400" spc="-5" dirty="0">
                <a:latin typeface="Tahoma"/>
                <a:cs typeface="Tahoma"/>
              </a:rPr>
              <a:t>can </a:t>
            </a:r>
            <a:r>
              <a:rPr sz="2400" dirty="0">
                <a:latin typeface="Tahoma"/>
                <a:cs typeface="Tahoma"/>
              </a:rPr>
              <a:t>also </a:t>
            </a:r>
            <a:r>
              <a:rPr sz="2400" spc="-5" dirty="0">
                <a:latin typeface="Tahoma"/>
                <a:cs typeface="Tahoma"/>
              </a:rPr>
              <a:t>write </a:t>
            </a:r>
            <a:r>
              <a:rPr sz="2400" dirty="0">
                <a:latin typeface="Tahoma"/>
                <a:cs typeface="Tahoma"/>
              </a:rPr>
              <a:t>binary data back </a:t>
            </a:r>
            <a:r>
              <a:rPr sz="2400" spc="-5" dirty="0">
                <a:latin typeface="Tahoma"/>
                <a:cs typeface="Tahoma"/>
              </a:rPr>
              <a:t>to the </a:t>
            </a:r>
            <a:r>
              <a:rPr sz="2400" dirty="0">
                <a:latin typeface="Tahoma"/>
                <a:cs typeface="Tahoma"/>
              </a:rPr>
              <a:t>browser instead of  </a:t>
            </a:r>
            <a:r>
              <a:rPr sz="2400" spc="-5" dirty="0">
                <a:latin typeface="Tahoma"/>
                <a:cs typeface="Tahoma"/>
              </a:rPr>
              <a:t>text.</a:t>
            </a:r>
            <a:endParaRPr sz="24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Tahoma"/>
                <a:cs typeface="Tahoma"/>
              </a:rPr>
              <a:t>For </a:t>
            </a:r>
            <a:r>
              <a:rPr sz="2400" dirty="0">
                <a:latin typeface="Tahoma"/>
                <a:cs typeface="Tahoma"/>
              </a:rPr>
              <a:t>instance, </a:t>
            </a:r>
            <a:r>
              <a:rPr sz="2400" spc="-5" dirty="0">
                <a:latin typeface="Tahoma"/>
                <a:cs typeface="Tahoma"/>
              </a:rPr>
              <a:t>we can send an image back,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spc="-5" dirty="0">
                <a:latin typeface="Tahoma"/>
                <a:cs typeface="Tahoma"/>
              </a:rPr>
              <a:t>PDF file </a:t>
            </a:r>
            <a:r>
              <a:rPr sz="2400" dirty="0">
                <a:latin typeface="Tahoma"/>
                <a:cs typeface="Tahoma"/>
              </a:rPr>
              <a:t>or a </a:t>
            </a:r>
            <a:r>
              <a:rPr sz="2400" spc="-5" dirty="0">
                <a:latin typeface="Tahoma"/>
                <a:cs typeface="Tahoma"/>
              </a:rPr>
              <a:t>Flash  file </a:t>
            </a:r>
            <a:r>
              <a:rPr sz="2400" dirty="0">
                <a:latin typeface="Tahoma"/>
                <a:cs typeface="Tahoma"/>
              </a:rPr>
              <a:t>or </a:t>
            </a:r>
            <a:r>
              <a:rPr sz="2400" spc="-5" dirty="0">
                <a:latin typeface="Tahoma"/>
                <a:cs typeface="Tahoma"/>
              </a:rPr>
              <a:t>something </a:t>
            </a:r>
            <a:r>
              <a:rPr sz="2400" dirty="0">
                <a:latin typeface="Tahoma"/>
                <a:cs typeface="Tahoma"/>
              </a:rPr>
              <a:t>like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that.</a:t>
            </a:r>
            <a:endParaRPr sz="2400">
              <a:latin typeface="Tahoma"/>
              <a:cs typeface="Tahoma"/>
            </a:endParaRPr>
          </a:p>
          <a:p>
            <a:pPr marL="355600" marR="331470" indent="-342900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Tahoma"/>
                <a:cs typeface="Tahoma"/>
              </a:rPr>
              <a:t>First we </a:t>
            </a:r>
            <a:r>
              <a:rPr sz="2400" dirty="0">
                <a:latin typeface="Tahoma"/>
                <a:cs typeface="Tahoma"/>
              </a:rPr>
              <a:t>have </a:t>
            </a:r>
            <a:r>
              <a:rPr sz="2400" spc="-5" dirty="0">
                <a:latin typeface="Tahoma"/>
                <a:cs typeface="Tahoma"/>
              </a:rPr>
              <a:t>to set content type. And need to </a:t>
            </a:r>
            <a:r>
              <a:rPr sz="2400" dirty="0">
                <a:latin typeface="Tahoma"/>
                <a:cs typeface="Tahoma"/>
              </a:rPr>
              <a:t>use </a:t>
            </a:r>
            <a:r>
              <a:rPr sz="2400" spc="-5" dirty="0">
                <a:latin typeface="Tahoma"/>
                <a:cs typeface="Tahoma"/>
              </a:rPr>
              <a:t>following  code:</a:t>
            </a:r>
            <a:endParaRPr sz="2400">
              <a:latin typeface="Tahoma"/>
              <a:cs typeface="Tahoma"/>
            </a:endParaRPr>
          </a:p>
          <a:p>
            <a:pPr marL="927100" marR="1736725">
              <a:lnSpc>
                <a:spcPct val="100000"/>
              </a:lnSpc>
              <a:spcBef>
                <a:spcPts val="434"/>
              </a:spcBef>
            </a:pPr>
            <a:r>
              <a:rPr sz="1800" spc="-5" dirty="0">
                <a:latin typeface="Tahoma"/>
                <a:cs typeface="Tahoma"/>
              </a:rPr>
              <a:t>OutputStream </a:t>
            </a:r>
            <a:r>
              <a:rPr sz="1800" dirty="0">
                <a:latin typeface="Tahoma"/>
                <a:cs typeface="Tahoma"/>
              </a:rPr>
              <a:t>outputStream </a:t>
            </a:r>
            <a:r>
              <a:rPr sz="1800" spc="-5" dirty="0">
                <a:latin typeface="Tahoma"/>
                <a:cs typeface="Tahoma"/>
              </a:rPr>
              <a:t>= response.getOutputStream();  outputStream.write(...);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65874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HttpResponse:</a:t>
            </a:r>
            <a:r>
              <a:rPr spc="-100" dirty="0"/>
              <a:t> </a:t>
            </a:r>
            <a:r>
              <a:rPr dirty="0"/>
              <a:t>Redirecting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739" y="2125726"/>
            <a:ext cx="8081645" cy="2660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ahoma"/>
                <a:cs typeface="Tahoma"/>
              </a:rPr>
              <a:t>We </a:t>
            </a:r>
            <a:r>
              <a:rPr sz="2400" spc="-5" dirty="0">
                <a:latin typeface="Tahoma"/>
                <a:cs typeface="Tahoma"/>
              </a:rPr>
              <a:t>can redirect the browser </a:t>
            </a:r>
            <a:r>
              <a:rPr sz="2400" dirty="0">
                <a:latin typeface="Tahoma"/>
                <a:cs typeface="Tahoma"/>
              </a:rPr>
              <a:t>to a </a:t>
            </a:r>
            <a:r>
              <a:rPr sz="2400" spc="-5" dirty="0">
                <a:latin typeface="Tahoma"/>
                <a:cs typeface="Tahoma"/>
              </a:rPr>
              <a:t>different URL from </a:t>
            </a:r>
            <a:r>
              <a:rPr sz="2400" dirty="0">
                <a:latin typeface="Tahoma"/>
                <a:cs typeface="Tahoma"/>
              </a:rPr>
              <a:t>your  </a:t>
            </a:r>
            <a:r>
              <a:rPr sz="2400" spc="-5" dirty="0">
                <a:latin typeface="Tahoma"/>
                <a:cs typeface="Tahoma"/>
              </a:rPr>
              <a:t>servlet.</a:t>
            </a:r>
            <a:endParaRPr sz="2400">
              <a:latin typeface="Tahoma"/>
              <a:cs typeface="Tahoma"/>
            </a:endParaRPr>
          </a:p>
          <a:p>
            <a:pPr marL="355600" marR="613410" indent="-342900">
              <a:lnSpc>
                <a:spcPct val="108400"/>
              </a:lnSpc>
              <a:spcBef>
                <a:spcPts val="33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Tahoma"/>
                <a:cs typeface="Tahoma"/>
              </a:rPr>
              <a:t>You cannot send any </a:t>
            </a:r>
            <a:r>
              <a:rPr sz="2400" dirty="0">
                <a:latin typeface="Tahoma"/>
                <a:cs typeface="Tahoma"/>
              </a:rPr>
              <a:t>data back </a:t>
            </a:r>
            <a:r>
              <a:rPr sz="2400" spc="-5" dirty="0">
                <a:latin typeface="Tahoma"/>
                <a:cs typeface="Tahoma"/>
              </a:rPr>
              <a:t>to the browser </a:t>
            </a:r>
            <a:r>
              <a:rPr sz="2400" spc="-10" dirty="0">
                <a:latin typeface="Tahoma"/>
                <a:cs typeface="Tahoma"/>
              </a:rPr>
              <a:t>when  </a:t>
            </a:r>
            <a:r>
              <a:rPr sz="2400" spc="-5" dirty="0">
                <a:latin typeface="Tahoma"/>
                <a:cs typeface="Tahoma"/>
              </a:rPr>
              <a:t>redirecting  </a:t>
            </a:r>
            <a:r>
              <a:rPr sz="2000" spc="-5" dirty="0">
                <a:latin typeface="Tahoma"/>
                <a:cs typeface="Tahoma"/>
              </a:rPr>
              <a:t>response.sendRed</a:t>
            </a:r>
            <a:r>
              <a:rPr sz="2000" spc="-5" dirty="0">
                <a:latin typeface="Tahoma"/>
                <a:cs typeface="Tahoma"/>
                <a:hlinkClick r:id="rId5"/>
              </a:rPr>
              <a:t>irect("http://www</a:t>
            </a:r>
            <a:r>
              <a:rPr sz="2000" spc="-5" dirty="0">
                <a:latin typeface="Tahoma"/>
                <a:cs typeface="Tahoma"/>
              </a:rPr>
              <a:t>.goog</a:t>
            </a:r>
            <a:r>
              <a:rPr sz="2000" spc="-5" dirty="0">
                <a:latin typeface="Tahoma"/>
                <a:cs typeface="Tahoma"/>
                <a:hlinkClick r:id="rId5"/>
              </a:rPr>
              <a:t>le.com"</a:t>
            </a:r>
            <a:r>
              <a:rPr sz="2000" spc="-5" dirty="0">
                <a:latin typeface="Tahoma"/>
                <a:cs typeface="Tahoma"/>
              </a:rPr>
              <a:t>);</a:t>
            </a:r>
            <a:endParaRPr sz="2000">
              <a:latin typeface="Tahoma"/>
              <a:cs typeface="Tahoma"/>
            </a:endParaRPr>
          </a:p>
          <a:p>
            <a:pPr marL="469900" marR="3254375">
              <a:lnSpc>
                <a:spcPct val="120000"/>
              </a:lnSpc>
              <a:spcBef>
                <a:spcPts val="5"/>
              </a:spcBef>
            </a:pPr>
            <a:r>
              <a:rPr sz="2000" dirty="0">
                <a:latin typeface="Tahoma"/>
                <a:cs typeface="Tahoma"/>
              </a:rPr>
              <a:t>Or Another </a:t>
            </a:r>
            <a:r>
              <a:rPr sz="2000" spc="-5" dirty="0">
                <a:latin typeface="Tahoma"/>
                <a:cs typeface="Tahoma"/>
              </a:rPr>
              <a:t>servlet file call  response.sendRedirect(“HelloServlet");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29368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HttpSession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3792" y="2016062"/>
            <a:ext cx="8953500" cy="25133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HttpSession </a:t>
            </a:r>
            <a:r>
              <a:rPr sz="2400" dirty="0">
                <a:latin typeface="Tahoma"/>
                <a:cs typeface="Tahoma"/>
              </a:rPr>
              <a:t>object </a:t>
            </a:r>
            <a:r>
              <a:rPr sz="2400" spc="-5" dirty="0">
                <a:latin typeface="Tahoma"/>
                <a:cs typeface="Tahoma"/>
              </a:rPr>
              <a:t>represents </a:t>
            </a:r>
            <a:r>
              <a:rPr sz="2400" dirty="0">
                <a:latin typeface="Tahoma"/>
                <a:cs typeface="Tahoma"/>
              </a:rPr>
              <a:t>a user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session.</a:t>
            </a:r>
            <a:endParaRPr sz="2400">
              <a:latin typeface="Tahoma"/>
              <a:cs typeface="Tahoma"/>
            </a:endParaRPr>
          </a:p>
          <a:p>
            <a:pPr marL="355600" marR="825500" indent="-342900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Tahoma"/>
                <a:cs typeface="Tahoma"/>
              </a:rPr>
              <a:t>A </a:t>
            </a:r>
            <a:r>
              <a:rPr sz="2400" dirty="0">
                <a:latin typeface="Tahoma"/>
                <a:cs typeface="Tahoma"/>
              </a:rPr>
              <a:t>user </a:t>
            </a:r>
            <a:r>
              <a:rPr sz="2400" spc="-5" dirty="0">
                <a:latin typeface="Tahoma"/>
                <a:cs typeface="Tahoma"/>
              </a:rPr>
              <a:t>session contains </a:t>
            </a:r>
            <a:r>
              <a:rPr sz="2400" dirty="0">
                <a:latin typeface="Tahoma"/>
                <a:cs typeface="Tahoma"/>
              </a:rPr>
              <a:t>information about </a:t>
            </a:r>
            <a:r>
              <a:rPr sz="2400" spc="-5" dirty="0">
                <a:latin typeface="Tahoma"/>
                <a:cs typeface="Tahoma"/>
              </a:rPr>
              <a:t>the </a:t>
            </a:r>
            <a:r>
              <a:rPr sz="2400" dirty="0">
                <a:latin typeface="Tahoma"/>
                <a:cs typeface="Tahoma"/>
              </a:rPr>
              <a:t>user across  </a:t>
            </a:r>
            <a:r>
              <a:rPr sz="2400" spc="-5" dirty="0">
                <a:latin typeface="Tahoma"/>
                <a:cs typeface="Tahoma"/>
              </a:rPr>
              <a:t>multiple HTTP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requests.</a:t>
            </a:r>
            <a:endParaRPr sz="24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Tahoma"/>
                <a:cs typeface="Tahoma"/>
              </a:rPr>
              <a:t>When </a:t>
            </a:r>
            <a:r>
              <a:rPr sz="2400" dirty="0">
                <a:latin typeface="Tahoma"/>
                <a:cs typeface="Tahoma"/>
              </a:rPr>
              <a:t>a user </a:t>
            </a:r>
            <a:r>
              <a:rPr sz="2400" spc="-5" dirty="0">
                <a:latin typeface="Tahoma"/>
                <a:cs typeface="Tahoma"/>
              </a:rPr>
              <a:t>enters </a:t>
            </a:r>
            <a:r>
              <a:rPr sz="2400" dirty="0">
                <a:latin typeface="Tahoma"/>
                <a:cs typeface="Tahoma"/>
              </a:rPr>
              <a:t>your </a:t>
            </a:r>
            <a:r>
              <a:rPr sz="2400" spc="-5" dirty="0">
                <a:latin typeface="Tahoma"/>
                <a:cs typeface="Tahoma"/>
              </a:rPr>
              <a:t>site </a:t>
            </a:r>
            <a:r>
              <a:rPr sz="2400" dirty="0">
                <a:latin typeface="Tahoma"/>
                <a:cs typeface="Tahoma"/>
              </a:rPr>
              <a:t>for </a:t>
            </a:r>
            <a:r>
              <a:rPr sz="2400" spc="-5" dirty="0">
                <a:latin typeface="Tahoma"/>
                <a:cs typeface="Tahoma"/>
              </a:rPr>
              <a:t>the first time, the </a:t>
            </a:r>
            <a:r>
              <a:rPr sz="2400" dirty="0">
                <a:latin typeface="Tahoma"/>
                <a:cs typeface="Tahoma"/>
              </a:rPr>
              <a:t>user is </a:t>
            </a:r>
            <a:r>
              <a:rPr sz="2400" spc="-5" dirty="0">
                <a:latin typeface="Tahoma"/>
                <a:cs typeface="Tahoma"/>
              </a:rPr>
              <a:t>given  </a:t>
            </a:r>
            <a:r>
              <a:rPr sz="2400" dirty="0">
                <a:latin typeface="Tahoma"/>
                <a:cs typeface="Tahoma"/>
              </a:rPr>
              <a:t>a unique </a:t>
            </a:r>
            <a:r>
              <a:rPr sz="2400" spc="-5" dirty="0">
                <a:latin typeface="Tahoma"/>
                <a:cs typeface="Tahoma"/>
              </a:rPr>
              <a:t>ID to identify his session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by.</a:t>
            </a:r>
            <a:endParaRPr sz="240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Tahoma"/>
                <a:cs typeface="Tahoma"/>
              </a:rPr>
              <a:t>This ID </a:t>
            </a:r>
            <a:r>
              <a:rPr sz="2400" dirty="0">
                <a:latin typeface="Tahoma"/>
                <a:cs typeface="Tahoma"/>
              </a:rPr>
              <a:t>is </a:t>
            </a:r>
            <a:r>
              <a:rPr sz="2400" spc="-5" dirty="0">
                <a:latin typeface="Tahoma"/>
                <a:cs typeface="Tahoma"/>
              </a:rPr>
              <a:t>typically stored in </a:t>
            </a:r>
            <a:r>
              <a:rPr sz="2400" dirty="0">
                <a:latin typeface="Tahoma"/>
                <a:cs typeface="Tahoma"/>
              </a:rPr>
              <a:t>a cookie or </a:t>
            </a:r>
            <a:r>
              <a:rPr sz="2400" spc="-5" dirty="0">
                <a:latin typeface="Tahoma"/>
                <a:cs typeface="Tahoma"/>
              </a:rPr>
              <a:t>in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spc="-5" dirty="0">
                <a:latin typeface="Tahoma"/>
                <a:cs typeface="Tahoma"/>
              </a:rPr>
              <a:t>request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parameter.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4572000"/>
            <a:ext cx="9144000" cy="1905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29368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HttpSession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7000" y="1995550"/>
            <a:ext cx="8978265" cy="46910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can store values in the session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object, and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retrieve</a:t>
            </a:r>
            <a:r>
              <a:rPr sz="2800" spc="-1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them</a:t>
            </a:r>
            <a:r>
              <a:rPr lang="en-GB"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later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. Do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 following</a:t>
            </a:r>
            <a:r>
              <a:rPr sz="2800" spc="-3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way: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1021080">
              <a:lnSpc>
                <a:spcPct val="100000"/>
              </a:lnSpc>
              <a:spcBef>
                <a:spcPts val="575"/>
              </a:spcBef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session.setAttribute("userName",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"theUserName");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marR="241935" indent="-342900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This code sets an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attribute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named "userName", with the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value 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"</a:t>
            </a:r>
            <a:r>
              <a:rPr sz="2800" spc="-5" dirty="0" err="1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theUserName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".</a:t>
            </a:r>
            <a:endParaRPr sz="36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read the value</a:t>
            </a:r>
            <a:r>
              <a:rPr sz="2800" spc="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again:</a:t>
            </a:r>
            <a:endParaRPr lang="en-GB" sz="2800" dirty="0" smtClean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indent="-342900">
              <a:lnSpc>
                <a:spcPct val="100000"/>
              </a:lnSpc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endParaRPr lang="en-GB" dirty="0" smtClean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12700">
              <a:lnSpc>
                <a:spcPct val="100000"/>
              </a:lnSpc>
              <a:buClr>
                <a:srgbClr val="3333CC"/>
              </a:buClr>
              <a:buSzPct val="60416"/>
              <a:tabLst>
                <a:tab pos="354965" algn="l"/>
                <a:tab pos="355600" algn="l"/>
              </a:tabLst>
            </a:pPr>
            <a:r>
              <a:rPr sz="2400" b="1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String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userName =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(String)</a:t>
            </a:r>
            <a:r>
              <a:rPr sz="2400" b="1" spc="4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session.getAttribute("</a:t>
            </a:r>
            <a:r>
              <a:rPr sz="2400" b="1" spc="-5" dirty="0" err="1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userName</a:t>
            </a:r>
            <a:r>
              <a:rPr sz="2400" b="1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");</a:t>
            </a:r>
            <a:endParaRPr lang="en-GB" sz="2400" b="1" spc="-5" dirty="0" smtClean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12700">
              <a:lnSpc>
                <a:spcPct val="100000"/>
              </a:lnSpc>
              <a:buClr>
                <a:srgbClr val="3333CC"/>
              </a:buClr>
              <a:buSzPct val="60416"/>
              <a:tabLst>
                <a:tab pos="354965" algn="l"/>
                <a:tab pos="355600" algn="l"/>
              </a:tabLst>
            </a:pPr>
            <a:endParaRPr b="1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marR="76200" indent="-342900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Values stored in the session object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are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stored in the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memory of 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servlet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container.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59588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HttpSession: </a:t>
            </a:r>
            <a:r>
              <a:rPr spc="-5" dirty="0"/>
              <a:t>In</a:t>
            </a:r>
            <a:r>
              <a:rPr spc="-110" dirty="0"/>
              <a:t> </a:t>
            </a:r>
            <a:r>
              <a:rPr dirty="0"/>
              <a:t>Clusters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3792" y="2089226"/>
            <a:ext cx="8957945" cy="327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Tahoma"/>
                <a:cs typeface="Tahoma"/>
              </a:rPr>
              <a:t>If we </a:t>
            </a:r>
            <a:r>
              <a:rPr sz="2400" dirty="0">
                <a:latin typeface="Tahoma"/>
                <a:cs typeface="Tahoma"/>
              </a:rPr>
              <a:t>have an architecture </a:t>
            </a:r>
            <a:r>
              <a:rPr sz="2400" spc="-5" dirty="0">
                <a:latin typeface="Tahoma"/>
                <a:cs typeface="Tahoma"/>
              </a:rPr>
              <a:t>with </a:t>
            </a:r>
            <a:r>
              <a:rPr sz="2400" dirty="0">
                <a:latin typeface="Tahoma"/>
                <a:cs typeface="Tahoma"/>
              </a:rPr>
              <a:t>2 </a:t>
            </a:r>
            <a:r>
              <a:rPr sz="2400" spc="-5" dirty="0">
                <a:latin typeface="Tahoma"/>
                <a:cs typeface="Tahoma"/>
              </a:rPr>
              <a:t>web servers in </a:t>
            </a:r>
            <a:r>
              <a:rPr sz="2400" dirty="0">
                <a:latin typeface="Tahoma"/>
                <a:cs typeface="Tahoma"/>
              </a:rPr>
              <a:t>a </a:t>
            </a:r>
            <a:r>
              <a:rPr sz="2400" spc="-5" dirty="0">
                <a:latin typeface="Tahoma"/>
                <a:cs typeface="Tahoma"/>
              </a:rPr>
              <a:t>cluster, keep  in mind that values stored in the session object </a:t>
            </a:r>
            <a:r>
              <a:rPr sz="2400" dirty="0">
                <a:latin typeface="Tahoma"/>
                <a:cs typeface="Tahoma"/>
              </a:rPr>
              <a:t>of one </a:t>
            </a:r>
            <a:r>
              <a:rPr sz="2400" spc="-5" dirty="0">
                <a:latin typeface="Tahoma"/>
                <a:cs typeface="Tahoma"/>
              </a:rPr>
              <a:t>server,  </a:t>
            </a:r>
            <a:r>
              <a:rPr sz="2400" dirty="0">
                <a:latin typeface="Tahoma"/>
                <a:cs typeface="Tahoma"/>
              </a:rPr>
              <a:t>may not be available </a:t>
            </a:r>
            <a:r>
              <a:rPr sz="2400" spc="-5" dirty="0">
                <a:latin typeface="Tahoma"/>
                <a:cs typeface="Tahoma"/>
              </a:rPr>
              <a:t>in the session object </a:t>
            </a:r>
            <a:r>
              <a:rPr sz="2400" dirty="0">
                <a:latin typeface="Tahoma"/>
                <a:cs typeface="Tahoma"/>
              </a:rPr>
              <a:t>on </a:t>
            </a:r>
            <a:r>
              <a:rPr sz="2400" spc="-5" dirty="0">
                <a:latin typeface="Tahoma"/>
                <a:cs typeface="Tahoma"/>
              </a:rPr>
              <a:t>the </a:t>
            </a:r>
            <a:r>
              <a:rPr sz="2400" dirty="0">
                <a:latin typeface="Tahoma"/>
                <a:cs typeface="Tahoma"/>
              </a:rPr>
              <a:t>other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server.</a:t>
            </a:r>
            <a:endParaRPr sz="2400" dirty="0">
              <a:latin typeface="Tahoma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Tahoma"/>
                <a:cs typeface="Tahoma"/>
              </a:rPr>
              <a:t>The </a:t>
            </a:r>
            <a:r>
              <a:rPr sz="2400" spc="-5" dirty="0">
                <a:latin typeface="Tahoma"/>
                <a:cs typeface="Tahoma"/>
              </a:rPr>
              <a:t>solution to this </a:t>
            </a:r>
            <a:r>
              <a:rPr sz="2400" dirty="0">
                <a:latin typeface="Tahoma"/>
                <a:cs typeface="Tahoma"/>
              </a:rPr>
              <a:t>problem </a:t>
            </a:r>
            <a:r>
              <a:rPr sz="2400" spc="-5" dirty="0">
                <a:latin typeface="Tahoma"/>
                <a:cs typeface="Tahoma"/>
              </a:rPr>
              <a:t>would </a:t>
            </a:r>
            <a:r>
              <a:rPr sz="2400" dirty="0">
                <a:latin typeface="Tahoma"/>
                <a:cs typeface="Tahoma"/>
              </a:rPr>
              <a:t>be one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of:</a:t>
            </a:r>
          </a:p>
          <a:p>
            <a:pPr marL="756285" lvl="1" indent="-286385">
              <a:lnSpc>
                <a:spcPct val="100000"/>
              </a:lnSpc>
              <a:spcBef>
                <a:spcPts val="489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dirty="0">
                <a:latin typeface="Tahoma"/>
                <a:cs typeface="Tahoma"/>
              </a:rPr>
              <a:t>Do </a:t>
            </a:r>
            <a:r>
              <a:rPr sz="2000" spc="-5" dirty="0">
                <a:latin typeface="Tahoma"/>
                <a:cs typeface="Tahoma"/>
              </a:rPr>
              <a:t>not </a:t>
            </a:r>
            <a:r>
              <a:rPr sz="2000" dirty="0">
                <a:latin typeface="Tahoma"/>
                <a:cs typeface="Tahoma"/>
              </a:rPr>
              <a:t>use session</a:t>
            </a:r>
            <a:r>
              <a:rPr sz="2000" spc="-3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attributes.</a:t>
            </a:r>
          </a:p>
          <a:p>
            <a:pPr marL="756285" marR="372745" lvl="1" indent="-28638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spc="5" dirty="0">
                <a:latin typeface="Tahoma"/>
                <a:cs typeface="Tahoma"/>
              </a:rPr>
              <a:t>Use </a:t>
            </a:r>
            <a:r>
              <a:rPr sz="2000" dirty="0">
                <a:latin typeface="Tahoma"/>
                <a:cs typeface="Tahoma"/>
              </a:rPr>
              <a:t>a session database, into </a:t>
            </a:r>
            <a:r>
              <a:rPr sz="2000" spc="-5" dirty="0">
                <a:latin typeface="Tahoma"/>
                <a:cs typeface="Tahoma"/>
              </a:rPr>
              <a:t>which session attributes </a:t>
            </a:r>
            <a:r>
              <a:rPr sz="2000" dirty="0">
                <a:latin typeface="Tahoma"/>
                <a:cs typeface="Tahoma"/>
              </a:rPr>
              <a:t>are </a:t>
            </a:r>
            <a:r>
              <a:rPr sz="2000" spc="-5" dirty="0">
                <a:latin typeface="Tahoma"/>
                <a:cs typeface="Tahoma"/>
              </a:rPr>
              <a:t>written, </a:t>
            </a:r>
            <a:r>
              <a:rPr sz="2000" dirty="0">
                <a:latin typeface="Tahoma"/>
                <a:cs typeface="Tahoma"/>
              </a:rPr>
              <a:t>and  </a:t>
            </a:r>
            <a:r>
              <a:rPr sz="2000" spc="-5" dirty="0">
                <a:latin typeface="Tahoma"/>
                <a:cs typeface="Tahoma"/>
              </a:rPr>
              <a:t>from which </a:t>
            </a:r>
            <a:r>
              <a:rPr sz="2000" dirty="0">
                <a:latin typeface="Tahoma"/>
                <a:cs typeface="Tahoma"/>
              </a:rPr>
              <a:t>it is </a:t>
            </a:r>
            <a:r>
              <a:rPr sz="2000" spc="-5" dirty="0">
                <a:latin typeface="Tahoma"/>
                <a:cs typeface="Tahoma"/>
              </a:rPr>
              <a:t>read.</a:t>
            </a:r>
            <a:endParaRPr sz="2000" dirty="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000" spc="5" dirty="0">
                <a:latin typeface="Tahoma"/>
                <a:cs typeface="Tahoma"/>
              </a:rPr>
              <a:t>Use </a:t>
            </a:r>
            <a:r>
              <a:rPr sz="2000" spc="-5" dirty="0">
                <a:latin typeface="Tahoma"/>
                <a:cs typeface="Tahoma"/>
              </a:rPr>
              <a:t>sticky </a:t>
            </a:r>
            <a:r>
              <a:rPr sz="2000" dirty="0">
                <a:latin typeface="Tahoma"/>
                <a:cs typeface="Tahoma"/>
              </a:rPr>
              <a:t>session, </a:t>
            </a:r>
            <a:r>
              <a:rPr sz="2000" spc="-5" dirty="0">
                <a:latin typeface="Tahoma"/>
                <a:cs typeface="Tahoma"/>
              </a:rPr>
              <a:t>where </a:t>
            </a:r>
            <a:r>
              <a:rPr sz="2000" dirty="0">
                <a:latin typeface="Tahoma"/>
                <a:cs typeface="Tahoma"/>
              </a:rPr>
              <a:t>a user is always </a:t>
            </a:r>
            <a:r>
              <a:rPr sz="2000" spc="-5" dirty="0">
                <a:latin typeface="Tahoma"/>
                <a:cs typeface="Tahoma"/>
              </a:rPr>
              <a:t>sent to the same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server,</a:t>
            </a:r>
            <a:endParaRPr sz="2000" dirty="0">
              <a:latin typeface="Tahoma"/>
              <a:cs typeface="Tahoma"/>
            </a:endParaRPr>
          </a:p>
          <a:p>
            <a:pPr marL="756285">
              <a:lnSpc>
                <a:spcPct val="100000"/>
              </a:lnSpc>
            </a:pPr>
            <a:r>
              <a:rPr sz="2000" spc="-5" dirty="0">
                <a:latin typeface="Tahoma"/>
                <a:cs typeface="Tahoma"/>
              </a:rPr>
              <a:t>throughout </a:t>
            </a:r>
            <a:r>
              <a:rPr sz="2000" dirty="0">
                <a:latin typeface="Tahoma"/>
                <a:cs typeface="Tahoma"/>
              </a:rPr>
              <a:t>the </a:t>
            </a:r>
            <a:r>
              <a:rPr sz="2000" spc="-5" dirty="0">
                <a:latin typeface="Tahoma"/>
                <a:cs typeface="Tahoma"/>
              </a:rPr>
              <a:t>whole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session.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539115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HttpSession:</a:t>
            </a:r>
            <a:r>
              <a:rPr spc="-100" dirty="0"/>
              <a:t> </a:t>
            </a:r>
            <a:r>
              <a:rPr spc="-5" dirty="0"/>
              <a:t>Example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739" y="2165426"/>
            <a:ext cx="8912861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Create one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HTML file: index.html which send user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name</a:t>
            </a:r>
            <a:r>
              <a:rPr sz="2800" spc="-4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and</a:t>
            </a:r>
            <a:r>
              <a:rPr lang="en-GB"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password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the servlet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file.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7000" y="4953000"/>
            <a:ext cx="8864600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5600" algn="l"/>
              </a:tabLst>
            </a:pP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Create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two servlet file,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one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will save user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name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into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session</a:t>
            </a:r>
            <a:r>
              <a:rPr lang="en-GB"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and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that session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information is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send to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another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servlet. This 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example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shows the session</a:t>
            </a:r>
            <a:r>
              <a:rPr sz="2800" spc="2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tracking.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2912" y="3359466"/>
            <a:ext cx="8365600" cy="13649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46342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RequestDispatcher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8739" y="2043493"/>
            <a:ext cx="9065261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RequestDispatcher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class enables your servlet to</a:t>
            </a:r>
            <a:r>
              <a:rPr sz="2400" spc="-4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"call"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>
              <a:lnSpc>
                <a:spcPct val="100000"/>
              </a:lnSpc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another servlet from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inside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another</a:t>
            </a:r>
            <a:r>
              <a:rPr sz="2400" spc="-5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marR="175387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can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obtain a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RequestDispatcher from the  HttpServletRequest</a:t>
            </a:r>
            <a:r>
              <a:rPr sz="2400" spc="-1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object.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739" y="5958027"/>
            <a:ext cx="870775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dirty="0">
                <a:latin typeface="Tahoma"/>
                <a:cs typeface="Tahoma"/>
              </a:rPr>
              <a:t>The above </a:t>
            </a:r>
            <a:r>
              <a:rPr sz="2000" spc="-5" dirty="0">
                <a:latin typeface="Tahoma"/>
                <a:cs typeface="Tahoma"/>
              </a:rPr>
              <a:t>code </a:t>
            </a:r>
            <a:r>
              <a:rPr sz="2000" dirty="0">
                <a:latin typeface="Tahoma"/>
                <a:cs typeface="Tahoma"/>
              </a:rPr>
              <a:t>obtains a RequestDispatcher </a:t>
            </a:r>
            <a:r>
              <a:rPr sz="2000" spc="-5" dirty="0">
                <a:latin typeface="Tahoma"/>
                <a:cs typeface="Tahoma"/>
              </a:rPr>
              <a:t>targeted </a:t>
            </a:r>
            <a:r>
              <a:rPr sz="2000" dirty="0">
                <a:latin typeface="Tahoma"/>
                <a:cs typeface="Tahoma"/>
              </a:rPr>
              <a:t>at </a:t>
            </a:r>
            <a:r>
              <a:rPr sz="2000" spc="-5" dirty="0">
                <a:latin typeface="Tahoma"/>
                <a:cs typeface="Tahoma"/>
              </a:rPr>
              <a:t>whatever Servlet  </a:t>
            </a:r>
            <a:r>
              <a:rPr sz="2000" dirty="0">
                <a:latin typeface="Tahoma"/>
                <a:cs typeface="Tahoma"/>
              </a:rPr>
              <a:t>(or JSP) </a:t>
            </a:r>
            <a:r>
              <a:rPr sz="2000" spc="-5" dirty="0">
                <a:latin typeface="Tahoma"/>
                <a:cs typeface="Tahoma"/>
              </a:rPr>
              <a:t>that is </a:t>
            </a:r>
            <a:r>
              <a:rPr sz="2000" dirty="0">
                <a:latin typeface="Tahoma"/>
                <a:cs typeface="Tahoma"/>
              </a:rPr>
              <a:t>mapped </a:t>
            </a:r>
            <a:r>
              <a:rPr sz="2000" spc="-5" dirty="0">
                <a:latin typeface="Tahoma"/>
                <a:cs typeface="Tahoma"/>
              </a:rPr>
              <a:t>to the </a:t>
            </a:r>
            <a:r>
              <a:rPr sz="2000" dirty="0">
                <a:latin typeface="Tahoma"/>
                <a:cs typeface="Tahoma"/>
              </a:rPr>
              <a:t>URL</a:t>
            </a:r>
            <a:r>
              <a:rPr sz="2000" spc="-2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/anotherUrl.simple.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5587" y="3733800"/>
            <a:ext cx="8735949" cy="2057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46342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RequestDispatcher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4939" y="2356230"/>
            <a:ext cx="87395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spc="-5" dirty="0">
                <a:latin typeface="Tahoma"/>
                <a:cs typeface="Tahoma"/>
              </a:rPr>
              <a:t>You can call the RequestDispatcher </a:t>
            </a:r>
            <a:r>
              <a:rPr sz="2400" dirty="0">
                <a:latin typeface="Tahoma"/>
                <a:cs typeface="Tahoma"/>
              </a:rPr>
              <a:t>using </a:t>
            </a:r>
            <a:r>
              <a:rPr sz="2400" spc="-5" dirty="0">
                <a:latin typeface="Tahoma"/>
                <a:cs typeface="Tahoma"/>
              </a:rPr>
              <a:t>either  </a:t>
            </a:r>
            <a:r>
              <a:rPr sz="2400" dirty="0">
                <a:latin typeface="Tahoma"/>
                <a:cs typeface="Tahoma"/>
              </a:rPr>
              <a:t>its </a:t>
            </a:r>
            <a:r>
              <a:rPr sz="2400" spc="-5" dirty="0">
                <a:latin typeface="Tahoma"/>
                <a:cs typeface="Tahoma"/>
              </a:rPr>
              <a:t>include() </a:t>
            </a:r>
            <a:r>
              <a:rPr sz="2400" dirty="0">
                <a:latin typeface="Tahoma"/>
                <a:cs typeface="Tahoma"/>
              </a:rPr>
              <a:t>or </a:t>
            </a:r>
            <a:r>
              <a:rPr sz="2400" spc="-5" dirty="0">
                <a:latin typeface="Tahoma"/>
                <a:cs typeface="Tahoma"/>
              </a:rPr>
              <a:t>forward() </a:t>
            </a:r>
            <a:r>
              <a:rPr sz="2400" dirty="0">
                <a:latin typeface="Tahoma"/>
                <a:cs typeface="Tahoma"/>
              </a:rPr>
              <a:t>method.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4939" y="4267200"/>
            <a:ext cx="8739505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dirty="0">
                <a:latin typeface="Tahoma"/>
                <a:cs typeface="Tahoma"/>
              </a:rPr>
              <a:t>The </a:t>
            </a:r>
            <a:r>
              <a:rPr sz="2000" spc="-5" dirty="0">
                <a:latin typeface="Tahoma"/>
                <a:cs typeface="Tahoma"/>
              </a:rPr>
              <a:t>forward() </a:t>
            </a:r>
            <a:r>
              <a:rPr sz="2000" dirty="0">
                <a:latin typeface="Tahoma"/>
                <a:cs typeface="Tahoma"/>
              </a:rPr>
              <a:t>method </a:t>
            </a:r>
            <a:r>
              <a:rPr sz="2000" spc="-5" dirty="0">
                <a:latin typeface="Tahoma"/>
                <a:cs typeface="Tahoma"/>
              </a:rPr>
              <a:t>intended for </a:t>
            </a:r>
            <a:r>
              <a:rPr sz="2000" dirty="0">
                <a:latin typeface="Tahoma"/>
                <a:cs typeface="Tahoma"/>
              </a:rPr>
              <a:t>use in </a:t>
            </a:r>
            <a:r>
              <a:rPr sz="2000" b="1" spc="-5" dirty="0">
                <a:latin typeface="Tahoma"/>
                <a:cs typeface="Tahoma"/>
              </a:rPr>
              <a:t>forwarding </a:t>
            </a:r>
            <a:r>
              <a:rPr sz="2000" spc="-5" dirty="0">
                <a:latin typeface="Tahoma"/>
                <a:cs typeface="Tahoma"/>
              </a:rPr>
              <a:t>the request,  </a:t>
            </a:r>
            <a:r>
              <a:rPr sz="2000" dirty="0">
                <a:latin typeface="Tahoma"/>
                <a:cs typeface="Tahoma"/>
              </a:rPr>
              <a:t>meaning after </a:t>
            </a:r>
            <a:r>
              <a:rPr sz="2000" spc="-5" dirty="0">
                <a:latin typeface="Tahoma"/>
                <a:cs typeface="Tahoma"/>
              </a:rPr>
              <a:t>the </a:t>
            </a:r>
            <a:r>
              <a:rPr sz="2000" dirty="0">
                <a:latin typeface="Tahoma"/>
                <a:cs typeface="Tahoma"/>
              </a:rPr>
              <a:t>response of </a:t>
            </a:r>
            <a:r>
              <a:rPr sz="2000" spc="-5" dirty="0">
                <a:latin typeface="Tahoma"/>
                <a:cs typeface="Tahoma"/>
              </a:rPr>
              <a:t>the calling servlet </a:t>
            </a:r>
            <a:r>
              <a:rPr sz="2000" dirty="0">
                <a:latin typeface="Tahoma"/>
                <a:cs typeface="Tahoma"/>
              </a:rPr>
              <a:t>has been </a:t>
            </a:r>
            <a:r>
              <a:rPr sz="2000" spc="-5" dirty="0">
                <a:latin typeface="Tahoma"/>
                <a:cs typeface="Tahoma"/>
              </a:rPr>
              <a:t>committed. You  cannot </a:t>
            </a:r>
            <a:r>
              <a:rPr sz="2000" dirty="0">
                <a:latin typeface="Tahoma"/>
                <a:cs typeface="Tahoma"/>
              </a:rPr>
              <a:t>merge response output using </a:t>
            </a:r>
            <a:r>
              <a:rPr sz="2000" spc="-5" dirty="0">
                <a:latin typeface="Tahoma"/>
                <a:cs typeface="Tahoma"/>
              </a:rPr>
              <a:t>this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method</a:t>
            </a:r>
            <a:r>
              <a:rPr sz="2000" dirty="0" smtClean="0">
                <a:latin typeface="Tahoma"/>
                <a:cs typeface="Tahoma"/>
              </a:rPr>
              <a:t>.</a:t>
            </a:r>
            <a:endParaRPr sz="2900" dirty="0">
              <a:latin typeface="Times New Roman"/>
              <a:cs typeface="Times New Roman"/>
            </a:endParaRPr>
          </a:p>
          <a:p>
            <a:pPr marL="355600" marR="99695" indent="-342900">
              <a:lnSpc>
                <a:spcPct val="100000"/>
              </a:lnSpc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dirty="0">
                <a:latin typeface="Tahoma"/>
                <a:cs typeface="Tahoma"/>
              </a:rPr>
              <a:t>The </a:t>
            </a:r>
            <a:r>
              <a:rPr sz="2000" spc="-5" dirty="0">
                <a:latin typeface="Tahoma"/>
                <a:cs typeface="Tahoma"/>
              </a:rPr>
              <a:t>include() </a:t>
            </a:r>
            <a:r>
              <a:rPr sz="2000" dirty="0">
                <a:latin typeface="Tahoma"/>
                <a:cs typeface="Tahoma"/>
              </a:rPr>
              <a:t>method merges </a:t>
            </a:r>
            <a:r>
              <a:rPr sz="2000" spc="-5" dirty="0">
                <a:latin typeface="Tahoma"/>
                <a:cs typeface="Tahoma"/>
              </a:rPr>
              <a:t>the response written </a:t>
            </a:r>
            <a:r>
              <a:rPr sz="2000" dirty="0">
                <a:latin typeface="Tahoma"/>
                <a:cs typeface="Tahoma"/>
              </a:rPr>
              <a:t>by </a:t>
            </a:r>
            <a:r>
              <a:rPr sz="2000" spc="-5" dirty="0">
                <a:latin typeface="Tahoma"/>
                <a:cs typeface="Tahoma"/>
              </a:rPr>
              <a:t>the calling servlet,  </a:t>
            </a:r>
            <a:r>
              <a:rPr sz="2000" dirty="0">
                <a:latin typeface="Tahoma"/>
                <a:cs typeface="Tahoma"/>
              </a:rPr>
              <a:t>and </a:t>
            </a:r>
            <a:r>
              <a:rPr sz="2000" spc="-5" dirty="0">
                <a:latin typeface="Tahoma"/>
                <a:cs typeface="Tahoma"/>
              </a:rPr>
              <a:t>the </a:t>
            </a:r>
            <a:r>
              <a:rPr sz="2000" dirty="0">
                <a:latin typeface="Tahoma"/>
                <a:cs typeface="Tahoma"/>
              </a:rPr>
              <a:t>activated </a:t>
            </a:r>
            <a:r>
              <a:rPr sz="2000" spc="-5" dirty="0">
                <a:latin typeface="Tahoma"/>
                <a:cs typeface="Tahoma"/>
              </a:rPr>
              <a:t>servlet. </a:t>
            </a:r>
            <a:r>
              <a:rPr sz="2000" dirty="0">
                <a:latin typeface="Tahoma"/>
                <a:cs typeface="Tahoma"/>
              </a:rPr>
              <a:t>This </a:t>
            </a:r>
            <a:r>
              <a:rPr sz="2000" spc="-5" dirty="0">
                <a:latin typeface="Tahoma"/>
                <a:cs typeface="Tahoma"/>
              </a:rPr>
              <a:t>way you can </a:t>
            </a:r>
            <a:r>
              <a:rPr sz="2000" dirty="0">
                <a:latin typeface="Tahoma"/>
                <a:cs typeface="Tahoma"/>
              </a:rPr>
              <a:t>achieve </a:t>
            </a:r>
            <a:r>
              <a:rPr sz="2000" spc="-5" dirty="0">
                <a:latin typeface="Tahoma"/>
                <a:cs typeface="Tahoma"/>
              </a:rPr>
              <a:t>"server side includes"  </a:t>
            </a:r>
            <a:r>
              <a:rPr sz="2000" dirty="0">
                <a:latin typeface="Tahoma"/>
                <a:cs typeface="Tahoma"/>
              </a:rPr>
              <a:t>using </a:t>
            </a:r>
            <a:r>
              <a:rPr sz="2000" spc="-5" dirty="0">
                <a:latin typeface="Tahoma"/>
                <a:cs typeface="Tahoma"/>
              </a:rPr>
              <a:t>the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include().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12762" y="3181350"/>
            <a:ext cx="7411974" cy="7048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61550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Servlet: </a:t>
            </a:r>
            <a:r>
              <a:rPr dirty="0"/>
              <a:t>Load on </a:t>
            </a:r>
            <a:r>
              <a:rPr spc="-5" dirty="0"/>
              <a:t>start</a:t>
            </a:r>
            <a:r>
              <a:rPr spc="-75" dirty="0"/>
              <a:t> </a:t>
            </a:r>
            <a:r>
              <a:rPr dirty="0"/>
              <a:t>up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4939" y="2295880"/>
            <a:ext cx="8971915" cy="38665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dirty="0">
                <a:latin typeface="Tahoma"/>
                <a:cs typeface="Tahoma"/>
              </a:rPr>
              <a:t>The </a:t>
            </a:r>
            <a:r>
              <a:rPr sz="2000" spc="-5" dirty="0">
                <a:latin typeface="Tahoma"/>
                <a:cs typeface="Tahoma"/>
              </a:rPr>
              <a:t>&lt;servlet&gt; element </a:t>
            </a:r>
            <a:r>
              <a:rPr sz="2000" dirty="0">
                <a:latin typeface="Tahoma"/>
                <a:cs typeface="Tahoma"/>
              </a:rPr>
              <a:t>has a </a:t>
            </a:r>
            <a:r>
              <a:rPr sz="2000" spc="-5" dirty="0">
                <a:latin typeface="Tahoma"/>
                <a:cs typeface="Tahoma"/>
              </a:rPr>
              <a:t>sub-element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called</a:t>
            </a:r>
            <a:endParaRPr sz="2000" dirty="0">
              <a:latin typeface="Tahoma"/>
              <a:cs typeface="Tahoma"/>
            </a:endParaRPr>
          </a:p>
          <a:p>
            <a:pPr marL="12700" marR="156210">
              <a:lnSpc>
                <a:spcPct val="100000"/>
              </a:lnSpc>
              <a:spcBef>
                <a:spcPts val="480"/>
              </a:spcBef>
            </a:pPr>
            <a:r>
              <a:rPr sz="2000" b="1" spc="-5" dirty="0">
                <a:latin typeface="Tahoma"/>
                <a:cs typeface="Tahoma"/>
              </a:rPr>
              <a:t>&lt;load-on-startup&gt; </a:t>
            </a:r>
            <a:r>
              <a:rPr sz="2000" spc="-5" dirty="0">
                <a:latin typeface="Tahoma"/>
                <a:cs typeface="Tahoma"/>
              </a:rPr>
              <a:t>which you can </a:t>
            </a:r>
            <a:r>
              <a:rPr sz="2000" dirty="0">
                <a:latin typeface="Tahoma"/>
                <a:cs typeface="Tahoma"/>
              </a:rPr>
              <a:t>use </a:t>
            </a:r>
            <a:r>
              <a:rPr sz="2000" spc="-5" dirty="0">
                <a:latin typeface="Tahoma"/>
                <a:cs typeface="Tahoma"/>
              </a:rPr>
              <a:t>to control when the servlet </a:t>
            </a:r>
            <a:r>
              <a:rPr sz="2000" dirty="0">
                <a:latin typeface="Tahoma"/>
                <a:cs typeface="Tahoma"/>
              </a:rPr>
              <a:t>container  should load </a:t>
            </a:r>
            <a:r>
              <a:rPr sz="2000" spc="-5" dirty="0">
                <a:latin typeface="Tahoma"/>
                <a:cs typeface="Tahoma"/>
              </a:rPr>
              <a:t>the</a:t>
            </a:r>
            <a:r>
              <a:rPr sz="2000" spc="-50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servlet.</a:t>
            </a:r>
            <a:endParaRPr sz="20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 dirty="0">
              <a:latin typeface="Times New Roman"/>
              <a:cs typeface="Times New Roman"/>
            </a:endParaRPr>
          </a:p>
          <a:p>
            <a:pPr marL="355600" marR="31750" indent="-342900">
              <a:lnSpc>
                <a:spcPct val="100000"/>
              </a:lnSpc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spc="-5" dirty="0">
                <a:latin typeface="Tahoma"/>
                <a:cs typeface="Tahoma"/>
              </a:rPr>
              <a:t>If you </a:t>
            </a:r>
            <a:r>
              <a:rPr sz="2000" dirty="0">
                <a:latin typeface="Tahoma"/>
                <a:cs typeface="Tahoma"/>
              </a:rPr>
              <a:t>do not specify a </a:t>
            </a:r>
            <a:r>
              <a:rPr sz="2000" spc="-5" dirty="0">
                <a:latin typeface="Tahoma"/>
                <a:cs typeface="Tahoma"/>
              </a:rPr>
              <a:t>&lt;load-on-startup&gt; element, the servlet </a:t>
            </a:r>
            <a:r>
              <a:rPr sz="2000" dirty="0">
                <a:latin typeface="Tahoma"/>
                <a:cs typeface="Tahoma"/>
              </a:rPr>
              <a:t>container </a:t>
            </a:r>
            <a:r>
              <a:rPr sz="2000" spc="-5" dirty="0">
                <a:latin typeface="Tahoma"/>
                <a:cs typeface="Tahoma"/>
              </a:rPr>
              <a:t>will  typically </a:t>
            </a:r>
            <a:r>
              <a:rPr sz="2000" dirty="0">
                <a:latin typeface="Tahoma"/>
                <a:cs typeface="Tahoma"/>
              </a:rPr>
              <a:t>load </a:t>
            </a:r>
            <a:r>
              <a:rPr sz="2000" spc="-5" dirty="0">
                <a:latin typeface="Tahoma"/>
                <a:cs typeface="Tahoma"/>
              </a:rPr>
              <a:t>your servlet when the first request </a:t>
            </a:r>
            <a:r>
              <a:rPr sz="2000" dirty="0">
                <a:latin typeface="Tahoma"/>
                <a:cs typeface="Tahoma"/>
              </a:rPr>
              <a:t>arrives </a:t>
            </a:r>
            <a:r>
              <a:rPr sz="2000" spc="-5" dirty="0">
                <a:latin typeface="Tahoma"/>
                <a:cs typeface="Tahoma"/>
              </a:rPr>
              <a:t>for</a:t>
            </a:r>
            <a:r>
              <a:rPr sz="2000" spc="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it.</a:t>
            </a: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3333CC"/>
              </a:buClr>
              <a:buFont typeface="Wingdings"/>
              <a:buChar char=""/>
            </a:pPr>
            <a:endParaRPr sz="29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dirty="0">
                <a:latin typeface="Tahoma"/>
                <a:cs typeface="Tahoma"/>
              </a:rPr>
              <a:t>By setting a </a:t>
            </a:r>
            <a:r>
              <a:rPr sz="2000" spc="-5" dirty="0">
                <a:latin typeface="Tahoma"/>
                <a:cs typeface="Tahoma"/>
              </a:rPr>
              <a:t>&lt;load-on-startup&gt; element, you can tell the servlet container</a:t>
            </a:r>
            <a:r>
              <a:rPr sz="2000" spc="-15" dirty="0">
                <a:latin typeface="Tahoma"/>
                <a:cs typeface="Tahoma"/>
              </a:rPr>
              <a:t> </a:t>
            </a:r>
            <a:r>
              <a:rPr sz="2000" spc="-5" dirty="0">
                <a:latin typeface="Tahoma"/>
                <a:cs typeface="Tahoma"/>
              </a:rPr>
              <a:t>to</a:t>
            </a:r>
            <a:endParaRPr sz="2000" dirty="0">
              <a:latin typeface="Tahoma"/>
              <a:cs typeface="Tahoma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ahoma"/>
                <a:cs typeface="Tahoma"/>
              </a:rPr>
              <a:t>load the </a:t>
            </a:r>
            <a:r>
              <a:rPr sz="2000" spc="-5" dirty="0">
                <a:latin typeface="Tahoma"/>
                <a:cs typeface="Tahoma"/>
              </a:rPr>
              <a:t>servlet </a:t>
            </a:r>
            <a:r>
              <a:rPr sz="2000" dirty="0">
                <a:latin typeface="Tahoma"/>
                <a:cs typeface="Tahoma"/>
              </a:rPr>
              <a:t>as soon as the </a:t>
            </a:r>
            <a:r>
              <a:rPr sz="2000" spc="-5" dirty="0">
                <a:latin typeface="Tahoma"/>
                <a:cs typeface="Tahoma"/>
              </a:rPr>
              <a:t>servlet container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starts.</a:t>
            </a: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3333CC"/>
              </a:buClr>
              <a:buSzPct val="60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spc="-5" dirty="0">
                <a:latin typeface="Tahoma"/>
                <a:cs typeface="Tahoma"/>
              </a:rPr>
              <a:t>Remember, the servlets init() </a:t>
            </a:r>
            <a:r>
              <a:rPr sz="2000" dirty="0">
                <a:latin typeface="Tahoma"/>
                <a:cs typeface="Tahoma"/>
              </a:rPr>
              <a:t>method is </a:t>
            </a:r>
            <a:r>
              <a:rPr sz="2000" spc="-5" dirty="0">
                <a:latin typeface="Tahoma"/>
                <a:cs typeface="Tahoma"/>
              </a:rPr>
              <a:t>called when the servlet </a:t>
            </a:r>
            <a:r>
              <a:rPr sz="2000" dirty="0">
                <a:latin typeface="Tahoma"/>
                <a:cs typeface="Tahoma"/>
              </a:rPr>
              <a:t>is</a:t>
            </a:r>
            <a:r>
              <a:rPr sz="2000" spc="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loaded.</a:t>
            </a: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2000" b="1" spc="-5" dirty="0">
                <a:latin typeface="Tahoma"/>
                <a:cs typeface="Tahoma"/>
              </a:rPr>
              <a:t>&lt;load-on-startup&gt;1&lt;/load-on-startup&gt;</a:t>
            </a:r>
            <a:endParaRPr sz="20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16687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</a:t>
            </a:r>
            <a:r>
              <a:rPr spc="-15" dirty="0"/>
              <a:t>o</a:t>
            </a:r>
            <a:r>
              <a:rPr spc="-5" dirty="0"/>
              <a:t>kie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4939" y="2356230"/>
            <a:ext cx="8836661" cy="38631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HTTP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Cookies are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little pieces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of data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that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web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application 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can store on the client machine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of users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visiting the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web 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application.</a:t>
            </a: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Typically up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to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4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kilo bytes(KB)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of data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can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be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store.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We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can write cookies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using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HttpServletResponse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object: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Example</a:t>
            </a:r>
            <a:r>
              <a:rPr sz="2800" spc="-1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:</a:t>
            </a:r>
            <a:endParaRPr sz="32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12700" marR="273050">
              <a:lnSpc>
                <a:spcPct val="120000"/>
              </a:lnSpc>
            </a:pP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Cookie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cookie =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new Cookie("myCookie",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"myCookieValue");  response.addCookie(cookie);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16687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</a:t>
            </a:r>
            <a:r>
              <a:rPr spc="-15" dirty="0"/>
              <a:t>o</a:t>
            </a:r>
            <a:r>
              <a:rPr spc="-5" dirty="0"/>
              <a:t>kie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1290" y="1826840"/>
            <a:ext cx="8982710" cy="33336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By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default,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each request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considered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as a new</a:t>
            </a:r>
            <a:r>
              <a:rPr sz="2800" spc="-3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marR="516255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In cookies technique, we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add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cookie with response from the </a:t>
            </a:r>
            <a:r>
              <a:rPr sz="28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servlet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So cookie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stored in the cache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of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</a:t>
            </a:r>
            <a:r>
              <a:rPr sz="2800" spc="-1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browser.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After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that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if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sent by the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user,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cookie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added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with 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request by default. Thus, we recognize the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user as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old</a:t>
            </a:r>
            <a:r>
              <a:rPr sz="2800" spc="2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user.</a:t>
            </a:r>
          </a:p>
        </p:txBody>
      </p:sp>
      <p:sp>
        <p:nvSpPr>
          <p:cNvPr id="8" name="object 8"/>
          <p:cNvSpPr/>
          <p:nvPr/>
        </p:nvSpPr>
        <p:spPr>
          <a:xfrm>
            <a:off x="304800" y="4895849"/>
            <a:ext cx="8686800" cy="1955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34956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Cookie:</a:t>
            </a:r>
            <a:r>
              <a:rPr spc="-100" dirty="0"/>
              <a:t> </a:t>
            </a:r>
            <a:r>
              <a:rPr dirty="0"/>
              <a:t>Types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0412" y="2389433"/>
            <a:ext cx="8778875" cy="36619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Non-persistent</a:t>
            </a:r>
            <a:r>
              <a:rPr sz="2800" spc="-1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cookie: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valid for single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session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only.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removed each time when</a:t>
            </a:r>
            <a:r>
              <a:rPr sz="2400" spc="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user</a:t>
            </a:r>
            <a:r>
              <a:rPr lang="en-GB" sz="2400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 smtClean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closes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</a:t>
            </a:r>
            <a:r>
              <a:rPr sz="2400" spc="-4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browser.</a:t>
            </a:r>
          </a:p>
          <a:p>
            <a:pPr>
              <a:lnSpc>
                <a:spcPct val="100000"/>
              </a:lnSpc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Persistent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cookie:</a:t>
            </a:r>
          </a:p>
          <a:p>
            <a:pPr marL="756285" marR="10160" lvl="1" indent="-28638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SzPct val="55000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</a:t>
            </a:r>
            <a:r>
              <a:rPr sz="24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valid for multiple </a:t>
            </a:r>
            <a:r>
              <a:rPr sz="2400" b="1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session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.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not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removed each time when 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user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closes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browser.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is removed only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if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user logout or sign-out or 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clear cookies/cache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memory of</a:t>
            </a:r>
            <a:r>
              <a:rPr sz="2400" spc="-5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browsers.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45129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Cookie:</a:t>
            </a:r>
            <a:r>
              <a:rPr spc="-90" dirty="0"/>
              <a:t> </a:t>
            </a:r>
            <a:r>
              <a:rPr spc="-5" dirty="0"/>
              <a:t>Pros/Cons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4939" y="2270298"/>
            <a:ext cx="8016240" cy="31149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Advantages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: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Simplest technique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of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maintaining the</a:t>
            </a:r>
            <a:r>
              <a:rPr sz="2400" spc="-3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state.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Cookies are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maintained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at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client</a:t>
            </a:r>
            <a:r>
              <a:rPr sz="2400" spc="-4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side.</a:t>
            </a: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FF0000"/>
              </a:buClr>
              <a:buFont typeface="Wingdings"/>
              <a:buChar char=""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Disadvantages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It will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not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work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if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cookie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is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disabled from the</a:t>
            </a:r>
            <a:r>
              <a:rPr sz="2400" spc="-3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browser.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SzPct val="5416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Only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textual information can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be </a:t>
            </a:r>
            <a:r>
              <a:rPr sz="24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set in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Cookie</a:t>
            </a:r>
            <a:r>
              <a:rPr sz="2400" spc="-7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4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object.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48920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Cookie:</a:t>
            </a:r>
            <a:r>
              <a:rPr spc="-85" dirty="0"/>
              <a:t> </a:t>
            </a:r>
            <a:r>
              <a:rPr dirty="0"/>
              <a:t>Constructor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4939" y="2356230"/>
            <a:ext cx="8514398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javax.servlet.http.Cookie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class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provides </a:t>
            </a:r>
            <a:r>
              <a:rPr sz="2800" spc="-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the  functionality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of using cookies. It provides a lot </a:t>
            </a:r>
            <a:r>
              <a:rPr sz="280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of 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useful methods for</a:t>
            </a:r>
            <a:r>
              <a:rPr sz="2800" spc="10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 </a:t>
            </a:r>
            <a:r>
              <a:rPr sz="2800" spc="-5" dirty="0">
                <a:latin typeface="Cambria" panose="02040503050406030204" pitchFamily="18" charset="0"/>
                <a:ea typeface="Cambria" panose="02040503050406030204" pitchFamily="18" charset="0"/>
                <a:cs typeface="Tahoma"/>
              </a:rPr>
              <a:t>cookies.</a:t>
            </a:r>
            <a:endParaRPr sz="2800" dirty="0">
              <a:latin typeface="Cambria" panose="02040503050406030204" pitchFamily="18" charset="0"/>
              <a:ea typeface="Cambria" panose="02040503050406030204" pitchFamily="18" charset="0"/>
              <a:cs typeface="Tahom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300037" y="4146613"/>
          <a:ext cx="8610600" cy="1334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38600"/>
                <a:gridCol w="4572000"/>
              </a:tblGrid>
              <a:tr h="36512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Constructor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9525">
                      <a:solidFill>
                        <a:srgbClr val="2F277D"/>
                      </a:solidFill>
                      <a:prstDash val="solid"/>
                    </a:lnL>
                    <a:lnR w="9525">
                      <a:solidFill>
                        <a:srgbClr val="2F277D"/>
                      </a:solidFill>
                      <a:prstDash val="solid"/>
                    </a:lnR>
                    <a:lnT w="9525">
                      <a:solidFill>
                        <a:srgbClr val="2F277D"/>
                      </a:solidFill>
                      <a:prstDash val="solid"/>
                    </a:lnT>
                    <a:lnB w="9525">
                      <a:solidFill>
                        <a:srgbClr val="FFC0CA"/>
                      </a:solidFill>
                      <a:prstDash val="solid"/>
                    </a:lnB>
                    <a:solidFill>
                      <a:srgbClr val="F6FFE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9525">
                      <a:solidFill>
                        <a:srgbClr val="2F277D"/>
                      </a:solidFill>
                      <a:prstDash val="solid"/>
                    </a:lnL>
                    <a:lnR w="9525">
                      <a:solidFill>
                        <a:srgbClr val="2F277D"/>
                      </a:solidFill>
                      <a:prstDash val="solid"/>
                    </a:lnR>
                    <a:lnT w="9525">
                      <a:solidFill>
                        <a:srgbClr val="2F277D"/>
                      </a:solidFill>
                      <a:prstDash val="solid"/>
                    </a:lnT>
                    <a:lnB w="9525">
                      <a:solidFill>
                        <a:srgbClr val="FFC0CA"/>
                      </a:solidFill>
                      <a:prstDash val="solid"/>
                    </a:lnB>
                    <a:solidFill>
                      <a:srgbClr val="F6FFE0"/>
                    </a:solidFill>
                  </a:tcPr>
                </a:tc>
              </a:tr>
              <a:tr h="35306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700" spc="-5" dirty="0">
                          <a:latin typeface="Verdana"/>
                          <a:cs typeface="Verdana"/>
                        </a:rPr>
                        <a:t>Cookie()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4" marB="0">
                    <a:lnL w="9525">
                      <a:solidFill>
                        <a:srgbClr val="FFC0CA"/>
                      </a:solidFill>
                      <a:prstDash val="solid"/>
                    </a:lnL>
                    <a:lnR w="9525">
                      <a:solidFill>
                        <a:srgbClr val="FFC0CA"/>
                      </a:solidFill>
                      <a:prstDash val="solid"/>
                    </a:lnR>
                    <a:lnT w="9525">
                      <a:solidFill>
                        <a:srgbClr val="FFC0CA"/>
                      </a:solidFill>
                      <a:prstDash val="solid"/>
                    </a:lnT>
                    <a:lnB w="9525">
                      <a:solidFill>
                        <a:srgbClr val="FFC0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700" spc="-5" dirty="0">
                          <a:latin typeface="Verdana"/>
                          <a:cs typeface="Verdana"/>
                        </a:rPr>
                        <a:t>constructs </a:t>
                      </a:r>
                      <a:r>
                        <a:rPr sz="1700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700" spc="-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/>
                          <a:cs typeface="Verdana"/>
                        </a:rPr>
                        <a:t>cookie.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4" marB="0">
                    <a:lnL w="9525">
                      <a:solidFill>
                        <a:srgbClr val="FFC0CA"/>
                      </a:solidFill>
                      <a:prstDash val="solid"/>
                    </a:lnL>
                    <a:lnR w="9525">
                      <a:solidFill>
                        <a:srgbClr val="FFC0CA"/>
                      </a:solidFill>
                      <a:prstDash val="solid"/>
                    </a:lnR>
                    <a:lnT w="9525">
                      <a:solidFill>
                        <a:srgbClr val="FFC0CA"/>
                      </a:solidFill>
                      <a:prstDash val="solid"/>
                    </a:lnT>
                    <a:lnB w="9525">
                      <a:solidFill>
                        <a:srgbClr val="FFC0CA"/>
                      </a:solidFill>
                      <a:prstDash val="solid"/>
                    </a:lnB>
                  </a:tcPr>
                </a:tc>
              </a:tr>
              <a:tr h="61595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700" dirty="0">
                          <a:latin typeface="Verdana"/>
                          <a:cs typeface="Verdana"/>
                        </a:rPr>
                        <a:t>Cookie(String name, String</a:t>
                      </a:r>
                      <a:r>
                        <a:rPr sz="1700" spc="-8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700" spc="-5" dirty="0">
                          <a:latin typeface="Verdana"/>
                          <a:cs typeface="Verdana"/>
                        </a:rPr>
                        <a:t>value)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4" marB="0">
                    <a:lnL w="9525">
                      <a:solidFill>
                        <a:srgbClr val="FFC0CA"/>
                      </a:solidFill>
                      <a:prstDash val="solid"/>
                    </a:lnL>
                    <a:lnR w="9525">
                      <a:solidFill>
                        <a:srgbClr val="FFC0CA"/>
                      </a:solidFill>
                      <a:prstDash val="solid"/>
                    </a:lnR>
                    <a:lnT w="9525">
                      <a:solidFill>
                        <a:srgbClr val="FFC0CA"/>
                      </a:solidFill>
                      <a:prstDash val="solid"/>
                    </a:lnT>
                    <a:lnB w="9525">
                      <a:solidFill>
                        <a:srgbClr val="FFC0CA"/>
                      </a:solidFill>
                      <a:prstDash val="solid"/>
                    </a:lnB>
                    <a:solidFill>
                      <a:srgbClr val="F6FFE0"/>
                    </a:solidFill>
                  </a:tcPr>
                </a:tc>
                <a:tc>
                  <a:txBody>
                    <a:bodyPr/>
                    <a:lstStyle/>
                    <a:p>
                      <a:pPr marL="50800" marR="65722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700" dirty="0">
                          <a:latin typeface="Verdana"/>
                          <a:cs typeface="Verdana"/>
                        </a:rPr>
                        <a:t>constructs a </a:t>
                      </a:r>
                      <a:r>
                        <a:rPr sz="1700" spc="-5" dirty="0">
                          <a:latin typeface="Verdana"/>
                          <a:cs typeface="Verdana"/>
                        </a:rPr>
                        <a:t>cookie with </a:t>
                      </a:r>
                      <a:r>
                        <a:rPr sz="1700" dirty="0">
                          <a:latin typeface="Verdana"/>
                          <a:cs typeface="Verdana"/>
                        </a:rPr>
                        <a:t>a specified  name and</a:t>
                      </a:r>
                      <a:r>
                        <a:rPr sz="17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700" spc="-5" dirty="0">
                          <a:latin typeface="Verdana"/>
                          <a:cs typeface="Verdana"/>
                        </a:rPr>
                        <a:t>value.</a:t>
                      </a:r>
                      <a:endParaRPr sz="1700" dirty="0">
                        <a:latin typeface="Verdana"/>
                        <a:cs typeface="Verdana"/>
                      </a:endParaRPr>
                    </a:p>
                  </a:txBody>
                  <a:tcPr marL="0" marR="0" marT="48894" marB="0">
                    <a:lnL w="9525">
                      <a:solidFill>
                        <a:srgbClr val="FFC0CA"/>
                      </a:solidFill>
                      <a:prstDash val="solid"/>
                    </a:lnL>
                    <a:lnR w="9525">
                      <a:solidFill>
                        <a:srgbClr val="FFC0CA"/>
                      </a:solidFill>
                      <a:prstDash val="solid"/>
                    </a:lnR>
                    <a:lnT w="9525">
                      <a:solidFill>
                        <a:srgbClr val="FFC0CA"/>
                      </a:solidFill>
                      <a:prstDash val="solid"/>
                    </a:lnT>
                    <a:lnB w="9525">
                      <a:solidFill>
                        <a:srgbClr val="FFC0CA"/>
                      </a:solidFill>
                      <a:prstDash val="solid"/>
                    </a:lnB>
                    <a:solidFill>
                      <a:srgbClr val="F6FF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412622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Cookie:</a:t>
            </a:r>
            <a:r>
              <a:rPr spc="-95" dirty="0"/>
              <a:t> </a:t>
            </a:r>
            <a:r>
              <a:rPr dirty="0"/>
              <a:t>Methods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4939" y="2356230"/>
            <a:ext cx="32778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Tahoma"/>
                <a:cs typeface="Tahoma"/>
              </a:rPr>
              <a:t>Useful</a:t>
            </a:r>
            <a:r>
              <a:rPr sz="2800" b="1" spc="-45" dirty="0">
                <a:latin typeface="Tahoma"/>
                <a:cs typeface="Tahoma"/>
              </a:rPr>
              <a:t> </a:t>
            </a:r>
            <a:r>
              <a:rPr sz="2800" b="1" spc="-10" dirty="0">
                <a:latin typeface="Tahoma"/>
                <a:cs typeface="Tahoma"/>
              </a:rPr>
              <a:t>methods:</a:t>
            </a:r>
            <a:endParaRPr sz="2800">
              <a:latin typeface="Tahoma"/>
              <a:cs typeface="Tahom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23837" y="2890837"/>
          <a:ext cx="8915400" cy="35921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57700"/>
                <a:gridCol w="4457700"/>
              </a:tblGrid>
              <a:tr h="4362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Times New Roman"/>
                          <a:cs typeface="Times New Roman"/>
                        </a:rPr>
                        <a:t>Method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9525">
                      <a:solidFill>
                        <a:srgbClr val="DFB9B9"/>
                      </a:solidFill>
                      <a:prstDash val="solid"/>
                    </a:lnL>
                    <a:lnR w="9525">
                      <a:solidFill>
                        <a:srgbClr val="DFB9B9"/>
                      </a:solidFill>
                      <a:prstDash val="solid"/>
                    </a:lnR>
                    <a:lnT w="9525">
                      <a:solidFill>
                        <a:srgbClr val="DFB9B9"/>
                      </a:solidFill>
                      <a:prstDash val="solid"/>
                    </a:lnT>
                    <a:lnB w="9525">
                      <a:solidFill>
                        <a:srgbClr val="FFC0CA"/>
                      </a:solidFill>
                      <a:prstDash val="solid"/>
                    </a:lnB>
                    <a:solidFill>
                      <a:srgbClr val="F6FFE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9525">
                      <a:solidFill>
                        <a:srgbClr val="DFB9B9"/>
                      </a:solidFill>
                      <a:prstDash val="solid"/>
                    </a:lnL>
                    <a:lnR w="9525">
                      <a:solidFill>
                        <a:srgbClr val="DFB9B9"/>
                      </a:solidFill>
                      <a:prstDash val="solid"/>
                    </a:lnR>
                    <a:lnT w="9525">
                      <a:solidFill>
                        <a:srgbClr val="DFB9B9"/>
                      </a:solidFill>
                      <a:prstDash val="solid"/>
                    </a:lnT>
                    <a:lnB w="9525">
                      <a:solidFill>
                        <a:srgbClr val="FFC0CA"/>
                      </a:solidFill>
                      <a:prstDash val="solid"/>
                    </a:lnB>
                    <a:solidFill>
                      <a:srgbClr val="F6FFE0"/>
                    </a:solidFill>
                  </a:tcPr>
                </a:tc>
              </a:tr>
              <a:tr h="76073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latin typeface="Verdana"/>
                          <a:cs typeface="Verdana"/>
                        </a:rPr>
                        <a:t>public </a:t>
                      </a:r>
                      <a:r>
                        <a:rPr sz="1700" spc="-5" dirty="0">
                          <a:latin typeface="Verdana"/>
                          <a:cs typeface="Verdana"/>
                        </a:rPr>
                        <a:t>void </a:t>
                      </a:r>
                      <a:r>
                        <a:rPr sz="1700" dirty="0">
                          <a:latin typeface="Verdana"/>
                          <a:cs typeface="Verdana"/>
                        </a:rPr>
                        <a:t>setMaxAge(int</a:t>
                      </a:r>
                      <a:r>
                        <a:rPr sz="1700" spc="-3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/>
                          <a:cs typeface="Verdana"/>
                        </a:rPr>
                        <a:t>expiry)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9525">
                      <a:solidFill>
                        <a:srgbClr val="FFC0CA"/>
                      </a:solidFill>
                      <a:prstDash val="solid"/>
                    </a:lnL>
                    <a:lnR w="9525">
                      <a:solidFill>
                        <a:srgbClr val="FFC0CA"/>
                      </a:solidFill>
                      <a:prstDash val="solid"/>
                    </a:lnR>
                    <a:lnT w="9525">
                      <a:solidFill>
                        <a:srgbClr val="FFC0CA"/>
                      </a:solidFill>
                      <a:prstDash val="solid"/>
                    </a:lnT>
                    <a:lnB w="9525">
                      <a:solidFill>
                        <a:srgbClr val="FFC0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 marR="12065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latin typeface="Verdana"/>
                          <a:cs typeface="Verdana"/>
                        </a:rPr>
                        <a:t>Sets </a:t>
                      </a:r>
                      <a:r>
                        <a:rPr sz="1700" spc="-5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1700" dirty="0">
                          <a:latin typeface="Verdana"/>
                          <a:cs typeface="Verdana"/>
                        </a:rPr>
                        <a:t>maximum </a:t>
                      </a:r>
                      <a:r>
                        <a:rPr sz="1700" spc="-5" dirty="0">
                          <a:latin typeface="Verdana"/>
                          <a:cs typeface="Verdana"/>
                        </a:rPr>
                        <a:t>age </a:t>
                      </a:r>
                      <a:r>
                        <a:rPr sz="1700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1700" spc="-5" dirty="0">
                          <a:latin typeface="Verdana"/>
                          <a:cs typeface="Verdana"/>
                        </a:rPr>
                        <a:t>the cookie in  </a:t>
                      </a:r>
                      <a:r>
                        <a:rPr sz="1700" dirty="0">
                          <a:latin typeface="Verdana"/>
                          <a:cs typeface="Verdana"/>
                        </a:rPr>
                        <a:t>seconds.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9525">
                      <a:solidFill>
                        <a:srgbClr val="FFC0CA"/>
                      </a:solidFill>
                      <a:prstDash val="solid"/>
                    </a:lnL>
                    <a:lnR w="9525">
                      <a:solidFill>
                        <a:srgbClr val="FFC0CA"/>
                      </a:solidFill>
                      <a:prstDash val="solid"/>
                    </a:lnR>
                    <a:lnT w="9525">
                      <a:solidFill>
                        <a:srgbClr val="FFC0CA"/>
                      </a:solidFill>
                      <a:prstDash val="solid"/>
                    </a:lnT>
                    <a:lnB w="9525">
                      <a:solidFill>
                        <a:srgbClr val="FFC0CA"/>
                      </a:solidFill>
                      <a:prstDash val="solid"/>
                    </a:lnB>
                  </a:tcPr>
                </a:tc>
              </a:tr>
              <a:tr h="108521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latin typeface="Verdana"/>
                          <a:cs typeface="Verdana"/>
                        </a:rPr>
                        <a:t>public String</a:t>
                      </a:r>
                      <a:r>
                        <a:rPr sz="17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/>
                          <a:cs typeface="Verdana"/>
                        </a:rPr>
                        <a:t>getName()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9525">
                      <a:solidFill>
                        <a:srgbClr val="FFC0CA"/>
                      </a:solidFill>
                      <a:prstDash val="solid"/>
                    </a:lnL>
                    <a:lnR w="9525">
                      <a:solidFill>
                        <a:srgbClr val="FFC0CA"/>
                      </a:solidFill>
                      <a:prstDash val="solid"/>
                    </a:lnR>
                    <a:lnT w="9525">
                      <a:solidFill>
                        <a:srgbClr val="FFC0CA"/>
                      </a:solidFill>
                      <a:prstDash val="solid"/>
                    </a:lnT>
                    <a:lnB w="9525">
                      <a:solidFill>
                        <a:srgbClr val="FFC0CA"/>
                      </a:solidFill>
                      <a:prstDash val="solid"/>
                    </a:lnB>
                    <a:solidFill>
                      <a:srgbClr val="F6FFE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spc="-5" dirty="0">
                          <a:latin typeface="Verdana"/>
                          <a:cs typeface="Verdana"/>
                        </a:rPr>
                        <a:t>Returns the </a:t>
                      </a:r>
                      <a:r>
                        <a:rPr sz="1700" dirty="0">
                          <a:latin typeface="Verdana"/>
                          <a:cs typeface="Verdana"/>
                        </a:rPr>
                        <a:t>name of </a:t>
                      </a:r>
                      <a:r>
                        <a:rPr sz="17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7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700" spc="-5" dirty="0">
                          <a:latin typeface="Verdana"/>
                          <a:cs typeface="Verdana"/>
                        </a:rPr>
                        <a:t>cookie.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9525">
                      <a:solidFill>
                        <a:srgbClr val="FFC0CA"/>
                      </a:solidFill>
                      <a:prstDash val="solid"/>
                    </a:lnL>
                    <a:lnR w="9525">
                      <a:solidFill>
                        <a:srgbClr val="FFC0CA"/>
                      </a:solidFill>
                      <a:prstDash val="solid"/>
                    </a:lnR>
                    <a:lnT w="9525">
                      <a:solidFill>
                        <a:srgbClr val="FFC0CA"/>
                      </a:solidFill>
                      <a:prstDash val="solid"/>
                    </a:lnT>
                    <a:lnB w="9525">
                      <a:solidFill>
                        <a:srgbClr val="FFC0CA"/>
                      </a:solidFill>
                      <a:prstDash val="solid"/>
                    </a:lnB>
                    <a:solidFill>
                      <a:srgbClr val="F6FFE0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latin typeface="Verdana"/>
                          <a:cs typeface="Verdana"/>
                        </a:rPr>
                        <a:t>public String</a:t>
                      </a:r>
                      <a:r>
                        <a:rPr sz="1700" spc="-1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/>
                          <a:cs typeface="Verdana"/>
                        </a:rPr>
                        <a:t>getValue()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9525">
                      <a:solidFill>
                        <a:srgbClr val="FFC0CA"/>
                      </a:solidFill>
                      <a:prstDash val="solid"/>
                    </a:lnL>
                    <a:lnR w="9525">
                      <a:solidFill>
                        <a:srgbClr val="FFC0CA"/>
                      </a:solidFill>
                      <a:prstDash val="solid"/>
                    </a:lnR>
                    <a:lnT w="9525">
                      <a:solidFill>
                        <a:srgbClr val="FFC0CA"/>
                      </a:solidFill>
                      <a:prstDash val="solid"/>
                    </a:lnT>
                    <a:lnB w="9525">
                      <a:solidFill>
                        <a:srgbClr val="FFC0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spc="-5" dirty="0">
                          <a:latin typeface="Verdana"/>
                          <a:cs typeface="Verdana"/>
                        </a:rPr>
                        <a:t>Returns the </a:t>
                      </a:r>
                      <a:r>
                        <a:rPr sz="1700" spc="-10" dirty="0">
                          <a:latin typeface="Verdana"/>
                          <a:cs typeface="Verdana"/>
                        </a:rPr>
                        <a:t>value </a:t>
                      </a:r>
                      <a:r>
                        <a:rPr sz="1700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17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700" spc="-2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700" spc="-5" dirty="0">
                          <a:latin typeface="Verdana"/>
                          <a:cs typeface="Verdana"/>
                        </a:rPr>
                        <a:t>cookie.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9525">
                      <a:solidFill>
                        <a:srgbClr val="FFC0CA"/>
                      </a:solidFill>
                      <a:prstDash val="solid"/>
                    </a:lnL>
                    <a:lnR w="9525">
                      <a:solidFill>
                        <a:srgbClr val="FFC0CA"/>
                      </a:solidFill>
                      <a:prstDash val="solid"/>
                    </a:lnR>
                    <a:lnT w="9525">
                      <a:solidFill>
                        <a:srgbClr val="FFC0CA"/>
                      </a:solidFill>
                      <a:prstDash val="solid"/>
                    </a:lnT>
                    <a:lnB w="9525">
                      <a:solidFill>
                        <a:srgbClr val="FFC0CA"/>
                      </a:solidFill>
                      <a:prstDash val="solid"/>
                    </a:lnB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latin typeface="Verdana"/>
                          <a:cs typeface="Verdana"/>
                        </a:rPr>
                        <a:t>public </a:t>
                      </a:r>
                      <a:r>
                        <a:rPr sz="1700" spc="-5" dirty="0">
                          <a:latin typeface="Verdana"/>
                          <a:cs typeface="Verdana"/>
                        </a:rPr>
                        <a:t>void </a:t>
                      </a:r>
                      <a:r>
                        <a:rPr sz="1700" dirty="0">
                          <a:latin typeface="Verdana"/>
                          <a:cs typeface="Verdana"/>
                        </a:rPr>
                        <a:t>setName(String</a:t>
                      </a:r>
                      <a:r>
                        <a:rPr sz="17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/>
                          <a:cs typeface="Verdana"/>
                        </a:rPr>
                        <a:t>name)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9525">
                      <a:solidFill>
                        <a:srgbClr val="FFC0CA"/>
                      </a:solidFill>
                      <a:prstDash val="solid"/>
                    </a:lnL>
                    <a:lnR w="9525">
                      <a:solidFill>
                        <a:srgbClr val="FFC0CA"/>
                      </a:solidFill>
                      <a:prstDash val="solid"/>
                    </a:lnR>
                    <a:lnT w="9525">
                      <a:solidFill>
                        <a:srgbClr val="FFC0CA"/>
                      </a:solidFill>
                      <a:prstDash val="solid"/>
                    </a:lnT>
                    <a:lnB w="9525">
                      <a:solidFill>
                        <a:srgbClr val="FFC0CA"/>
                      </a:solidFill>
                      <a:prstDash val="solid"/>
                    </a:lnB>
                    <a:solidFill>
                      <a:srgbClr val="F6FFE0"/>
                    </a:solidFill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700" dirty="0">
                          <a:latin typeface="Verdana"/>
                          <a:cs typeface="Verdana"/>
                        </a:rPr>
                        <a:t>changes </a:t>
                      </a:r>
                      <a:r>
                        <a:rPr sz="1700" spc="-5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1700" dirty="0">
                          <a:latin typeface="Verdana"/>
                          <a:cs typeface="Verdana"/>
                        </a:rPr>
                        <a:t>name of </a:t>
                      </a:r>
                      <a:r>
                        <a:rPr sz="1700" spc="-5" dirty="0">
                          <a:latin typeface="Verdana"/>
                          <a:cs typeface="Verdana"/>
                        </a:rPr>
                        <a:t>the</a:t>
                      </a:r>
                      <a:r>
                        <a:rPr sz="1700" spc="-2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700" spc="-5" dirty="0">
                          <a:latin typeface="Verdana"/>
                          <a:cs typeface="Verdana"/>
                        </a:rPr>
                        <a:t>cookie.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260" marB="0">
                    <a:lnL w="9525">
                      <a:solidFill>
                        <a:srgbClr val="FFC0CA"/>
                      </a:solidFill>
                      <a:prstDash val="solid"/>
                    </a:lnL>
                    <a:lnR w="9525">
                      <a:solidFill>
                        <a:srgbClr val="FFC0CA"/>
                      </a:solidFill>
                      <a:prstDash val="solid"/>
                    </a:lnR>
                    <a:lnT w="9525">
                      <a:solidFill>
                        <a:srgbClr val="FFC0CA"/>
                      </a:solidFill>
                      <a:prstDash val="solid"/>
                    </a:lnT>
                    <a:lnB w="9525">
                      <a:solidFill>
                        <a:srgbClr val="FFC0CA"/>
                      </a:solidFill>
                      <a:prstDash val="solid"/>
                    </a:lnB>
                    <a:solidFill>
                      <a:srgbClr val="F6FFE0"/>
                    </a:solidFill>
                  </a:tcPr>
                </a:tc>
              </a:tr>
              <a:tr h="43688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700" dirty="0">
                          <a:latin typeface="Verdana"/>
                          <a:cs typeface="Verdana"/>
                        </a:rPr>
                        <a:t>public </a:t>
                      </a:r>
                      <a:r>
                        <a:rPr sz="1700" spc="-5" dirty="0">
                          <a:latin typeface="Verdana"/>
                          <a:cs typeface="Verdana"/>
                        </a:rPr>
                        <a:t>void setValue(String</a:t>
                      </a:r>
                      <a:r>
                        <a:rPr sz="1700" spc="-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700" spc="-5" dirty="0">
                          <a:latin typeface="Verdana"/>
                          <a:cs typeface="Verdana"/>
                        </a:rPr>
                        <a:t>value)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4" marB="0">
                    <a:lnL w="9525">
                      <a:solidFill>
                        <a:srgbClr val="FFC0CA"/>
                      </a:solidFill>
                      <a:prstDash val="solid"/>
                    </a:lnL>
                    <a:lnR w="9525">
                      <a:solidFill>
                        <a:srgbClr val="FFC0CA"/>
                      </a:solidFill>
                      <a:prstDash val="solid"/>
                    </a:lnR>
                    <a:lnT w="9525">
                      <a:solidFill>
                        <a:srgbClr val="FFC0CA"/>
                      </a:solidFill>
                      <a:prstDash val="solid"/>
                    </a:lnT>
                    <a:lnB w="9525">
                      <a:solidFill>
                        <a:srgbClr val="FFC0C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0">
                        <a:lnSpc>
                          <a:spcPct val="100000"/>
                        </a:lnSpc>
                        <a:spcBef>
                          <a:spcPts val="384"/>
                        </a:spcBef>
                      </a:pPr>
                      <a:r>
                        <a:rPr sz="1700" dirty="0">
                          <a:latin typeface="Verdana"/>
                          <a:cs typeface="Verdana"/>
                        </a:rPr>
                        <a:t>changes </a:t>
                      </a:r>
                      <a:r>
                        <a:rPr sz="1700" spc="-5" dirty="0">
                          <a:latin typeface="Verdana"/>
                          <a:cs typeface="Verdana"/>
                        </a:rPr>
                        <a:t>the </a:t>
                      </a:r>
                      <a:r>
                        <a:rPr sz="1700" spc="-10" dirty="0">
                          <a:latin typeface="Verdana"/>
                          <a:cs typeface="Verdana"/>
                        </a:rPr>
                        <a:t>value </a:t>
                      </a:r>
                      <a:r>
                        <a:rPr sz="1700" dirty="0">
                          <a:latin typeface="Verdana"/>
                          <a:cs typeface="Verdana"/>
                        </a:rPr>
                        <a:t>of </a:t>
                      </a:r>
                      <a:r>
                        <a:rPr sz="1700" spc="-5" dirty="0">
                          <a:latin typeface="Verdana"/>
                          <a:cs typeface="Verdana"/>
                        </a:rPr>
                        <a:t>the cookie.</a:t>
                      </a:r>
                      <a:endParaRPr sz="1700">
                        <a:latin typeface="Verdana"/>
                        <a:cs typeface="Verdana"/>
                      </a:endParaRPr>
                    </a:p>
                  </a:txBody>
                  <a:tcPr marL="0" marR="0" marT="48894" marB="0">
                    <a:lnL w="9525">
                      <a:solidFill>
                        <a:srgbClr val="FFC0CA"/>
                      </a:solidFill>
                      <a:prstDash val="solid"/>
                    </a:lnL>
                    <a:lnR w="9525">
                      <a:solidFill>
                        <a:srgbClr val="FFC0CA"/>
                      </a:solidFill>
                      <a:prstDash val="solid"/>
                    </a:lnR>
                    <a:lnT w="9525">
                      <a:solidFill>
                        <a:srgbClr val="FFC0CA"/>
                      </a:solidFill>
                      <a:prstDash val="solid"/>
                    </a:lnT>
                    <a:lnB w="9525">
                      <a:solidFill>
                        <a:srgbClr val="FFC0C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412622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Cookie:</a:t>
            </a:r>
            <a:r>
              <a:rPr spc="-95" dirty="0"/>
              <a:t> </a:t>
            </a:r>
            <a:r>
              <a:rPr dirty="0"/>
              <a:t>Methods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4939" y="2270277"/>
            <a:ext cx="8917940" cy="326961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b="1" spc="-10" dirty="0">
                <a:latin typeface="Tahoma"/>
                <a:cs typeface="Tahoma"/>
              </a:rPr>
              <a:t>Other</a:t>
            </a:r>
            <a:r>
              <a:rPr sz="2800" b="1" spc="-5" dirty="0">
                <a:latin typeface="Tahoma"/>
                <a:cs typeface="Tahoma"/>
              </a:rPr>
              <a:t> methods:</a:t>
            </a:r>
            <a:endParaRPr sz="280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b="1" spc="-10" dirty="0">
                <a:latin typeface="Tahoma"/>
                <a:cs typeface="Tahoma"/>
              </a:rPr>
              <a:t>public </a:t>
            </a:r>
            <a:r>
              <a:rPr sz="2800" b="1" spc="-5" dirty="0">
                <a:latin typeface="Tahoma"/>
                <a:cs typeface="Tahoma"/>
              </a:rPr>
              <a:t>void </a:t>
            </a:r>
            <a:r>
              <a:rPr sz="2800" b="1" spc="-10" dirty="0">
                <a:latin typeface="Tahoma"/>
                <a:cs typeface="Tahoma"/>
              </a:rPr>
              <a:t>addCookie(Cookie </a:t>
            </a:r>
            <a:r>
              <a:rPr sz="2800" b="1" spc="-5" dirty="0">
                <a:latin typeface="Tahoma"/>
                <a:cs typeface="Tahoma"/>
              </a:rPr>
              <a:t>ck):</a:t>
            </a:r>
            <a:r>
              <a:rPr sz="2800" spc="-5" dirty="0">
                <a:latin typeface="Tahoma"/>
                <a:cs typeface="Tahoma"/>
              </a:rPr>
              <a:t>method of  HttpServletResponse interface is used to add cookie in  response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object.</a:t>
            </a:r>
            <a:endParaRPr sz="2800">
              <a:latin typeface="Tahoma"/>
              <a:cs typeface="Tahoma"/>
            </a:endParaRPr>
          </a:p>
          <a:p>
            <a:pPr marL="355600" marR="281940" indent="-342900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b="1" spc="-10" dirty="0">
                <a:latin typeface="Tahoma"/>
                <a:cs typeface="Tahoma"/>
              </a:rPr>
              <a:t>public Cookie[] </a:t>
            </a:r>
            <a:r>
              <a:rPr sz="2800" b="1" spc="-5" dirty="0">
                <a:latin typeface="Tahoma"/>
                <a:cs typeface="Tahoma"/>
              </a:rPr>
              <a:t>getCookies():</a:t>
            </a:r>
            <a:r>
              <a:rPr sz="2800" spc="-5" dirty="0">
                <a:latin typeface="Tahoma"/>
                <a:cs typeface="Tahoma"/>
              </a:rPr>
              <a:t>method of  HttpServletRequest interface is used to return all </a:t>
            </a:r>
            <a:r>
              <a:rPr sz="2800" spc="-10" dirty="0">
                <a:latin typeface="Tahoma"/>
                <a:cs typeface="Tahoma"/>
              </a:rPr>
              <a:t>the  </a:t>
            </a:r>
            <a:r>
              <a:rPr sz="2800" spc="-5" dirty="0">
                <a:latin typeface="Tahoma"/>
                <a:cs typeface="Tahoma"/>
              </a:rPr>
              <a:t>cookies from the</a:t>
            </a:r>
            <a:r>
              <a:rPr sz="2800" spc="2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browser.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57632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Cookie: </a:t>
            </a:r>
            <a:r>
              <a:rPr dirty="0"/>
              <a:t>How to</a:t>
            </a:r>
            <a:r>
              <a:rPr spc="-105" dirty="0"/>
              <a:t> </a:t>
            </a:r>
            <a:r>
              <a:rPr spc="-5" dirty="0"/>
              <a:t>create?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4939" y="2270298"/>
            <a:ext cx="6040120" cy="236728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Creating cookie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object</a:t>
            </a:r>
            <a:endParaRPr sz="28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Tahoma"/>
                <a:cs typeface="Tahoma"/>
              </a:rPr>
              <a:t>Cookie </a:t>
            </a:r>
            <a:r>
              <a:rPr sz="2400" spc="-5" dirty="0">
                <a:latin typeface="Tahoma"/>
                <a:cs typeface="Tahoma"/>
              </a:rPr>
              <a:t>ck=</a:t>
            </a:r>
            <a:r>
              <a:rPr sz="2400" b="1" spc="-5" dirty="0">
                <a:latin typeface="Tahoma"/>
                <a:cs typeface="Tahoma"/>
              </a:rPr>
              <a:t>new</a:t>
            </a:r>
            <a:r>
              <a:rPr sz="2400" b="1" spc="-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Cookie("user",”Sandip");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5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Adding cookie </a:t>
            </a:r>
            <a:r>
              <a:rPr sz="2800" spc="-10" dirty="0">
                <a:latin typeface="Tahoma"/>
                <a:cs typeface="Tahoma"/>
              </a:rPr>
              <a:t>in </a:t>
            </a:r>
            <a:r>
              <a:rPr sz="2800" spc="-5" dirty="0">
                <a:latin typeface="Tahoma"/>
                <a:cs typeface="Tahoma"/>
              </a:rPr>
              <a:t>the</a:t>
            </a:r>
            <a:r>
              <a:rPr sz="2800" spc="4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response</a:t>
            </a:r>
            <a:endParaRPr sz="28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Tahoma"/>
                <a:cs typeface="Tahoma"/>
              </a:rPr>
              <a:t>response.addCookie(ck);//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65811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Cookie: </a:t>
            </a:r>
            <a:r>
              <a:rPr dirty="0"/>
              <a:t>For delete</a:t>
            </a:r>
            <a:r>
              <a:rPr spc="-105" dirty="0"/>
              <a:t> </a:t>
            </a:r>
            <a:r>
              <a:rPr spc="-5" dirty="0"/>
              <a:t>Cookies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4939" y="2270298"/>
            <a:ext cx="6884670" cy="390397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Deleting </a:t>
            </a:r>
            <a:r>
              <a:rPr sz="2800" spc="-10" dirty="0">
                <a:latin typeface="Tahoma"/>
                <a:cs typeface="Tahoma"/>
              </a:rPr>
              <a:t>value </a:t>
            </a:r>
            <a:r>
              <a:rPr sz="2800" dirty="0">
                <a:latin typeface="Tahoma"/>
                <a:cs typeface="Tahoma"/>
              </a:rPr>
              <a:t>of</a:t>
            </a:r>
            <a:r>
              <a:rPr sz="2800" spc="6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cookie</a:t>
            </a:r>
            <a:endParaRPr sz="28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Tahoma"/>
                <a:cs typeface="Tahoma"/>
              </a:rPr>
              <a:t>Cookie </a:t>
            </a:r>
            <a:r>
              <a:rPr sz="2400" spc="-5" dirty="0">
                <a:latin typeface="Tahoma"/>
                <a:cs typeface="Tahoma"/>
              </a:rPr>
              <a:t>ck=</a:t>
            </a:r>
            <a:r>
              <a:rPr sz="2400" b="1" spc="-5" dirty="0">
                <a:latin typeface="Tahoma"/>
                <a:cs typeface="Tahoma"/>
              </a:rPr>
              <a:t>new</a:t>
            </a:r>
            <a:r>
              <a:rPr sz="2400" b="1" spc="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Cookie("user","");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0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Changing the maximum age to 0</a:t>
            </a:r>
            <a:r>
              <a:rPr sz="2800" spc="6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seconds</a:t>
            </a:r>
            <a:endParaRPr sz="28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Tahoma"/>
                <a:cs typeface="Tahoma"/>
              </a:rPr>
              <a:t>ck.setMaxAge(0);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0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Adding cookie </a:t>
            </a:r>
            <a:r>
              <a:rPr sz="2800" spc="-10" dirty="0">
                <a:latin typeface="Tahoma"/>
                <a:cs typeface="Tahoma"/>
              </a:rPr>
              <a:t>in </a:t>
            </a:r>
            <a:r>
              <a:rPr sz="2800" spc="-5" dirty="0">
                <a:latin typeface="Tahoma"/>
                <a:cs typeface="Tahoma"/>
              </a:rPr>
              <a:t>the</a:t>
            </a:r>
            <a:r>
              <a:rPr sz="2800" spc="5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response</a:t>
            </a:r>
            <a:endParaRPr sz="2800">
              <a:latin typeface="Tahoma"/>
              <a:cs typeface="Tahoma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Tahoma"/>
                <a:cs typeface="Tahoma"/>
              </a:rPr>
              <a:t>response.addCookie(ck);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57010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Cookie: </a:t>
            </a:r>
            <a:r>
              <a:rPr dirty="0"/>
              <a:t>To get</a:t>
            </a:r>
            <a:r>
              <a:rPr spc="-60" dirty="0"/>
              <a:t> </a:t>
            </a:r>
            <a:r>
              <a:rPr spc="-5" dirty="0"/>
              <a:t>Cookies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4939" y="2270277"/>
            <a:ext cx="8639175" cy="295211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800" spc="-5" dirty="0">
                <a:latin typeface="Tahoma"/>
                <a:cs typeface="Tahoma"/>
              </a:rPr>
              <a:t>Cookie</a:t>
            </a:r>
            <a:r>
              <a:rPr sz="2800" spc="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ck[]=request.getCookies();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b="1" spc="-5" dirty="0">
                <a:latin typeface="Tahoma"/>
                <a:cs typeface="Tahoma"/>
              </a:rPr>
              <a:t>for</a:t>
            </a:r>
            <a:r>
              <a:rPr sz="2800" spc="-5" dirty="0">
                <a:latin typeface="Tahoma"/>
                <a:cs typeface="Tahoma"/>
              </a:rPr>
              <a:t>(</a:t>
            </a:r>
            <a:r>
              <a:rPr sz="2800" b="1" spc="-5" dirty="0">
                <a:latin typeface="Tahoma"/>
                <a:cs typeface="Tahoma"/>
              </a:rPr>
              <a:t>int</a:t>
            </a:r>
            <a:r>
              <a:rPr sz="2800" b="1" spc="7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i=0;i&lt;ck.length;i++)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5" dirty="0">
                <a:latin typeface="Tahoma"/>
                <a:cs typeface="Tahoma"/>
              </a:rPr>
              <a:t>{</a:t>
            </a:r>
            <a:endParaRPr sz="28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latin typeface="Tahoma"/>
                <a:cs typeface="Tahoma"/>
              </a:rPr>
              <a:t>out.print("&lt;br&gt;"+ck[i].getName()+"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"+ck[i].getValue());</a:t>
            </a:r>
            <a:endParaRPr sz="2400">
              <a:latin typeface="Tahoma"/>
              <a:cs typeface="Tahoma"/>
            </a:endParaRPr>
          </a:p>
          <a:p>
            <a:pPr marL="927100">
              <a:lnSpc>
                <a:spcPct val="100000"/>
              </a:lnSpc>
              <a:spcBef>
                <a:spcPts val="580"/>
              </a:spcBef>
            </a:pPr>
            <a:r>
              <a:rPr sz="2400" spc="-5" dirty="0">
                <a:latin typeface="Tahoma"/>
                <a:cs typeface="Tahoma"/>
              </a:rPr>
              <a:t>//printing </a:t>
            </a:r>
            <a:r>
              <a:rPr sz="2400" dirty="0">
                <a:latin typeface="Tahoma"/>
                <a:cs typeface="Tahoma"/>
              </a:rPr>
              <a:t>name </a:t>
            </a:r>
            <a:r>
              <a:rPr sz="2400" spc="-5" dirty="0">
                <a:latin typeface="Tahoma"/>
                <a:cs typeface="Tahoma"/>
              </a:rPr>
              <a:t>and value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cookie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800" spc="-5" dirty="0">
                <a:latin typeface="Tahoma"/>
                <a:cs typeface="Tahoma"/>
              </a:rPr>
              <a:t>}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41224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Cookie:</a:t>
            </a:r>
            <a:r>
              <a:rPr spc="-100" dirty="0"/>
              <a:t> </a:t>
            </a:r>
            <a:r>
              <a:rPr spc="-5" dirty="0"/>
              <a:t>Example</a:t>
            </a:r>
          </a:p>
        </p:txBody>
      </p:sp>
      <p:sp>
        <p:nvSpPr>
          <p:cNvPr id="7" name="object 7"/>
          <p:cNvSpPr/>
          <p:nvPr/>
        </p:nvSpPr>
        <p:spPr>
          <a:xfrm>
            <a:off x="243029" y="2634385"/>
            <a:ext cx="8035176" cy="330080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412242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Cookie:</a:t>
            </a:r>
            <a:r>
              <a:rPr spc="-100" dirty="0"/>
              <a:t> </a:t>
            </a:r>
            <a:r>
              <a:rPr spc="-5" dirty="0"/>
              <a:t>Example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00990" y="2255837"/>
            <a:ext cx="8233410" cy="2756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6383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 smtClean="0">
                <a:latin typeface="Tahoma"/>
                <a:cs typeface="Tahoma"/>
              </a:rPr>
              <a:t>Create </a:t>
            </a:r>
            <a:r>
              <a:rPr sz="2800" spc="-5" dirty="0">
                <a:latin typeface="Tahoma"/>
                <a:cs typeface="Tahoma"/>
              </a:rPr>
              <a:t>one </a:t>
            </a:r>
            <a:r>
              <a:rPr sz="2800" spc="-10" dirty="0">
                <a:latin typeface="Tahoma"/>
                <a:cs typeface="Tahoma"/>
              </a:rPr>
              <a:t>Html file </a:t>
            </a:r>
            <a:r>
              <a:rPr sz="2800" spc="-5" dirty="0">
                <a:latin typeface="Tahoma"/>
                <a:cs typeface="Tahoma"/>
              </a:rPr>
              <a:t>which </a:t>
            </a:r>
            <a:r>
              <a:rPr sz="2800" spc="-10" dirty="0">
                <a:latin typeface="Tahoma"/>
                <a:cs typeface="Tahoma"/>
              </a:rPr>
              <a:t>send </a:t>
            </a:r>
            <a:r>
              <a:rPr sz="2800" spc="-5" dirty="0">
                <a:latin typeface="Tahoma"/>
                <a:cs typeface="Tahoma"/>
              </a:rPr>
              <a:t>user name to </a:t>
            </a:r>
            <a:r>
              <a:rPr sz="2800" spc="-10" dirty="0">
                <a:latin typeface="Tahoma"/>
                <a:cs typeface="Tahoma"/>
              </a:rPr>
              <a:t>first  </a:t>
            </a:r>
            <a:r>
              <a:rPr sz="2800" spc="-5" dirty="0">
                <a:latin typeface="Tahoma"/>
                <a:cs typeface="Tahoma"/>
              </a:rPr>
              <a:t>servlet.</a:t>
            </a:r>
            <a:endParaRPr sz="2800" dirty="0">
              <a:latin typeface="Tahoma"/>
              <a:cs typeface="Tahoma"/>
            </a:endParaRPr>
          </a:p>
          <a:p>
            <a:pPr marL="355600" marR="5080" indent="-342900">
              <a:lnSpc>
                <a:spcPct val="100000"/>
              </a:lnSpc>
              <a:spcBef>
                <a:spcPts val="6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First </a:t>
            </a:r>
            <a:r>
              <a:rPr sz="2800" spc="-10" dirty="0">
                <a:latin typeface="Tahoma"/>
                <a:cs typeface="Tahoma"/>
              </a:rPr>
              <a:t>servlet file </a:t>
            </a:r>
            <a:r>
              <a:rPr sz="2800" spc="-5" dirty="0">
                <a:latin typeface="Tahoma"/>
                <a:cs typeface="Tahoma"/>
              </a:rPr>
              <a:t>set cookies of that user name and call  second servlet</a:t>
            </a:r>
            <a:r>
              <a:rPr sz="2800" spc="1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file.</a:t>
            </a:r>
            <a:endParaRPr sz="2800" dirty="0">
              <a:latin typeface="Tahoma"/>
              <a:cs typeface="Tahoma"/>
            </a:endParaRPr>
          </a:p>
          <a:p>
            <a:pPr marL="355600" marR="26034" indent="-342900">
              <a:lnSpc>
                <a:spcPct val="100000"/>
              </a:lnSpc>
              <a:spcBef>
                <a:spcPts val="67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Second servlet </a:t>
            </a:r>
            <a:r>
              <a:rPr sz="2800" spc="-10" dirty="0">
                <a:latin typeface="Tahoma"/>
                <a:cs typeface="Tahoma"/>
              </a:rPr>
              <a:t>file retrieve </a:t>
            </a:r>
            <a:r>
              <a:rPr sz="2800" spc="-5" dirty="0">
                <a:latin typeface="Tahoma"/>
                <a:cs typeface="Tahoma"/>
              </a:rPr>
              <a:t>name of </a:t>
            </a:r>
            <a:r>
              <a:rPr sz="2800" dirty="0">
                <a:latin typeface="Tahoma"/>
                <a:cs typeface="Tahoma"/>
              </a:rPr>
              <a:t>user </a:t>
            </a:r>
            <a:r>
              <a:rPr sz="2800" spc="-10" dirty="0">
                <a:latin typeface="Tahoma"/>
                <a:cs typeface="Tahoma"/>
              </a:rPr>
              <a:t>from </a:t>
            </a:r>
            <a:r>
              <a:rPr sz="2800" spc="-5" dirty="0">
                <a:latin typeface="Tahoma"/>
                <a:cs typeface="Tahoma"/>
              </a:rPr>
              <a:t>cookies  instead of </a:t>
            </a:r>
            <a:r>
              <a:rPr sz="2800" spc="-10" dirty="0">
                <a:latin typeface="Tahoma"/>
                <a:cs typeface="Tahoma"/>
              </a:rPr>
              <a:t>from</a:t>
            </a:r>
            <a:r>
              <a:rPr sz="2800" spc="2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session.</a:t>
            </a:r>
            <a:endParaRPr sz="2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11893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MCQ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5867" y="2241930"/>
            <a:ext cx="8362315" cy="4391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Which is of the following </a:t>
            </a:r>
            <a:r>
              <a:rPr sz="2800" spc="-10" dirty="0">
                <a:latin typeface="Tahoma"/>
                <a:cs typeface="Tahoma"/>
              </a:rPr>
              <a:t>are classes </a:t>
            </a:r>
            <a:r>
              <a:rPr sz="2800" spc="-5" dirty="0">
                <a:latin typeface="Tahoma"/>
                <a:cs typeface="Tahoma"/>
              </a:rPr>
              <a:t>and </a:t>
            </a:r>
            <a:r>
              <a:rPr sz="2800" spc="-10" dirty="0">
                <a:latin typeface="Tahoma"/>
                <a:cs typeface="Tahoma"/>
              </a:rPr>
              <a:t>which are  </a:t>
            </a:r>
            <a:r>
              <a:rPr sz="2800" spc="-5" dirty="0">
                <a:latin typeface="Tahoma"/>
                <a:cs typeface="Tahoma"/>
              </a:rPr>
              <a:t>interfaces?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1. </a:t>
            </a:r>
            <a:r>
              <a:rPr sz="2400" spc="-10" dirty="0">
                <a:latin typeface="Tahoma"/>
                <a:cs typeface="Tahoma"/>
              </a:rPr>
              <a:t>Servlet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Tahoma"/>
                <a:cs typeface="Tahoma"/>
              </a:rPr>
              <a:t>2.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ServletConfig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3. </a:t>
            </a:r>
            <a:r>
              <a:rPr sz="2400" spc="-10" dirty="0">
                <a:latin typeface="Tahoma"/>
                <a:cs typeface="Tahoma"/>
              </a:rPr>
              <a:t>ServletRequest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20" dirty="0">
                <a:latin typeface="Tahoma"/>
                <a:cs typeface="Tahoma"/>
              </a:rPr>
              <a:t>4.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ServletResponse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5. </a:t>
            </a:r>
            <a:r>
              <a:rPr sz="2400" spc="-10" dirty="0">
                <a:latin typeface="Tahoma"/>
                <a:cs typeface="Tahoma"/>
              </a:rPr>
              <a:t>HttpServlet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6. </a:t>
            </a:r>
            <a:r>
              <a:rPr sz="2400" spc="-10" dirty="0">
                <a:latin typeface="Tahoma"/>
                <a:cs typeface="Tahoma"/>
              </a:rPr>
              <a:t>GenericServlet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95" dirty="0">
                <a:latin typeface="Tahoma"/>
                <a:cs typeface="Tahoma"/>
              </a:rPr>
              <a:t>7.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Cookies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8.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Session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11893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MCQ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5867" y="2155998"/>
            <a:ext cx="7858125" cy="273304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What is </a:t>
            </a:r>
            <a:r>
              <a:rPr sz="2800" spc="-10" dirty="0">
                <a:latin typeface="Tahoma"/>
                <a:cs typeface="Tahoma"/>
              </a:rPr>
              <a:t>returntype </a:t>
            </a:r>
            <a:r>
              <a:rPr sz="2800" spc="-5" dirty="0">
                <a:latin typeface="Tahoma"/>
                <a:cs typeface="Tahoma"/>
              </a:rPr>
              <a:t>of the getSession()</a:t>
            </a:r>
            <a:r>
              <a:rPr sz="2800" spc="65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method?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1. </a:t>
            </a:r>
            <a:r>
              <a:rPr sz="2400" spc="-10" dirty="0">
                <a:latin typeface="Tahoma"/>
                <a:cs typeface="Tahoma"/>
              </a:rPr>
              <a:t>Session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2. int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Tahoma"/>
                <a:cs typeface="Tahoma"/>
              </a:rPr>
              <a:t>3.</a:t>
            </a:r>
            <a:r>
              <a:rPr sz="2400" spc="-10" dirty="0">
                <a:latin typeface="Tahoma"/>
                <a:cs typeface="Tahoma"/>
              </a:rPr>
              <a:t> HttpSession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20" dirty="0">
                <a:latin typeface="Tahoma"/>
                <a:cs typeface="Tahoma"/>
              </a:rPr>
              <a:t>4.</a:t>
            </a:r>
            <a:r>
              <a:rPr sz="2400" spc="-5" dirty="0">
                <a:latin typeface="Tahoma"/>
                <a:cs typeface="Tahoma"/>
              </a:rPr>
              <a:t> boolean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5. </a:t>
            </a:r>
            <a:r>
              <a:rPr sz="2400" spc="-10" dirty="0">
                <a:latin typeface="Tahoma"/>
                <a:cs typeface="Tahoma"/>
              </a:rPr>
              <a:t>void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11893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MCQ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5867" y="2155998"/>
            <a:ext cx="6399530" cy="405002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10" dirty="0">
                <a:latin typeface="Tahoma"/>
                <a:cs typeface="Tahoma"/>
              </a:rPr>
              <a:t>Javax.servlet </a:t>
            </a:r>
            <a:r>
              <a:rPr sz="2800" spc="-5" dirty="0">
                <a:latin typeface="Tahoma"/>
                <a:cs typeface="Tahoma"/>
              </a:rPr>
              <a:t>packages </a:t>
            </a:r>
            <a:r>
              <a:rPr sz="2800" dirty="0">
                <a:latin typeface="Tahoma"/>
                <a:cs typeface="Tahoma"/>
              </a:rPr>
              <a:t>does </a:t>
            </a:r>
            <a:r>
              <a:rPr sz="2800" spc="-5" dirty="0">
                <a:latin typeface="Tahoma"/>
                <a:cs typeface="Tahoma"/>
              </a:rPr>
              <a:t>not</a:t>
            </a:r>
            <a:r>
              <a:rPr sz="2800" spc="9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have: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1. </a:t>
            </a:r>
            <a:r>
              <a:rPr sz="2400" spc="-10" dirty="0">
                <a:latin typeface="Tahoma"/>
                <a:cs typeface="Tahoma"/>
              </a:rPr>
              <a:t>HttpServlet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2. ServletConfig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Tahoma"/>
                <a:cs typeface="Tahoma"/>
              </a:rPr>
              <a:t>3.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ServletContext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20" dirty="0">
                <a:latin typeface="Tahoma"/>
                <a:cs typeface="Tahoma"/>
              </a:rPr>
              <a:t>4.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Servlet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5. </a:t>
            </a:r>
            <a:r>
              <a:rPr sz="2400" spc="-10" dirty="0">
                <a:latin typeface="Tahoma"/>
                <a:cs typeface="Tahoma"/>
              </a:rPr>
              <a:t>HttpServletRequest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6. </a:t>
            </a:r>
            <a:r>
              <a:rPr sz="2400" spc="-10" dirty="0">
                <a:latin typeface="Tahoma"/>
                <a:cs typeface="Tahoma"/>
              </a:rPr>
              <a:t>ServletResponse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95" dirty="0">
                <a:latin typeface="Tahoma"/>
                <a:cs typeface="Tahoma"/>
              </a:rPr>
              <a:t>7.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HttpServletResponse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8. </a:t>
            </a:r>
            <a:r>
              <a:rPr sz="2400" dirty="0">
                <a:latin typeface="Tahoma"/>
                <a:cs typeface="Tahoma"/>
              </a:rPr>
              <a:t>Cookies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11893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MCQ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5867" y="2155998"/>
            <a:ext cx="6399530" cy="4050029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10" dirty="0">
                <a:latin typeface="Tahoma"/>
                <a:cs typeface="Tahoma"/>
              </a:rPr>
              <a:t>Javax.servlet </a:t>
            </a:r>
            <a:r>
              <a:rPr sz="2800" spc="-5" dirty="0">
                <a:latin typeface="Tahoma"/>
                <a:cs typeface="Tahoma"/>
              </a:rPr>
              <a:t>packages </a:t>
            </a:r>
            <a:r>
              <a:rPr sz="2800" dirty="0">
                <a:latin typeface="Tahoma"/>
                <a:cs typeface="Tahoma"/>
              </a:rPr>
              <a:t>does </a:t>
            </a:r>
            <a:r>
              <a:rPr sz="2800" spc="-5" dirty="0">
                <a:latin typeface="Tahoma"/>
                <a:cs typeface="Tahoma"/>
              </a:rPr>
              <a:t>not</a:t>
            </a:r>
            <a:r>
              <a:rPr sz="2800" spc="95" dirty="0">
                <a:latin typeface="Tahoma"/>
                <a:cs typeface="Tahoma"/>
              </a:rPr>
              <a:t> </a:t>
            </a:r>
            <a:r>
              <a:rPr sz="2800" spc="-20" dirty="0">
                <a:latin typeface="Tahoma"/>
                <a:cs typeface="Tahoma"/>
              </a:rPr>
              <a:t>have: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1. </a:t>
            </a:r>
            <a:r>
              <a:rPr sz="2400" spc="-10" dirty="0">
                <a:latin typeface="Tahoma"/>
                <a:cs typeface="Tahoma"/>
              </a:rPr>
              <a:t>HttpServlet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2. ServletConfig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Tahoma"/>
                <a:cs typeface="Tahoma"/>
              </a:rPr>
              <a:t>3.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ServletContext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20" dirty="0">
                <a:latin typeface="Tahoma"/>
                <a:cs typeface="Tahoma"/>
              </a:rPr>
              <a:t>4.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Servlet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5. </a:t>
            </a:r>
            <a:r>
              <a:rPr sz="2400" spc="-10" dirty="0">
                <a:latin typeface="Tahoma"/>
                <a:cs typeface="Tahoma"/>
              </a:rPr>
              <a:t>HttpServletRequest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6. </a:t>
            </a:r>
            <a:r>
              <a:rPr sz="2400" spc="-10" dirty="0">
                <a:latin typeface="Tahoma"/>
                <a:cs typeface="Tahoma"/>
              </a:rPr>
              <a:t>ServletResponse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95" dirty="0">
                <a:latin typeface="Tahoma"/>
                <a:cs typeface="Tahoma"/>
              </a:rPr>
              <a:t>7.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HttpServletResponse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8. </a:t>
            </a:r>
            <a:r>
              <a:rPr sz="2400" dirty="0">
                <a:latin typeface="Tahoma"/>
                <a:cs typeface="Tahoma"/>
              </a:rPr>
              <a:t>Cookies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11893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MCQ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5867" y="2241930"/>
            <a:ext cx="7378700" cy="2635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Which is correct package </a:t>
            </a:r>
            <a:r>
              <a:rPr sz="2800" spc="-15" dirty="0">
                <a:latin typeface="Tahoma"/>
                <a:cs typeface="Tahoma"/>
              </a:rPr>
              <a:t>for </a:t>
            </a:r>
            <a:r>
              <a:rPr sz="2800" spc="-10" dirty="0">
                <a:latin typeface="Tahoma"/>
                <a:cs typeface="Tahoma"/>
              </a:rPr>
              <a:t>HttpServlet </a:t>
            </a:r>
            <a:r>
              <a:rPr sz="2800" spc="-5" dirty="0">
                <a:latin typeface="Tahoma"/>
                <a:cs typeface="Tahoma"/>
              </a:rPr>
              <a:t>and  </a:t>
            </a:r>
            <a:r>
              <a:rPr sz="2800" spc="-10" dirty="0">
                <a:latin typeface="Tahoma"/>
                <a:cs typeface="Tahoma"/>
              </a:rPr>
              <a:t>HttpServletResponse?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1. </a:t>
            </a:r>
            <a:r>
              <a:rPr sz="2400" spc="-10" dirty="0">
                <a:latin typeface="Tahoma"/>
                <a:cs typeface="Tahoma"/>
              </a:rPr>
              <a:t>javax.servlet.*;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Tahoma"/>
                <a:cs typeface="Tahoma"/>
              </a:rPr>
              <a:t>2.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javax.servlet.http.*;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3. javax.servlet.httpservlet.*;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20" dirty="0">
                <a:latin typeface="Tahoma"/>
                <a:cs typeface="Tahoma"/>
              </a:rPr>
              <a:t>4.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java.lang.*;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11893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MCQ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5867" y="2241930"/>
            <a:ext cx="8583930" cy="35134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Which of the following method is </a:t>
            </a:r>
            <a:r>
              <a:rPr sz="2800" spc="-15" dirty="0">
                <a:latin typeface="Tahoma"/>
                <a:cs typeface="Tahoma"/>
              </a:rPr>
              <a:t>invoked </a:t>
            </a:r>
            <a:r>
              <a:rPr sz="2800" spc="-10" dirty="0">
                <a:latin typeface="Tahoma"/>
                <a:cs typeface="Tahoma"/>
              </a:rPr>
              <a:t>when Http  </a:t>
            </a:r>
            <a:r>
              <a:rPr sz="2800" spc="-5" dirty="0">
                <a:latin typeface="Tahoma"/>
                <a:cs typeface="Tahoma"/>
              </a:rPr>
              <a:t>post</a:t>
            </a:r>
            <a:r>
              <a:rPr sz="2800" spc="-10" dirty="0">
                <a:latin typeface="Tahoma"/>
                <a:cs typeface="Tahoma"/>
              </a:rPr>
              <a:t> request?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1. </a:t>
            </a:r>
            <a:r>
              <a:rPr sz="2400" spc="-10" dirty="0">
                <a:latin typeface="Tahoma"/>
                <a:cs typeface="Tahoma"/>
              </a:rPr>
              <a:t>doPost()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Tahoma"/>
                <a:cs typeface="Tahoma"/>
              </a:rPr>
              <a:t>2.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doPostCall()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3. </a:t>
            </a:r>
            <a:r>
              <a:rPr sz="2400" spc="-10" dirty="0">
                <a:latin typeface="Tahoma"/>
                <a:cs typeface="Tahoma"/>
              </a:rPr>
              <a:t>doHttpPost()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20" dirty="0">
                <a:latin typeface="Tahoma"/>
                <a:cs typeface="Tahoma"/>
              </a:rPr>
              <a:t>4.</a:t>
            </a:r>
            <a:r>
              <a:rPr sz="2400" spc="-5" dirty="0">
                <a:latin typeface="Tahoma"/>
                <a:cs typeface="Tahoma"/>
              </a:rPr>
              <a:t> doPut()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5. </a:t>
            </a:r>
            <a:r>
              <a:rPr sz="2400" spc="-30" dirty="0">
                <a:latin typeface="Tahoma"/>
                <a:cs typeface="Tahoma"/>
              </a:rPr>
              <a:t>doTrace()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6. doPostOptions()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225" y="1520888"/>
            <a:ext cx="368300" cy="4746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7000" y="1447800"/>
            <a:ext cx="560387" cy="422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7875" y="990663"/>
            <a:ext cx="0" cy="1052830"/>
          </a:xfrm>
          <a:custGeom>
            <a:avLst/>
            <a:gdLst/>
            <a:ahLst/>
            <a:cxnLst/>
            <a:rect l="l" t="t" r="r" b="b"/>
            <a:pathLst>
              <a:path h="1052830">
                <a:moveTo>
                  <a:pt x="0" y="0"/>
                </a:moveTo>
                <a:lnTo>
                  <a:pt x="0" y="1052512"/>
                </a:lnTo>
              </a:path>
            </a:pathLst>
          </a:custGeom>
          <a:ln w="31750">
            <a:solidFill>
              <a:srgbClr val="1C1C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42912" y="1781175"/>
            <a:ext cx="8226425" cy="317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9969" y="1028826"/>
            <a:ext cx="11893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MCQ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5867" y="2241930"/>
            <a:ext cx="8583930" cy="35134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3333CC"/>
              </a:buClr>
              <a:buSzPct val="58928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spc="-5" dirty="0">
                <a:latin typeface="Tahoma"/>
                <a:cs typeface="Tahoma"/>
              </a:rPr>
              <a:t>Which of the following method is </a:t>
            </a:r>
            <a:r>
              <a:rPr sz="2800" spc="-15" dirty="0">
                <a:latin typeface="Tahoma"/>
                <a:cs typeface="Tahoma"/>
              </a:rPr>
              <a:t>invoked </a:t>
            </a:r>
            <a:r>
              <a:rPr sz="2800" spc="-10" dirty="0">
                <a:latin typeface="Tahoma"/>
                <a:cs typeface="Tahoma"/>
              </a:rPr>
              <a:t>when Http  </a:t>
            </a:r>
            <a:r>
              <a:rPr sz="2800" spc="-5" dirty="0">
                <a:latin typeface="Tahoma"/>
                <a:cs typeface="Tahoma"/>
              </a:rPr>
              <a:t>post</a:t>
            </a:r>
            <a:r>
              <a:rPr sz="2800" spc="-10" dirty="0">
                <a:latin typeface="Tahoma"/>
                <a:cs typeface="Tahoma"/>
              </a:rPr>
              <a:t> request?</a:t>
            </a:r>
            <a:endParaRPr sz="28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1. </a:t>
            </a:r>
            <a:r>
              <a:rPr sz="2400" spc="-10" dirty="0">
                <a:latin typeface="Tahoma"/>
                <a:cs typeface="Tahoma"/>
              </a:rPr>
              <a:t>doPost()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dirty="0">
                <a:latin typeface="Tahoma"/>
                <a:cs typeface="Tahoma"/>
              </a:rPr>
              <a:t>2.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doPostCall()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3. </a:t>
            </a:r>
            <a:r>
              <a:rPr sz="2400" spc="-10" dirty="0">
                <a:latin typeface="Tahoma"/>
                <a:cs typeface="Tahoma"/>
              </a:rPr>
              <a:t>doHttpPost()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20" dirty="0">
                <a:latin typeface="Tahoma"/>
                <a:cs typeface="Tahoma"/>
              </a:rPr>
              <a:t>4.</a:t>
            </a:r>
            <a:r>
              <a:rPr sz="2400" spc="-5" dirty="0">
                <a:latin typeface="Tahoma"/>
                <a:cs typeface="Tahoma"/>
              </a:rPr>
              <a:t> doPut()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80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5. </a:t>
            </a:r>
            <a:r>
              <a:rPr sz="2400" spc="-30" dirty="0">
                <a:latin typeface="Tahoma"/>
                <a:cs typeface="Tahoma"/>
              </a:rPr>
              <a:t>doTrace()</a:t>
            </a:r>
            <a:endParaRPr sz="2400">
              <a:latin typeface="Tahoma"/>
              <a:cs typeface="Tahoma"/>
            </a:endParaRPr>
          </a:p>
          <a:p>
            <a:pPr marL="756285" lvl="1" indent="-286385">
              <a:lnSpc>
                <a:spcPct val="100000"/>
              </a:lnSpc>
              <a:spcBef>
                <a:spcPts val="575"/>
              </a:spcBef>
              <a:buClr>
                <a:srgbClr val="3333CC"/>
              </a:buClr>
              <a:buSzPct val="60416"/>
              <a:buFont typeface="Wingdings"/>
              <a:buChar char=""/>
              <a:tabLst>
                <a:tab pos="756285" algn="l"/>
                <a:tab pos="756920" algn="l"/>
              </a:tabLst>
            </a:pPr>
            <a:r>
              <a:rPr sz="2400" spc="-5" dirty="0">
                <a:latin typeface="Tahoma"/>
                <a:cs typeface="Tahoma"/>
              </a:rPr>
              <a:t>6. doPostOptions()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124</TotalTime>
  <Words>4236</Words>
  <Application>Microsoft Office PowerPoint</Application>
  <PresentationFormat>On-screen Show (4:3)</PresentationFormat>
  <Paragraphs>554</Paragraphs>
  <Slides>92</Slides>
  <Notes>1</Notes>
  <HiddenSlides>17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0" baseType="lpstr">
      <vt:lpstr>Arial</vt:lpstr>
      <vt:lpstr>Calibri</vt:lpstr>
      <vt:lpstr>Cambria</vt:lpstr>
      <vt:lpstr>Tahoma</vt:lpstr>
      <vt:lpstr>Times New Roman</vt:lpstr>
      <vt:lpstr>Verdana</vt:lpstr>
      <vt:lpstr>Wingdings</vt:lpstr>
      <vt:lpstr>Office Theme</vt:lpstr>
      <vt:lpstr>PowerPoint Presentation</vt:lpstr>
      <vt:lpstr>Web and Web Application</vt:lpstr>
      <vt:lpstr>Web Application</vt:lpstr>
      <vt:lpstr>HTTP</vt:lpstr>
      <vt:lpstr>HTTP</vt:lpstr>
      <vt:lpstr>PowerPoint Presentation</vt:lpstr>
      <vt:lpstr>HTTP methods</vt:lpstr>
      <vt:lpstr>Anatomy of HTTP GET</vt:lpstr>
      <vt:lpstr>Anatomy of HTTP POST</vt:lpstr>
      <vt:lpstr>Servlet : Introduction</vt:lpstr>
      <vt:lpstr>Servlet</vt:lpstr>
      <vt:lpstr>Servlet : Defined in many ways</vt:lpstr>
      <vt:lpstr>Servlet : Defined</vt:lpstr>
      <vt:lpstr>CGI(Common Gateway</vt:lpstr>
      <vt:lpstr>CGI(Common Gateway</vt:lpstr>
      <vt:lpstr>CGI(Common Gateway</vt:lpstr>
      <vt:lpstr>Contrast of process vs. thread</vt:lpstr>
      <vt:lpstr>Servlet: Advantages over CGI</vt:lpstr>
      <vt:lpstr>Servlet: Advantages over CGI</vt:lpstr>
      <vt:lpstr>Servlet Terminologies :HTTP</vt:lpstr>
      <vt:lpstr>Servlet</vt:lpstr>
      <vt:lpstr>Servlet</vt:lpstr>
      <vt:lpstr>Servlet</vt:lpstr>
      <vt:lpstr>HTTP Request and Response</vt:lpstr>
      <vt:lpstr>Servlet Containers</vt:lpstr>
      <vt:lpstr>Server</vt:lpstr>
      <vt:lpstr>Content Type</vt:lpstr>
      <vt:lpstr>Types of Servlet</vt:lpstr>
      <vt:lpstr>Types of Servlet</vt:lpstr>
      <vt:lpstr>Servlet life cycle</vt:lpstr>
      <vt:lpstr>Servlet life cycle</vt:lpstr>
      <vt:lpstr>Servlet life cycle</vt:lpstr>
      <vt:lpstr>Servlet life cycle</vt:lpstr>
      <vt:lpstr>Servlet API</vt:lpstr>
      <vt:lpstr>PowerPoint Presentation</vt:lpstr>
      <vt:lpstr>Servlet Classes: javax.servlet</vt:lpstr>
      <vt:lpstr>Servlet Interface: javax.servlet.http</vt:lpstr>
      <vt:lpstr>Servlet Interface: Methods</vt:lpstr>
      <vt:lpstr>GenericServlet class</vt:lpstr>
      <vt:lpstr>ServletConfig interface</vt:lpstr>
      <vt:lpstr>ServletConfig interface</vt:lpstr>
      <vt:lpstr>ServletConfig interface</vt:lpstr>
      <vt:lpstr>ServletContext interface</vt:lpstr>
      <vt:lpstr>ServletContext interface</vt:lpstr>
      <vt:lpstr>ServletContext interface</vt:lpstr>
      <vt:lpstr>ServletContext interface</vt:lpstr>
      <vt:lpstr>ServletConfig Vs ServletContext</vt:lpstr>
      <vt:lpstr>HttpServlet</vt:lpstr>
      <vt:lpstr>HttpServlet</vt:lpstr>
      <vt:lpstr>HttpServlet</vt:lpstr>
      <vt:lpstr>Implementation</vt:lpstr>
      <vt:lpstr>Example</vt:lpstr>
      <vt:lpstr>Implementation</vt:lpstr>
      <vt:lpstr>Implementation:HTTP</vt:lpstr>
      <vt:lpstr>Implementation: HTTP</vt:lpstr>
      <vt:lpstr>HttpRequest: Interface</vt:lpstr>
      <vt:lpstr>HttpRequest: Parameters</vt:lpstr>
      <vt:lpstr>HttpRequest: Parameters</vt:lpstr>
      <vt:lpstr>HttpRequest: Header</vt:lpstr>
      <vt:lpstr>HttpRequest: InputStream</vt:lpstr>
      <vt:lpstr>HttpRequest: Session</vt:lpstr>
      <vt:lpstr>HttpResponse: Interface</vt:lpstr>
      <vt:lpstr>HttpResponse: Writing HTML</vt:lpstr>
      <vt:lpstr>HttpResponse: Headers</vt:lpstr>
      <vt:lpstr>HttpResponse: Writing Binary</vt:lpstr>
      <vt:lpstr>HttpResponse: Redirecting</vt:lpstr>
      <vt:lpstr>HttpSession</vt:lpstr>
      <vt:lpstr>HttpSession</vt:lpstr>
      <vt:lpstr>HttpSession: In Clusters</vt:lpstr>
      <vt:lpstr>HttpSession: Example</vt:lpstr>
      <vt:lpstr>RequestDispatcher</vt:lpstr>
      <vt:lpstr>RequestDispatcher</vt:lpstr>
      <vt:lpstr>Servlet: Load on start up</vt:lpstr>
      <vt:lpstr>Cookie</vt:lpstr>
      <vt:lpstr>Cookie</vt:lpstr>
      <vt:lpstr>Cookie: Types</vt:lpstr>
      <vt:lpstr>Cookie: Pros/Cons</vt:lpstr>
      <vt:lpstr>Cookie: Constructor</vt:lpstr>
      <vt:lpstr>Cookie: Methods</vt:lpstr>
      <vt:lpstr>Cookie: Methods</vt:lpstr>
      <vt:lpstr>Cookie: How to create?</vt:lpstr>
      <vt:lpstr>Cookie: For delete Cookies</vt:lpstr>
      <vt:lpstr>Cookie: To get Cookies</vt:lpstr>
      <vt:lpstr>Cookie: Example</vt:lpstr>
      <vt:lpstr>Cookie: Example</vt:lpstr>
      <vt:lpstr>MCQ</vt:lpstr>
      <vt:lpstr>MCQ</vt:lpstr>
      <vt:lpstr>MCQ</vt:lpstr>
      <vt:lpstr>MCQ</vt:lpstr>
      <vt:lpstr>MCQ</vt:lpstr>
      <vt:lpstr>MCQ</vt:lpstr>
      <vt:lpstr>MCQ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Servlet Life cycle</dc:title>
  <dc:creator>Bill Chu</dc:creator>
  <cp:lastModifiedBy>Win10</cp:lastModifiedBy>
  <cp:revision>17</cp:revision>
  <dcterms:created xsi:type="dcterms:W3CDTF">2019-09-22T14:48:03Z</dcterms:created>
  <dcterms:modified xsi:type="dcterms:W3CDTF">2019-09-22T16:56:34Z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2016-04-15T00:00:00Z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2019-09-22T00:00:00Z</vt:filetime>
  </property>
</Properties>
</file>